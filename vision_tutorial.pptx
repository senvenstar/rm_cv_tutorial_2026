
<file path=[Content_Types].xml><?xml version="1.0" encoding="utf-8"?>
<Types xmlns="http://schemas.openxmlformats.org/package/2006/content-types">
  <Default Extension="jpeg" ContentType="image/jpeg"/>
  <Default Extension="JPG" ContentType="image/.jpg"/>
  <Default Extension="png" ContentType="image/png"/>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97"/>
  </p:handoutMasterIdLst>
  <p:sldIdLst>
    <p:sldId id="348" r:id="rId3"/>
    <p:sldId id="351" r:id="rId4"/>
    <p:sldId id="256" r:id="rId5"/>
    <p:sldId id="257" r:id="rId7"/>
    <p:sldId id="258" r:id="rId8"/>
    <p:sldId id="263" r:id="rId9"/>
    <p:sldId id="260" r:id="rId10"/>
    <p:sldId id="259" r:id="rId11"/>
    <p:sldId id="293" r:id="rId12"/>
    <p:sldId id="292" r:id="rId13"/>
    <p:sldId id="261" r:id="rId14"/>
    <p:sldId id="270" r:id="rId15"/>
    <p:sldId id="264" r:id="rId16"/>
    <p:sldId id="265" r:id="rId17"/>
    <p:sldId id="266" r:id="rId18"/>
    <p:sldId id="267" r:id="rId19"/>
    <p:sldId id="287" r:id="rId20"/>
    <p:sldId id="288" r:id="rId21"/>
    <p:sldId id="290" r:id="rId22"/>
    <p:sldId id="289" r:id="rId23"/>
    <p:sldId id="291" r:id="rId24"/>
    <p:sldId id="269" r:id="rId25"/>
    <p:sldId id="294" r:id="rId26"/>
    <p:sldId id="268" r:id="rId27"/>
    <p:sldId id="271" r:id="rId28"/>
    <p:sldId id="352" r:id="rId29"/>
    <p:sldId id="354" r:id="rId30"/>
    <p:sldId id="273" r:id="rId31"/>
    <p:sldId id="276" r:id="rId32"/>
    <p:sldId id="295" r:id="rId33"/>
    <p:sldId id="274" r:id="rId34"/>
    <p:sldId id="275" r:id="rId35"/>
    <p:sldId id="277" r:id="rId36"/>
    <p:sldId id="278" r:id="rId37"/>
    <p:sldId id="296" r:id="rId38"/>
    <p:sldId id="297" r:id="rId39"/>
    <p:sldId id="298" r:id="rId40"/>
    <p:sldId id="299" r:id="rId41"/>
    <p:sldId id="310" r:id="rId42"/>
    <p:sldId id="280" r:id="rId43"/>
    <p:sldId id="262" r:id="rId44"/>
    <p:sldId id="281" r:id="rId45"/>
    <p:sldId id="282" r:id="rId46"/>
    <p:sldId id="305" r:id="rId47"/>
    <p:sldId id="283" r:id="rId48"/>
    <p:sldId id="284" r:id="rId49"/>
    <p:sldId id="285" r:id="rId50"/>
    <p:sldId id="272" r:id="rId51"/>
    <p:sldId id="286" r:id="rId52"/>
    <p:sldId id="304" r:id="rId53"/>
    <p:sldId id="311" r:id="rId54"/>
    <p:sldId id="312" r:id="rId55"/>
    <p:sldId id="313" r:id="rId56"/>
    <p:sldId id="314" r:id="rId57"/>
    <p:sldId id="315" r:id="rId58"/>
    <p:sldId id="308" r:id="rId59"/>
    <p:sldId id="309" r:id="rId60"/>
    <p:sldId id="306" r:id="rId61"/>
    <p:sldId id="307" r:id="rId62"/>
    <p:sldId id="300" r:id="rId63"/>
    <p:sldId id="316" r:id="rId64"/>
    <p:sldId id="324" r:id="rId65"/>
    <p:sldId id="325" r:id="rId66"/>
    <p:sldId id="326" r:id="rId67"/>
    <p:sldId id="317" r:id="rId68"/>
    <p:sldId id="318" r:id="rId69"/>
    <p:sldId id="319" r:id="rId70"/>
    <p:sldId id="320" r:id="rId71"/>
    <p:sldId id="321" r:id="rId72"/>
    <p:sldId id="322" r:id="rId73"/>
    <p:sldId id="301" r:id="rId74"/>
    <p:sldId id="302" r:id="rId75"/>
    <p:sldId id="327" r:id="rId76"/>
    <p:sldId id="303" r:id="rId77"/>
    <p:sldId id="323" r:id="rId78"/>
    <p:sldId id="328" r:id="rId79"/>
    <p:sldId id="329" r:id="rId80"/>
    <p:sldId id="335" r:id="rId81"/>
    <p:sldId id="336" r:id="rId82"/>
    <p:sldId id="331" r:id="rId83"/>
    <p:sldId id="339" r:id="rId84"/>
    <p:sldId id="338" r:id="rId85"/>
    <p:sldId id="342" r:id="rId86"/>
    <p:sldId id="337" r:id="rId87"/>
    <p:sldId id="332" r:id="rId88"/>
    <p:sldId id="333" r:id="rId89"/>
    <p:sldId id="334" r:id="rId90"/>
    <p:sldId id="330" r:id="rId91"/>
    <p:sldId id="340" r:id="rId92"/>
    <p:sldId id="341" r:id="rId93"/>
    <p:sldId id="343" r:id="rId94"/>
    <p:sldId id="344" r:id="rId95"/>
    <p:sldId id="346" r:id="rId96"/>
  </p:sldIdLst>
  <p:sldSz cx="12192000" cy="6858000"/>
  <p:notesSz cx="7104380" cy="10234930"/>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Calibri" charset="0"/>
        <a:ea typeface="SimSun" pitchFamily="2" charset="-122"/>
        <a:cs typeface="+mn-cs"/>
      </a:defRPr>
    </a:lvl9pPr>
  </p:defaultTextStyle>
  <p:extLst>
    <p:ext uri="{EFAFB233-063F-42B5-8137-9DF3F51BA10A}">
      <p15:sldGuideLst xmlns:p15="http://schemas.microsoft.com/office/powerpoint/2012/main">
        <p15:guide id="1" orient="horz" pos="2191"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2278"/>
    <p:restoredTop sz="94660"/>
  </p:normalViewPr>
  <p:slideViewPr>
    <p:cSldViewPr snapToGrid="0" showGuides="1">
      <p:cViewPr varScale="1">
        <p:scale>
          <a:sx n="75" d="100"/>
          <a:sy n="75" d="100"/>
        </p:scale>
        <p:origin x="90" y="96"/>
      </p:cViewPr>
      <p:guideLst>
        <p:guide orient="horz" pos="2191"/>
        <p:guide pos="3840"/>
      </p:guideLst>
    </p:cSldViewPr>
  </p:slideViewPr>
  <p:notesTextViewPr>
    <p:cViewPr>
      <p:scale>
        <a:sx n="3" d="2"/>
        <a:sy n="3" d="2"/>
      </p:scale>
      <p:origin x="0" y="0"/>
    </p:cViewPr>
  </p:notesTextViewPr>
  <p:gridSpacing cx="71999" cy="71999"/>
</p:viewPr>
</file>

<file path=ppt/_rels/presentation.xml.rels><?xml version="1.0" encoding="UTF-8" standalone="yes"?>
<Relationships xmlns="http://schemas.openxmlformats.org/package/2006/relationships"><Relationship Id="rId99" Type="http://schemas.openxmlformats.org/officeDocument/2006/relationships/viewProps" Target="viewProps.xml"/><Relationship Id="rId98" Type="http://schemas.openxmlformats.org/officeDocument/2006/relationships/presProps" Target="presProps.xml"/><Relationship Id="rId97" Type="http://schemas.openxmlformats.org/officeDocument/2006/relationships/handoutMaster" Target="handoutMasters/handoutMaster1.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notesMaster" Target="notesMasters/notesMaster1.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0" Type="http://schemas.openxmlformats.org/officeDocument/2006/relationships/tableStyles" Target="tableStyles.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45"/>
            </a:lvl1pPr>
          </a:lstStyle>
          <a:p>
            <a:pPr fontAlgn="auto"/>
            <a:endParaRPr lang="zh-CN" altLang="en-US" strike="noStrike" noProof="1"/>
          </a:p>
        </p:txBody>
      </p:sp>
      <p:sp>
        <p:nvSpPr>
          <p:cNvPr id="3" name="日期占位符 2"/>
          <p:cNvSpPr>
            <a:spLocks noGrp="1"/>
          </p:cNvSpPr>
          <p:nvPr>
            <p:ph type="dt" sz="quarter" idx="1"/>
          </p:nvPr>
        </p:nvSpPr>
        <p:spPr>
          <a:xfrm>
            <a:off x="4024313" y="0"/>
            <a:ext cx="3078163" cy="512763"/>
          </a:xfrm>
          <a:prstGeom prst="rect">
            <a:avLst/>
          </a:prstGeom>
        </p:spPr>
        <p:txBody>
          <a:bodyPr vert="horz" lIns="91440" tIns="45720" rIns="91440" bIns="45720" rtlCol="0"/>
          <a:lstStyle>
            <a:lvl1pPr algn="r">
              <a:defRPr sz="1245"/>
            </a:lvl1pPr>
          </a:lstStyle>
          <a:p>
            <a:pPr fontAlgn="auto"/>
            <a:fld id="{0F9B84EA-7D68-4D60-9CB1-D50884785D1C}" type="datetimeFigureOut">
              <a:rPr lang="zh-CN" altLang="en-US" sz="1245" strike="noStrike" noProof="1" smtClean="0">
                <a:latin typeface="+mn-lt"/>
                <a:ea typeface="+mn-ea"/>
                <a:cs typeface="+mn-cs"/>
              </a:rPr>
            </a:fld>
            <a:endParaRPr lang="zh-CN" altLang="en-US" strike="noStrike" noProof="1"/>
          </a:p>
        </p:txBody>
      </p:sp>
      <p:sp>
        <p:nvSpPr>
          <p:cNvPr id="4" name="页脚占位符 3"/>
          <p:cNvSpPr>
            <a:spLocks noGrp="1"/>
          </p:cNvSpPr>
          <p:nvPr>
            <p:ph type="ftr" sz="quarter" idx="2"/>
          </p:nvPr>
        </p:nvSpPr>
        <p:spPr>
          <a:xfrm>
            <a:off x="0" y="9720263"/>
            <a:ext cx="3078163" cy="514350"/>
          </a:xfrm>
          <a:prstGeom prst="rect">
            <a:avLst/>
          </a:prstGeom>
        </p:spPr>
        <p:txBody>
          <a:bodyPr vert="horz" lIns="91440" tIns="45720" rIns="91440" bIns="45720" rtlCol="0" anchor="b"/>
          <a:lstStyle>
            <a:lvl1pPr algn="l">
              <a:defRPr sz="1245"/>
            </a:lvl1pPr>
          </a:lstStyle>
          <a:p>
            <a:pPr fontAlgn="auto"/>
            <a:endParaRPr lang="zh-CN" altLang="en-US" strike="noStrike" noProof="1"/>
          </a:p>
        </p:txBody>
      </p:sp>
      <p:sp>
        <p:nvSpPr>
          <p:cNvPr id="5" name="灯片编号占位符 4"/>
          <p:cNvSpPr>
            <a:spLocks noGrp="1"/>
          </p:cNvSpPr>
          <p:nvPr>
            <p:ph type="sldNum" sz="quarter" idx="3"/>
          </p:nvPr>
        </p:nvSpPr>
        <p:spPr>
          <a:xfrm>
            <a:off x="4024313" y="9720263"/>
            <a:ext cx="3078163" cy="514350"/>
          </a:xfrm>
          <a:prstGeom prst="rect">
            <a:avLst/>
          </a:prstGeom>
        </p:spPr>
        <p:txBody>
          <a:bodyPr vert="horz" lIns="91440" tIns="45720" rIns="91440" bIns="45720" rtlCol="0" anchor="b"/>
          <a:lstStyle>
            <a:lvl1pPr algn="r">
              <a:defRPr sz="1245"/>
            </a:lvl1pPr>
          </a:lstStyle>
          <a:p>
            <a:pPr fontAlgn="auto"/>
            <a:fld id="{8D4E0FC9-F1F8-4FAE-9988-3BA365CFD46F}" type="slidenum">
              <a:rPr lang="zh-CN" altLang="en-US" sz="1245" strike="noStrike" noProof="1" smtClean="0">
                <a:latin typeface="+mn-lt"/>
                <a:ea typeface="+mn-ea"/>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pPr fontAlgn="auto"/>
            <a:endParaRPr lang="zh-CN" altLang="en-US" strike="noStrike" noProof="1"/>
          </a:p>
        </p:txBody>
      </p:sp>
      <p:sp>
        <p:nvSpPr>
          <p:cNvPr id="3" name="日期占位符 2"/>
          <p:cNvSpPr>
            <a:spLocks noGrp="1"/>
          </p:cNvSpPr>
          <p:nvPr>
            <p:ph type="dt" idx="1"/>
          </p:nvPr>
        </p:nvSpPr>
        <p:spPr>
          <a:xfrm>
            <a:off x="4024313" y="0"/>
            <a:ext cx="3078163" cy="512763"/>
          </a:xfrm>
          <a:prstGeom prst="rect">
            <a:avLst/>
          </a:prstGeom>
        </p:spPr>
        <p:txBody>
          <a:bodyPr vert="horz" lIns="91440" tIns="45720" rIns="91440" bIns="45720" rtlCol="0"/>
          <a:lstStyle>
            <a:lvl1pPr algn="r">
              <a:defRPr sz="1200"/>
            </a:lvl1pPr>
          </a:lstStyle>
          <a:p>
            <a:pPr fontAlgn="auto"/>
            <a:fld id="{D6C8D182-E4C8-4120-9249-FC9774456FFA}" type="datetimeFigureOut">
              <a:rPr lang="zh-CN" altLang="en-US" strike="noStrike" noProof="1" smtClean="0">
                <a:latin typeface="+mn-lt"/>
                <a:ea typeface="+mn-ea"/>
                <a:cs typeface="+mn-cs"/>
              </a:rPr>
            </a:fld>
            <a:endParaRPr lang="zh-CN" altLang="en-US" strike="noStrike" noProof="1"/>
          </a:p>
        </p:txBody>
      </p:sp>
      <p:sp>
        <p:nvSpPr>
          <p:cNvPr id="3076" name="幻灯片图像占位符 3"/>
          <p:cNvSpPr>
            <a:spLocks noGrp="1" noRot="1" noChangeAspect="1"/>
          </p:cNvSpPr>
          <p:nvPr>
            <p:ph type="sldImg"/>
          </p:nvPr>
        </p:nvSpPr>
        <p:spPr>
          <a:xfrm>
            <a:off x="482600" y="1279525"/>
            <a:ext cx="6140450" cy="3454400"/>
          </a:xfrm>
          <a:prstGeom prst="rect">
            <a:avLst/>
          </a:prstGeom>
          <a:noFill/>
          <a:ln w="12700" cap="flat" cmpd="sng">
            <a:solidFill>
              <a:srgbClr val="000000"/>
            </a:solidFill>
            <a:prstDash val="solid"/>
            <a:round/>
            <a:headEnd type="none" w="med" len="med"/>
            <a:tailEnd type="none" w="med" len="med"/>
          </a:ln>
        </p:spPr>
      </p:sp>
      <p:sp>
        <p:nvSpPr>
          <p:cNvPr id="3077" name="备注占位符 4"/>
          <p:cNvSpPr>
            <a:spLocks noGrp="1"/>
          </p:cNvSpPr>
          <p:nvPr>
            <p:ph type="body" sz="quarter"/>
          </p:nvPr>
        </p:nvSpPr>
        <p:spPr>
          <a:xfrm>
            <a:off x="711200" y="4926013"/>
            <a:ext cx="5683250" cy="4029075"/>
          </a:xfrm>
          <a:prstGeom prst="rect">
            <a:avLst/>
          </a:prstGeom>
          <a:noFill/>
          <a:ln w="9525">
            <a:noFill/>
          </a:ln>
        </p:spPr>
        <p:txBody>
          <a:bodyPr vert="horz" lIns="91440" tIns="45720" rIns="91440" bIns="45720" anchor="t" anchorCtr="0"/>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pPr fontAlgn="auto"/>
            <a:endParaRPr lang="zh-CN" altLang="en-US" strike="noStrike" noProof="1"/>
          </a:p>
        </p:txBody>
      </p:sp>
      <p:sp>
        <p:nvSpPr>
          <p:cNvPr id="7" name="灯片编号占位符 6"/>
          <p:cNvSpPr>
            <a:spLocks noGrp="1"/>
          </p:cNvSpPr>
          <p:nvPr>
            <p:ph type="sldNum" sz="quarter" idx="5"/>
          </p:nvPr>
        </p:nvSpPr>
        <p:spPr>
          <a:xfrm>
            <a:off x="4024313" y="9721850"/>
            <a:ext cx="3078163" cy="512763"/>
          </a:xfrm>
          <a:prstGeom prst="rect">
            <a:avLst/>
          </a:prstGeom>
        </p:spPr>
        <p:txBody>
          <a:bodyPr vert="horz" lIns="91440" tIns="45720" rIns="91440" bIns="45720" rtlCol="0" anchor="b"/>
          <a:lstStyle>
            <a:lvl1pPr algn="r">
              <a:defRPr sz="1200"/>
            </a:lvl1pPr>
          </a:lstStyle>
          <a:p>
            <a:pPr fontAlgn="auto"/>
            <a:fld id="{85D0DACE-38E0-42D2-9336-2B707D34BC6D}" type="slidenum">
              <a:rPr lang="zh-CN" altLang="en-US" strike="noStrike" noProof="1" smtClean="0">
                <a:latin typeface="+mn-lt"/>
                <a:ea typeface="+mn-ea"/>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幻灯片图像占位符 1"/>
          <p:cNvSpPr>
            <a:spLocks noGrp="1" noRot="1"/>
          </p:cNvSpPr>
          <p:nvPr>
            <p:ph type="sldImg"/>
          </p:nvPr>
        </p:nvSpPr>
        <p:spPr/>
      </p:sp>
      <p:sp>
        <p:nvSpPr>
          <p:cNvPr id="5122" name="文本占位符 2"/>
          <p:cNvSpPr>
            <a:spLocks noGrp="1"/>
          </p:cNvSpPr>
          <p:nvPr>
            <p:ph type="body"/>
          </p:nvPr>
        </p:nvSpPr>
        <p:spPr/>
        <p:txBody>
          <a:bodyPr lIns="91440" tIns="45720" rIns="91440" bIns="45720" anchor="t" anchorCtr="0"/>
          <a:p>
            <a:pPr lvl="0"/>
            <a:r>
              <a:rPr lang="en-US" altLang="zh-CN"/>
              <a:t>sensor</a:t>
            </a:r>
            <a:r>
              <a:rPr lang="zh-CN" altLang="en-US"/>
              <a:t>相机得到装甲板图像</a:t>
            </a:r>
            <a:endParaRPr lang="zh-CN" altLang="en-US"/>
          </a:p>
          <a:p>
            <a:pPr lvl="0"/>
            <a:r>
              <a:rPr lang="en-US" altLang="zh-CN"/>
              <a:t>detector</a:t>
            </a:r>
            <a:r>
              <a:rPr lang="zh-CN" altLang="en-US"/>
              <a:t>神经网络预测装甲板角点</a:t>
            </a:r>
            <a:endParaRPr lang="zh-CN" altLang="en-US"/>
          </a:p>
          <a:p>
            <a:pPr lvl="0"/>
            <a:r>
              <a:rPr lang="en-US" altLang="zh-CN"/>
              <a:t>corner refine</a:t>
            </a:r>
            <a:r>
              <a:rPr lang="zh-CN" altLang="en-US"/>
              <a:t>传统视觉算法按照网络预测的</a:t>
            </a:r>
            <a:r>
              <a:rPr lang="en-US" altLang="zh-CN"/>
              <a:t>roi</a:t>
            </a:r>
            <a:r>
              <a:rPr lang="zh-CN" altLang="en-US"/>
              <a:t>计算精确角点</a:t>
            </a:r>
            <a:endParaRPr lang="zh-CN" altLang="en-US"/>
          </a:p>
          <a:p>
            <a:pPr lvl="0"/>
            <a:r>
              <a:rPr lang="en-US" altLang="zh-CN"/>
              <a:t>predictor</a:t>
            </a:r>
            <a:r>
              <a:rPr lang="zh-CN" altLang="en-US"/>
              <a:t>筛选可瞄准的装甲板以及锁定跟踪车辆目标</a:t>
            </a:r>
            <a:endParaRPr lang="zh-CN" altLang="en-US"/>
          </a:p>
          <a:p>
            <a:pPr lvl="0"/>
            <a:r>
              <a:rPr lang="en-US" altLang="zh-CN"/>
              <a:t>solvepnp</a:t>
            </a:r>
            <a:r>
              <a:rPr lang="zh-CN" altLang="en-US"/>
              <a:t>根据角点，装甲板物理模型和相机内外参得到装甲板位置和</a:t>
            </a:r>
            <a:r>
              <a:rPr lang="en-US" altLang="zh-CN"/>
              <a:t>yaw</a:t>
            </a:r>
            <a:r>
              <a:rPr lang="zh-CN" altLang="en-US"/>
              <a:t>角（相机系）</a:t>
            </a:r>
            <a:endParaRPr lang="zh-CN" altLang="en-US"/>
          </a:p>
          <a:p>
            <a:pPr lvl="0"/>
            <a:r>
              <a:rPr lang="en-US" altLang="zh-CN"/>
              <a:t>transformer</a:t>
            </a:r>
            <a:r>
              <a:rPr lang="zh-CN" altLang="en-US"/>
              <a:t>相机系位姿转换到世界系</a:t>
            </a:r>
            <a:endParaRPr lang="zh-CN" altLang="en-US"/>
          </a:p>
          <a:p>
            <a:pPr lvl="0"/>
            <a:r>
              <a:rPr lang="en-US" altLang="zh-CN"/>
              <a:t>tracker</a:t>
            </a:r>
            <a:r>
              <a:rPr lang="zh-CN" altLang="en-US"/>
              <a:t>用</a:t>
            </a:r>
            <a:r>
              <a:rPr lang="en-US" altLang="zh-CN"/>
              <a:t>kf</a:t>
            </a:r>
            <a:r>
              <a:rPr lang="zh-CN" altLang="en-US"/>
              <a:t>估计装甲板运动状态，用</a:t>
            </a:r>
            <a:r>
              <a:rPr lang="en-US" altLang="zh-CN"/>
              <a:t>iesekf</a:t>
            </a:r>
            <a:r>
              <a:rPr lang="zh-CN" altLang="en-US"/>
              <a:t>估计整车运动状态</a:t>
            </a:r>
            <a:endParaRPr lang="zh-CN" altLang="en-US"/>
          </a:p>
          <a:p>
            <a:pPr lvl="0"/>
            <a:r>
              <a:rPr lang="en-US" altLang="zh-CN"/>
              <a:t>planner</a:t>
            </a:r>
            <a:r>
              <a:rPr lang="zh-CN" altLang="en-US"/>
              <a:t>多种策略解算到云台的目标状态并优化云台跟踪轨迹，控制开火时机</a:t>
            </a:r>
            <a:endParaRPr lang="zh-CN" altLang="en-US"/>
          </a:p>
          <a:p>
            <a:pPr lvl="0"/>
            <a:endParaRPr lang="zh-CN" altLang="en-US"/>
          </a:p>
          <a:p>
            <a:pPr lvl="0"/>
            <a:r>
              <a:rPr lang="en-US" altLang="zh-CN"/>
              <a:t>timeserial</a:t>
            </a:r>
            <a:r>
              <a:rPr lang="zh-CN" altLang="en-US"/>
              <a:t>不断获取云台姿态角和</a:t>
            </a:r>
            <a:r>
              <a:rPr lang="en-US" altLang="zh-CN"/>
              <a:t>robostatus</a:t>
            </a:r>
            <a:endParaRPr lang="en-US" altLang="zh-CN"/>
          </a:p>
          <a:p>
            <a:pPr lvl="0"/>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D8793B3-1F1F-421E-B05A-D97849E36AD3}"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https://docs.opencv.org/4.x/da/d4a/classcv_1_1Quat.html#a5fa902f27a084399249384db77e03d9b</a:t>
            </a:r>
            <a:endParaRPr lang="zh-CN" altLang="en-US" dirty="0"/>
          </a:p>
        </p:txBody>
      </p:sp>
      <p:sp>
        <p:nvSpPr>
          <p:cNvPr id="4" name="灯片编号占位符 3"/>
          <p:cNvSpPr>
            <a:spLocks noGrp="1"/>
          </p:cNvSpPr>
          <p:nvPr>
            <p:ph type="sldNum" sz="quarter" idx="5"/>
          </p:nvPr>
        </p:nvSpPr>
        <p:spPr/>
        <p:txBody>
          <a:bodyPr/>
          <a:lstStyle/>
          <a:p>
            <a:fld id="{1D8793B3-1F1F-421E-B05A-D97849E36AD3}"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幻灯片图像占位符 1"/>
          <p:cNvSpPr>
            <a:spLocks noGrp="1" noRot="1"/>
          </p:cNvSpPr>
          <p:nvPr>
            <p:ph type="sldImg"/>
          </p:nvPr>
        </p:nvSpPr>
        <p:spPr/>
      </p:sp>
      <p:sp>
        <p:nvSpPr>
          <p:cNvPr id="5122" name="文本占位符 2"/>
          <p:cNvSpPr>
            <a:spLocks noGrp="1"/>
          </p:cNvSpPr>
          <p:nvPr>
            <p:ph type="body"/>
          </p:nvPr>
        </p:nvSpPr>
        <p:spPr/>
        <p:txBody>
          <a:bodyPr lIns="91440" tIns="45720" rIns="91440" bIns="45720" anchor="t" anchorCtr="0"/>
          <a:p>
            <a:pPr lvl="0"/>
            <a:r>
              <a:rPr lang="en-US" altLang="zh-CN"/>
              <a:t>sensor</a:t>
            </a:r>
            <a:r>
              <a:rPr lang="zh-CN" altLang="en-US"/>
              <a:t>相机得到装甲板图像</a:t>
            </a:r>
            <a:endParaRPr lang="zh-CN" altLang="en-US"/>
          </a:p>
          <a:p>
            <a:pPr lvl="0"/>
            <a:r>
              <a:rPr lang="en-US" altLang="zh-CN"/>
              <a:t>detector</a:t>
            </a:r>
            <a:r>
              <a:rPr lang="zh-CN" altLang="en-US"/>
              <a:t>神经网络预测装甲板角点</a:t>
            </a:r>
            <a:endParaRPr lang="zh-CN" altLang="en-US"/>
          </a:p>
          <a:p>
            <a:pPr lvl="0"/>
            <a:r>
              <a:rPr lang="en-US" altLang="zh-CN"/>
              <a:t>corner refine</a:t>
            </a:r>
            <a:r>
              <a:rPr lang="zh-CN" altLang="en-US"/>
              <a:t>传统视觉算法按照网络预测的</a:t>
            </a:r>
            <a:r>
              <a:rPr lang="en-US" altLang="zh-CN"/>
              <a:t>roi</a:t>
            </a:r>
            <a:r>
              <a:rPr lang="zh-CN" altLang="en-US"/>
              <a:t>计算精确角点</a:t>
            </a:r>
            <a:endParaRPr lang="zh-CN" altLang="en-US"/>
          </a:p>
          <a:p>
            <a:pPr lvl="0"/>
            <a:r>
              <a:rPr lang="en-US" altLang="zh-CN"/>
              <a:t>predictor</a:t>
            </a:r>
            <a:r>
              <a:rPr lang="zh-CN" altLang="en-US"/>
              <a:t>筛选可瞄准的装甲板以及锁定跟踪车辆目标</a:t>
            </a:r>
            <a:endParaRPr lang="zh-CN" altLang="en-US"/>
          </a:p>
          <a:p>
            <a:pPr lvl="0"/>
            <a:r>
              <a:rPr lang="en-US" altLang="zh-CN"/>
              <a:t>solvepnp</a:t>
            </a:r>
            <a:r>
              <a:rPr lang="zh-CN" altLang="en-US"/>
              <a:t>根据角点，装甲板物理模型和相机内外参得到装甲板位置和</a:t>
            </a:r>
            <a:r>
              <a:rPr lang="en-US" altLang="zh-CN"/>
              <a:t>yaw</a:t>
            </a:r>
            <a:r>
              <a:rPr lang="zh-CN" altLang="en-US"/>
              <a:t>角（相机系）</a:t>
            </a:r>
            <a:endParaRPr lang="zh-CN" altLang="en-US"/>
          </a:p>
          <a:p>
            <a:pPr lvl="0"/>
            <a:r>
              <a:rPr lang="en-US" altLang="zh-CN"/>
              <a:t>transformer</a:t>
            </a:r>
            <a:r>
              <a:rPr lang="zh-CN" altLang="en-US"/>
              <a:t>相机系位姿转换到世界系</a:t>
            </a:r>
            <a:endParaRPr lang="zh-CN" altLang="en-US"/>
          </a:p>
          <a:p>
            <a:pPr lvl="0"/>
            <a:r>
              <a:rPr lang="en-US" altLang="zh-CN"/>
              <a:t>tracker</a:t>
            </a:r>
            <a:r>
              <a:rPr lang="zh-CN" altLang="en-US"/>
              <a:t>用</a:t>
            </a:r>
            <a:r>
              <a:rPr lang="en-US" altLang="zh-CN"/>
              <a:t>kf</a:t>
            </a:r>
            <a:r>
              <a:rPr lang="zh-CN" altLang="en-US"/>
              <a:t>估计装甲板运动状态，用</a:t>
            </a:r>
            <a:r>
              <a:rPr lang="en-US" altLang="zh-CN"/>
              <a:t>iesekf</a:t>
            </a:r>
            <a:r>
              <a:rPr lang="zh-CN" altLang="en-US"/>
              <a:t>估计整车运动状态</a:t>
            </a:r>
            <a:endParaRPr lang="zh-CN" altLang="en-US"/>
          </a:p>
          <a:p>
            <a:pPr lvl="0"/>
            <a:r>
              <a:rPr lang="en-US" altLang="zh-CN"/>
              <a:t>planner</a:t>
            </a:r>
            <a:r>
              <a:rPr lang="zh-CN" altLang="en-US"/>
              <a:t>多种策略解算到云台的目标状态并优化云台跟踪轨迹，控制开火时机</a:t>
            </a:r>
            <a:endParaRPr lang="zh-CN" altLang="en-US"/>
          </a:p>
          <a:p>
            <a:pPr lvl="0"/>
            <a:endParaRPr lang="zh-CN" altLang="en-US"/>
          </a:p>
          <a:p>
            <a:pPr lvl="0"/>
            <a:r>
              <a:rPr lang="en-US" altLang="zh-CN"/>
              <a:t>timeserial</a:t>
            </a:r>
            <a:r>
              <a:rPr lang="zh-CN" altLang="en-US"/>
              <a:t>不断获取云台姿态角和</a:t>
            </a:r>
            <a:r>
              <a:rPr lang="en-US" altLang="zh-CN"/>
              <a:t>robostatus</a:t>
            </a:r>
            <a:endParaRPr lang="en-US" altLang="zh-CN"/>
          </a:p>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defRPr sz="6000">
                <a:effectLst>
                  <a:outerShdw blurRad="38100" dist="38100" dir="2700000" algn="tl">
                    <a:srgbClr val="000000">
                      <a:alpha val="43137"/>
                    </a:srgbClr>
                  </a:outerShdw>
                </a:effectLst>
              </a:defRPr>
            </a:lvl1pPr>
          </a:lstStyle>
          <a:p>
            <a:pPr fontAlgn="auto"/>
            <a:r>
              <a:rPr lang="zh-CN" altLang="en-US" strike="noStrike" noProof="1" dirty="0"/>
              <a:t>单击此处添加标题</a:t>
            </a:r>
            <a:endParaRPr lang="zh-CN" altLang="en-US" strike="noStrike" noProof="1" dirty="0"/>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auto"/>
            <a:r>
              <a:rPr lang="zh-CN" altLang="en-US" strike="noStrike" noProof="1" dirty="0"/>
              <a:t>单击此处添加副标题</a:t>
            </a:r>
            <a:endParaRPr lang="zh-CN" altLang="en-US" strike="noStrike" noProof="1" dirty="0"/>
          </a:p>
        </p:txBody>
      </p:sp>
      <p:sp>
        <p:nvSpPr>
          <p:cNvPr id="4" name="日期占位符 3"/>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pPr fontAlgn="auto"/>
            <a:r>
              <a:rPr lang="zh-CN" altLang="en-US" strike="noStrike" noProof="1" dirty="0"/>
              <a:t>单击此处编辑母版标题样式</a:t>
            </a:r>
            <a:endParaRPr lang="zh-CN" altLang="en-US" strike="noStrike" noProof="1"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fontAlgn="auto"/>
            <a:r>
              <a:rPr lang="zh-CN" altLang="en-US" strike="noStrike" noProof="1" dirty="0"/>
              <a:t>单击此处编辑母版文本样式</a:t>
            </a:r>
            <a:endParaRPr lang="zh-CN" altLang="en-US" strike="noStrike" noProof="1" dirty="0"/>
          </a:p>
          <a:p>
            <a:pPr lvl="1" fontAlgn="auto"/>
            <a:r>
              <a:rPr lang="zh-CN" altLang="en-US" strike="noStrike" noProof="1" dirty="0"/>
              <a:t>第二级</a:t>
            </a:r>
            <a:endParaRPr lang="zh-CN" altLang="en-US" strike="noStrike" noProof="1" dirty="0"/>
          </a:p>
          <a:p>
            <a:pPr lvl="2" fontAlgn="auto"/>
            <a:r>
              <a:rPr lang="zh-CN" altLang="en-US" strike="noStrike" noProof="1" dirty="0"/>
              <a:t>第三级</a:t>
            </a:r>
            <a:endParaRPr lang="zh-CN" altLang="en-US" strike="noStrike" noProof="1" dirty="0"/>
          </a:p>
          <a:p>
            <a:pPr lvl="3" fontAlgn="auto"/>
            <a:r>
              <a:rPr lang="zh-CN" altLang="en-US" strike="noStrike" noProof="1" dirty="0"/>
              <a:t>第四级</a:t>
            </a:r>
            <a:endParaRPr lang="zh-CN" altLang="en-US" strike="noStrike" noProof="1" dirty="0"/>
          </a:p>
          <a:p>
            <a:pPr lvl="4" fontAlgn="auto"/>
            <a:r>
              <a:rPr lang="zh-CN" altLang="en-US" strike="noStrike" noProof="1" dirty="0"/>
              <a:t>第五级</a:t>
            </a:r>
            <a:endParaRPr lang="zh-CN" altLang="en-US" strike="noStrike" noProof="1" dirty="0"/>
          </a:p>
        </p:txBody>
      </p:sp>
      <p:sp>
        <p:nvSpPr>
          <p:cNvPr id="4" name="日期占位符 3"/>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pPr fontAlgn="auto"/>
            <a:r>
              <a:rPr lang="zh-CN" altLang="en-US" strike="noStrike" noProof="1" dirty="0"/>
              <a:t>单击此处编辑母版标题样式</a:t>
            </a:r>
            <a:endParaRPr lang="zh-CN" altLang="en-US" strike="noStrike" noProof="1"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auto"/>
            <a:r>
              <a:rPr lang="zh-CN" altLang="en-US" strike="noStrike" noProof="1" dirty="0"/>
              <a:t>单击此处编辑母版文本样式</a:t>
            </a:r>
            <a:endParaRPr lang="zh-CN" altLang="en-US" strike="noStrike" noProof="1" dirty="0"/>
          </a:p>
        </p:txBody>
      </p:sp>
      <p:sp>
        <p:nvSpPr>
          <p:cNvPr id="4" name="日期占位符 3"/>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pPr fontAlgn="auto"/>
            <a:r>
              <a:rPr lang="zh-CN" altLang="en-US" strike="noStrike" noProof="1" dirty="0"/>
              <a:t>单击此处编辑母版标题样式</a:t>
            </a:r>
            <a:endParaRPr lang="zh-CN" altLang="en-US" strike="noStrike" noProof="1"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fontAlgn="auto"/>
            <a:r>
              <a:rPr lang="zh-CN" altLang="en-US" strike="noStrike" noProof="1" dirty="0"/>
              <a:t>单击此处编辑母版文本样式</a:t>
            </a:r>
            <a:endParaRPr lang="zh-CN" altLang="en-US" strike="noStrike" noProof="1" dirty="0"/>
          </a:p>
          <a:p>
            <a:pPr lvl="1" fontAlgn="auto"/>
            <a:r>
              <a:rPr lang="zh-CN" altLang="en-US" strike="noStrike" noProof="1" dirty="0"/>
              <a:t>第二级</a:t>
            </a:r>
            <a:endParaRPr lang="zh-CN" altLang="en-US" strike="noStrike" noProof="1" dirty="0"/>
          </a:p>
          <a:p>
            <a:pPr lvl="2" fontAlgn="auto"/>
            <a:r>
              <a:rPr lang="zh-CN" altLang="en-US" strike="noStrike" noProof="1" dirty="0"/>
              <a:t>第三级</a:t>
            </a:r>
            <a:endParaRPr lang="zh-CN" altLang="en-US" strike="noStrike" noProof="1" dirty="0"/>
          </a:p>
          <a:p>
            <a:pPr lvl="3" fontAlgn="auto"/>
            <a:r>
              <a:rPr lang="zh-CN" altLang="en-US" strike="noStrike" noProof="1" dirty="0"/>
              <a:t>第四级</a:t>
            </a:r>
            <a:endParaRPr lang="zh-CN" altLang="en-US" strike="noStrike" noProof="1" dirty="0"/>
          </a:p>
          <a:p>
            <a:pPr lvl="4" fontAlgn="auto"/>
            <a:r>
              <a:rPr lang="zh-CN" altLang="en-US" strike="noStrike" noProof="1" dirty="0"/>
              <a:t>第五级</a:t>
            </a:r>
            <a:endParaRPr lang="zh-CN" altLang="en-US" strike="noStrike" noProof="1"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fontAlgn="auto"/>
            <a:r>
              <a:rPr lang="zh-CN" altLang="en-US" strike="noStrike" noProof="1" dirty="0"/>
              <a:t>单击此处编辑母版文本样式</a:t>
            </a:r>
            <a:endParaRPr lang="zh-CN" altLang="en-US" strike="noStrike" noProof="1" dirty="0"/>
          </a:p>
          <a:p>
            <a:pPr lvl="1" fontAlgn="auto"/>
            <a:r>
              <a:rPr lang="zh-CN" altLang="en-US" strike="noStrike" noProof="1" dirty="0"/>
              <a:t>第二级</a:t>
            </a:r>
            <a:endParaRPr lang="zh-CN" altLang="en-US" strike="noStrike" noProof="1" dirty="0"/>
          </a:p>
          <a:p>
            <a:pPr lvl="2" fontAlgn="auto"/>
            <a:r>
              <a:rPr lang="zh-CN" altLang="en-US" strike="noStrike" noProof="1" dirty="0"/>
              <a:t>第三级</a:t>
            </a:r>
            <a:endParaRPr lang="zh-CN" altLang="en-US" strike="noStrike" noProof="1" dirty="0"/>
          </a:p>
          <a:p>
            <a:pPr lvl="3" fontAlgn="auto"/>
            <a:r>
              <a:rPr lang="zh-CN" altLang="en-US" strike="noStrike" noProof="1" dirty="0"/>
              <a:t>第四级</a:t>
            </a:r>
            <a:endParaRPr lang="zh-CN" altLang="en-US" strike="noStrike" noProof="1" dirty="0"/>
          </a:p>
          <a:p>
            <a:pPr lvl="4" fontAlgn="auto"/>
            <a:r>
              <a:rPr lang="zh-CN" altLang="en-US" strike="noStrike" noProof="1" dirty="0"/>
              <a:t>第五级</a:t>
            </a:r>
            <a:endParaRPr lang="zh-CN" altLang="en-US" strike="noStrike" noProof="1" dirty="0"/>
          </a:p>
        </p:txBody>
      </p:sp>
      <p:sp>
        <p:nvSpPr>
          <p:cNvPr id="5" name="日期占位符 4"/>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pPr fontAlgn="auto"/>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dirty="0"/>
              <a:t>单击此处编辑母版文本样式</a:t>
            </a:r>
            <a:endParaRPr lang="zh-CN" altLang="en-US" strike="noStrike" noProof="1" dirty="0"/>
          </a:p>
        </p:txBody>
      </p:sp>
      <p:sp>
        <p:nvSpPr>
          <p:cNvPr id="4" name="内容占位符 3"/>
          <p:cNvSpPr>
            <a:spLocks noGrp="1"/>
          </p:cNvSpPr>
          <p:nvPr>
            <p:ph sz="half" idx="2"/>
          </p:nvPr>
        </p:nvSpPr>
        <p:spPr>
          <a:xfrm>
            <a:off x="839788" y="2615609"/>
            <a:ext cx="5157787" cy="3574054"/>
          </a:xfrm>
        </p:spPr>
        <p:txBody>
          <a:bodyPr/>
          <a:lstStyle/>
          <a:p>
            <a:pPr lvl="0" fontAlgn="auto"/>
            <a:r>
              <a:rPr lang="zh-CN" altLang="en-US" strike="noStrike" noProof="1" dirty="0"/>
              <a:t>单击此处编辑母版文本样式</a:t>
            </a:r>
            <a:endParaRPr lang="zh-CN" altLang="en-US" strike="noStrike" noProof="1" dirty="0"/>
          </a:p>
          <a:p>
            <a:pPr lvl="1" fontAlgn="auto"/>
            <a:r>
              <a:rPr lang="zh-CN" altLang="en-US" strike="noStrike" noProof="1" dirty="0"/>
              <a:t>第二级</a:t>
            </a:r>
            <a:endParaRPr lang="zh-CN" altLang="en-US" strike="noStrike" noProof="1" dirty="0"/>
          </a:p>
          <a:p>
            <a:pPr lvl="2" fontAlgn="auto"/>
            <a:r>
              <a:rPr lang="zh-CN" altLang="en-US" strike="noStrike" noProof="1" dirty="0"/>
              <a:t>第三级</a:t>
            </a:r>
            <a:endParaRPr lang="zh-CN" altLang="en-US" strike="noStrike" noProof="1" dirty="0"/>
          </a:p>
          <a:p>
            <a:pPr lvl="3" fontAlgn="auto"/>
            <a:r>
              <a:rPr lang="zh-CN" altLang="en-US" strike="noStrike" noProof="1" dirty="0"/>
              <a:t>第四级</a:t>
            </a:r>
            <a:endParaRPr lang="zh-CN" altLang="en-US" strike="noStrike" noProof="1" dirty="0"/>
          </a:p>
          <a:p>
            <a:pPr lvl="4" fontAlgn="auto"/>
            <a:r>
              <a:rPr lang="zh-CN" altLang="en-US" strike="noStrike" noProof="1" dirty="0"/>
              <a:t>第五级</a:t>
            </a:r>
            <a:endParaRPr lang="zh-CN" altLang="en-US" strike="noStrike" noProof="1"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auto"/>
            <a:r>
              <a:rPr lang="zh-CN" altLang="en-US" strike="noStrike" noProof="1" dirty="0"/>
              <a:t>单击此处编辑母版文本样式</a:t>
            </a:r>
            <a:endParaRPr lang="zh-CN" altLang="en-US" strike="noStrike" noProof="1" dirty="0"/>
          </a:p>
        </p:txBody>
      </p:sp>
      <p:sp>
        <p:nvSpPr>
          <p:cNvPr id="6" name="内容占位符 5"/>
          <p:cNvSpPr>
            <a:spLocks noGrp="1"/>
          </p:cNvSpPr>
          <p:nvPr>
            <p:ph sz="quarter" idx="4"/>
          </p:nvPr>
        </p:nvSpPr>
        <p:spPr>
          <a:xfrm>
            <a:off x="6172200" y="2615609"/>
            <a:ext cx="5183188" cy="3574054"/>
          </a:xfrm>
        </p:spPr>
        <p:txBody>
          <a:bodyPr/>
          <a:lstStyle/>
          <a:p>
            <a:pPr lvl="0" fontAlgn="auto"/>
            <a:r>
              <a:rPr lang="zh-CN" altLang="en-US" strike="noStrike" noProof="1" dirty="0"/>
              <a:t>单击此处编辑母版文本样式</a:t>
            </a:r>
            <a:endParaRPr lang="zh-CN" altLang="en-US" strike="noStrike" noProof="1" dirty="0"/>
          </a:p>
          <a:p>
            <a:pPr lvl="1" fontAlgn="auto"/>
            <a:r>
              <a:rPr lang="zh-CN" altLang="en-US" strike="noStrike" noProof="1" dirty="0"/>
              <a:t>第二级</a:t>
            </a:r>
            <a:endParaRPr lang="zh-CN" altLang="en-US" strike="noStrike" noProof="1" dirty="0"/>
          </a:p>
          <a:p>
            <a:pPr lvl="2" fontAlgn="auto"/>
            <a:r>
              <a:rPr lang="zh-CN" altLang="en-US" strike="noStrike" noProof="1" dirty="0"/>
              <a:t>第三级</a:t>
            </a:r>
            <a:endParaRPr lang="zh-CN" altLang="en-US" strike="noStrike" noProof="1" dirty="0"/>
          </a:p>
          <a:p>
            <a:pPr lvl="3" fontAlgn="auto"/>
            <a:r>
              <a:rPr lang="zh-CN" altLang="en-US" strike="noStrike" noProof="1" dirty="0"/>
              <a:t>第四级</a:t>
            </a:r>
            <a:endParaRPr lang="zh-CN" altLang="en-US" strike="noStrike" noProof="1" dirty="0"/>
          </a:p>
          <a:p>
            <a:pPr lvl="4" fontAlgn="auto"/>
            <a:r>
              <a:rPr lang="zh-CN" altLang="en-US" strike="noStrike" noProof="1" dirty="0"/>
              <a:t>第五级</a:t>
            </a:r>
            <a:endParaRPr lang="zh-CN" altLang="en-US" strike="noStrike" noProof="1" dirty="0"/>
          </a:p>
        </p:txBody>
      </p:sp>
      <p:sp>
        <p:nvSpPr>
          <p:cNvPr id="7" name="日期占位符 6"/>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8" name="页脚占位符 7"/>
          <p:cNvSpPr>
            <a:spLocks noGrp="1"/>
          </p:cNvSpPr>
          <p:nvPr>
            <p:ph type="ftr" sz="quarter" idx="11"/>
          </p:nvPr>
        </p:nvSpPr>
        <p:spPr/>
        <p:txBody>
          <a:bodyPr/>
          <a:p>
            <a:pPr fontAlgn="auto"/>
            <a:endParaRPr lang="zh-CN" altLang="en-US" strike="noStrike" noProof="1"/>
          </a:p>
        </p:txBody>
      </p:sp>
      <p:sp>
        <p:nvSpPr>
          <p:cNvPr id="9" name="灯片编号占位符 8"/>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pPr fontAlgn="auto"/>
            <a:r>
              <a:rPr lang="zh-CN" altLang="en-US" strike="noStrike" noProof="1" dirty="0"/>
              <a:t>单击此处编辑母版标题样式</a:t>
            </a:r>
            <a:endParaRPr lang="zh-CN" altLang="en-US" strike="noStrike" noProof="1" dirty="0"/>
          </a:p>
        </p:txBody>
      </p:sp>
      <p:sp>
        <p:nvSpPr>
          <p:cNvPr id="3" name="日期占位符 2"/>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4" name="页脚占位符 3"/>
          <p:cNvSpPr>
            <a:spLocks noGrp="1"/>
          </p:cNvSpPr>
          <p:nvPr>
            <p:ph type="ftr" sz="quarter" idx="11"/>
          </p:nvPr>
        </p:nvSpPr>
        <p:spPr/>
        <p:txBody>
          <a:bodyPr/>
          <a:p>
            <a:pPr fontAlgn="auto"/>
            <a:endParaRPr lang="zh-CN" altLang="en-US" strike="noStrike" noProof="1"/>
          </a:p>
        </p:txBody>
      </p:sp>
      <p:sp>
        <p:nvSpPr>
          <p:cNvPr id="5" name="灯片编号占位符 4"/>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1"/>
          </p:nvPr>
        </p:nvSpPr>
        <p:spPr/>
        <p:txBody>
          <a:bodyPr/>
          <a:p>
            <a:pPr fontAlgn="auto"/>
            <a:endParaRPr lang="zh-CN" altLang="en-US" strike="noStrike" noProof="1"/>
          </a:p>
        </p:txBody>
      </p:sp>
      <p:sp>
        <p:nvSpPr>
          <p:cNvPr id="4" name="灯片编号占位符 3"/>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pPr fontAlgn="auto"/>
            <a:r>
              <a:rPr lang="zh-CN" altLang="en-US" strike="noStrike" noProof="1" dirty="0"/>
              <a:t>单击此处编辑标题</a:t>
            </a:r>
            <a:endParaRPr lang="zh-CN" altLang="en-US" strike="noStrike" noProof="1"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fontAlgn="auto"/>
            <a:endParaRPr lang="zh-CN" altLang="en-US" strike="noStrike" noProof="1"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fontAlgn="auto"/>
            <a:r>
              <a:rPr lang="zh-CN" altLang="en-US" strike="noStrike" noProof="1" dirty="0"/>
              <a:t>单击此处编辑母版文本样式</a:t>
            </a:r>
            <a:endParaRPr lang="zh-CN" altLang="en-US" strike="noStrike" noProof="1" dirty="0"/>
          </a:p>
        </p:txBody>
      </p:sp>
      <p:sp>
        <p:nvSpPr>
          <p:cNvPr id="5" name="日期占位符 4"/>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6" name="页脚占位符 5"/>
          <p:cNvSpPr>
            <a:spLocks noGrp="1"/>
          </p:cNvSpPr>
          <p:nvPr>
            <p:ph type="ftr" sz="quarter" idx="11"/>
          </p:nvPr>
        </p:nvSpPr>
        <p:spPr/>
        <p:txBody>
          <a:bodyPr/>
          <a:p>
            <a:pPr fontAlgn="auto"/>
            <a:endParaRPr lang="zh-CN" altLang="en-US" strike="noStrike" noProof="1"/>
          </a:p>
        </p:txBody>
      </p:sp>
      <p:sp>
        <p:nvSpPr>
          <p:cNvPr id="7" name="灯片编号占位符 6"/>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pPr fontAlgn="auto"/>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838200" y="365125"/>
            <a:ext cx="8879958" cy="5811838"/>
          </a:xfrm>
        </p:spPr>
        <p:txBody>
          <a:bodyPr vert="eaVert"/>
          <a:lstStyle/>
          <a:p>
            <a:pPr lvl="0" fontAlgn="auto"/>
            <a:r>
              <a:rPr lang="zh-CN" altLang="en-US" strike="noStrike" noProof="1" dirty="0"/>
              <a:t>单击此处编辑母版文本样式</a:t>
            </a:r>
            <a:endParaRPr lang="zh-CN" altLang="en-US" strike="noStrike" noProof="1" dirty="0"/>
          </a:p>
          <a:p>
            <a:pPr lvl="1" fontAlgn="auto"/>
            <a:r>
              <a:rPr lang="zh-CN" altLang="en-US" strike="noStrike" noProof="1" dirty="0"/>
              <a:t>第二级</a:t>
            </a:r>
            <a:endParaRPr lang="zh-CN" altLang="en-US" strike="noStrike" noProof="1" dirty="0"/>
          </a:p>
          <a:p>
            <a:pPr lvl="2" fontAlgn="auto"/>
            <a:r>
              <a:rPr lang="zh-CN" altLang="en-US" strike="noStrike" noProof="1" dirty="0"/>
              <a:t>第三级</a:t>
            </a:r>
            <a:endParaRPr lang="zh-CN" altLang="en-US" strike="noStrike" noProof="1" dirty="0"/>
          </a:p>
          <a:p>
            <a:pPr lvl="3" fontAlgn="auto"/>
            <a:r>
              <a:rPr lang="zh-CN" altLang="en-US" strike="noStrike" noProof="1" dirty="0"/>
              <a:t>第四级</a:t>
            </a:r>
            <a:endParaRPr lang="zh-CN" altLang="en-US" strike="noStrike" noProof="1" dirty="0"/>
          </a:p>
          <a:p>
            <a:pPr lvl="4" fontAlgn="auto"/>
            <a:r>
              <a:rPr lang="zh-CN" altLang="en-US" strike="noStrike" noProof="1" dirty="0"/>
              <a:t>第五级</a:t>
            </a:r>
            <a:endParaRPr lang="zh-CN" altLang="en-US" strike="noStrike" noProof="1" dirty="0"/>
          </a:p>
        </p:txBody>
      </p:sp>
      <p:sp>
        <p:nvSpPr>
          <p:cNvPr id="4" name="日期占位符 3"/>
          <p:cNvSpPr>
            <a:spLocks noGrp="1"/>
          </p:cNvSpPr>
          <p:nvPr>
            <p:ph type="dt" sz="half" idx="10"/>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11"/>
          </p:nvPr>
        </p:nvSpPr>
        <p:spPr/>
        <p:txBody>
          <a:bodyPr/>
          <a:p>
            <a:pPr fontAlgn="auto"/>
            <a:endParaRPr lang="zh-CN" altLang="en-US" strike="noStrike" noProof="1"/>
          </a:p>
        </p:txBody>
      </p:sp>
      <p:sp>
        <p:nvSpPr>
          <p:cNvPr id="6" name="灯片编号占位符 5"/>
          <p:cNvSpPr>
            <a:spLocks noGrp="1"/>
          </p:cNvSpPr>
          <p:nvPr>
            <p:ph type="sldNum" sz="quarter" idx="12"/>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nvPr>
        </p:nvSpPr>
        <p:spPr>
          <a:xfrm>
            <a:off x="838200" y="551543"/>
            <a:ext cx="10515600" cy="5558971"/>
          </a:xfrm>
        </p:spPr>
        <p:txBody>
          <a:bodyPr/>
          <a:lstStyle/>
          <a:p>
            <a:pPr lvl="0" fontAlgn="auto"/>
            <a:r>
              <a:rPr lang="zh-CN" altLang="en-US" strike="noStrike" noProof="1" dirty="0"/>
              <a:t>单击此处编辑母版文本样式</a:t>
            </a:r>
            <a:endParaRPr lang="zh-CN" altLang="en-US" strike="noStrike" noProof="1" dirty="0"/>
          </a:p>
          <a:p>
            <a:pPr lvl="1" fontAlgn="auto"/>
            <a:r>
              <a:rPr lang="zh-CN" altLang="en-US" strike="noStrike" noProof="1" dirty="0"/>
              <a:t>第二级</a:t>
            </a:r>
            <a:endParaRPr lang="zh-CN" altLang="en-US" strike="noStrike" noProof="1" dirty="0"/>
          </a:p>
          <a:p>
            <a:pPr lvl="2" fontAlgn="auto"/>
            <a:r>
              <a:rPr lang="zh-CN" altLang="en-US" strike="noStrike" noProof="1" dirty="0"/>
              <a:t>第三级</a:t>
            </a:r>
            <a:endParaRPr lang="zh-CN" altLang="en-US" strike="noStrike" noProof="1" dirty="0"/>
          </a:p>
          <a:p>
            <a:pPr lvl="3" fontAlgn="auto"/>
            <a:r>
              <a:rPr lang="zh-CN" altLang="en-US" strike="noStrike" noProof="1" dirty="0"/>
              <a:t>第四级</a:t>
            </a:r>
            <a:endParaRPr lang="zh-CN" altLang="en-US" strike="noStrike" noProof="1" dirty="0"/>
          </a:p>
          <a:p>
            <a:pPr lvl="4" fontAlgn="auto"/>
            <a:r>
              <a:rPr lang="zh-CN" altLang="en-US" strike="noStrike" noProof="1" dirty="0"/>
              <a:t>第五级</a:t>
            </a:r>
            <a:endParaRPr lang="zh-CN" altLang="en-US" strike="noStrike" noProof="1" dirty="0"/>
          </a:p>
        </p:txBody>
      </p:sp>
      <p:sp>
        <p:nvSpPr>
          <p:cNvPr id="2" name="日期占位符 1"/>
          <p:cNvSpPr>
            <a:spLocks noGrp="1"/>
          </p:cNvSpPr>
          <p:nvPr>
            <p:ph type="dt" sz="half" idx="14"/>
          </p:nvPr>
        </p:nvSpPr>
        <p:spPr/>
        <p:txBody>
          <a:bodyPr/>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3" name="页脚占位符 2"/>
          <p:cNvSpPr>
            <a:spLocks noGrp="1"/>
          </p:cNvSpPr>
          <p:nvPr>
            <p:ph type="ftr" sz="quarter" idx="15"/>
          </p:nvPr>
        </p:nvSpPr>
        <p:spPr/>
        <p:txBody>
          <a:bodyPr/>
          <a:p>
            <a:pPr fontAlgn="auto"/>
            <a:endParaRPr lang="zh-CN" altLang="en-US" strike="noStrike" noProof="1"/>
          </a:p>
        </p:txBody>
      </p:sp>
      <p:sp>
        <p:nvSpPr>
          <p:cNvPr id="4" name="灯片编号占位符 3"/>
          <p:cNvSpPr>
            <a:spLocks noGrp="1"/>
          </p:cNvSpPr>
          <p:nvPr>
            <p:ph type="sldNum" sz="quarter" idx="16"/>
          </p:nvPr>
        </p:nvSpPr>
        <p:spPr/>
        <p:txBody>
          <a:bodyPr/>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vert="horz" lIns="91440" tIns="45720" rIns="91440" bIns="45720"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vert="horz" lIns="91440" tIns="45720" rIns="91440" bIns="45720"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pPr fontAlgn="auto"/>
            <a:fld id="{760FBDFE-C587-4B4C-A407-44438C67B59E}" type="datetimeFigureOut">
              <a:rPr lang="zh-CN" altLang="en-US" strike="noStrike" noProof="1" smtClean="0">
                <a:latin typeface="+mn-lt"/>
                <a:ea typeface="+mn-ea"/>
                <a:cs typeface="+mn-cs"/>
              </a:rPr>
            </a:fld>
            <a:endParaRPr lang="zh-CN" altLang="en-US" strike="noStrike" noProof="1"/>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pPr fontAlgn="auto"/>
            <a:fld id="{49AE70B2-8BF9-45C0-BB95-33D1B9D3A854}" type="slidenum">
              <a:rPr lang="zh-CN" altLang="en-US" strike="noStrike" noProof="1" smtClean="0">
                <a:latin typeface="+mn-lt"/>
                <a:ea typeface="+mn-ea"/>
                <a:cs typeface="+mn-cs"/>
              </a:rPr>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8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8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8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8.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image" Target="../media/image18.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jpeg"/><Relationship Id="rId1" Type="http://schemas.openxmlformats.org/officeDocument/2006/relationships/image" Target="../media/image23.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4.png"/><Relationship Id="rId1" Type="http://schemas.openxmlformats.org/officeDocument/2006/relationships/image" Target="../media/image18.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18.jpe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learnopencv.com/why-does-opencv-use-bgr-color-format/" TargetMode="External"/><Relationship Id="rId1" Type="http://schemas.openxmlformats.org/officeDocument/2006/relationships/image" Target="../media/image18.jpe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18.jpe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4.png"/><Relationship Id="rId1"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3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7.pn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4.xml"/><Relationship Id="rId3" Type="http://schemas.openxmlformats.org/officeDocument/2006/relationships/image" Target="../media/image38.png"/><Relationship Id="rId2" Type="http://schemas.microsoft.com/office/2007/relationships/media" Target="../media/media1.mp4"/><Relationship Id="rId1" Type="http://schemas.openxmlformats.org/officeDocument/2006/relationships/video" Target="../media/media1.mp4"/></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40.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4.xml"/><Relationship Id="rId1" Type="http://schemas.openxmlformats.org/officeDocument/2006/relationships/image" Target="../media/image41.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image" Target="../media/image2.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4.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6.png"/></Relationships>
</file>

<file path=ppt/slides/_rels/slide4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50.jpe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2.png"/><Relationship Id="rId1" Type="http://schemas.openxmlformats.org/officeDocument/2006/relationships/image" Target="../media/image51.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4.png"/><Relationship Id="rId1" Type="http://schemas.openxmlformats.org/officeDocument/2006/relationships/image" Target="../media/image5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56.png"/><Relationship Id="rId1" Type="http://schemas.openxmlformats.org/officeDocument/2006/relationships/image" Target="../media/image55.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9.jpeg"/><Relationship Id="rId1" Type="http://schemas.openxmlformats.org/officeDocument/2006/relationships/image" Target="../media/image58.jpe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0.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59.jpe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1.png"/></Relationships>
</file>

<file path=ppt/slides/_rels/slide55.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59.jpe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3.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5.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6.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68.png"/><Relationship Id="rId1" Type="http://schemas.openxmlformats.org/officeDocument/2006/relationships/image" Target="../media/image67.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0.png"/><Relationship Id="rId1" Type="http://schemas.openxmlformats.org/officeDocument/2006/relationships/image" Target="../media/image69.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1.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2.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3.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4.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5.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6.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7.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8.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9.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0.png"/></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3.png"/><Relationship Id="rId1" Type="http://schemas.openxmlformats.org/officeDocument/2006/relationships/image" Target="../media/image8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84.png"/></Relationships>
</file>

<file path=ppt/slides/_rels/slide8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image" Target="../media/image85.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89.png"/><Relationship Id="rId1" Type="http://schemas.openxmlformats.org/officeDocument/2006/relationships/image" Target="../media/image88.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0.png"/></Relationships>
</file>

<file path=ppt/slides/_rels/slide84.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image" Target="../media/image95.png"/><Relationship Id="rId4" Type="http://schemas.openxmlformats.org/officeDocument/2006/relationships/image" Target="../media/image94.png"/><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image" Target="../media/image9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6.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8.png"/><Relationship Id="rId1" Type="http://schemas.openxmlformats.org/officeDocument/2006/relationships/image" Target="../media/image97.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99.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1.png"/><Relationship Id="rId1" Type="http://schemas.openxmlformats.org/officeDocument/2006/relationships/image" Target="../media/image100.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3.png"/><Relationship Id="rId1" Type="http://schemas.openxmlformats.org/officeDocument/2006/relationships/image" Target="../media/image102.pn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4.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06.png"/><Relationship Id="rId1" Type="http://schemas.openxmlformats.org/officeDocument/2006/relationships/image" Target="../media/image105.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833370" y="4523105"/>
            <a:ext cx="6343650" cy="824865"/>
          </a:xfrm>
          <a:prstGeom prst="rect">
            <a:avLst/>
          </a:prstGeom>
        </p:spPr>
      </p:pic>
      <p:sp>
        <p:nvSpPr>
          <p:cNvPr id="3" name="文本框 2"/>
          <p:cNvSpPr txBox="1"/>
          <p:nvPr/>
        </p:nvSpPr>
        <p:spPr>
          <a:xfrm>
            <a:off x="9333230" y="5347970"/>
            <a:ext cx="2431415" cy="231775"/>
          </a:xfrm>
          <a:prstGeom prst="rect">
            <a:avLst/>
          </a:prstGeom>
          <a:noFill/>
        </p:spPr>
        <p:txBody>
          <a:bodyPr wrap="square" rtlCol="0">
            <a:noAutofit/>
          </a:bodyPr>
          <a:p>
            <a:r>
              <a:rPr lang="en-US" altLang="zh-CN"/>
              <a:t>——</a:t>
            </a:r>
            <a:r>
              <a:rPr lang="zh-CN" altLang="en-US"/>
              <a:t>十等星</a:t>
            </a:r>
            <a:endParaRPr lang="zh-CN" altLang="en-US"/>
          </a:p>
        </p:txBody>
      </p:sp>
      <p:sp>
        <p:nvSpPr>
          <p:cNvPr id="4" name="文本框 3"/>
          <p:cNvSpPr txBox="1"/>
          <p:nvPr/>
        </p:nvSpPr>
        <p:spPr>
          <a:xfrm>
            <a:off x="4228465" y="2286000"/>
            <a:ext cx="4064000" cy="706755"/>
          </a:xfrm>
          <a:prstGeom prst="rect">
            <a:avLst/>
          </a:prstGeom>
          <a:noFill/>
        </p:spPr>
        <p:txBody>
          <a:bodyPr wrap="square" rtlCol="0">
            <a:spAutoFit/>
          </a:bodyPr>
          <a:p>
            <a:r>
              <a:rPr lang="en-US" altLang="zh-CN" sz="4000"/>
              <a:t>2026  </a:t>
            </a:r>
            <a:r>
              <a:rPr lang="zh-CN" altLang="en-US" sz="4000"/>
              <a:t>视觉培训</a:t>
            </a:r>
            <a:endParaRPr lang="zh-CN" altLang="en-US" sz="4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858510" y="594995"/>
            <a:ext cx="5600700" cy="4201160"/>
          </a:xfrm>
        </p:spPr>
      </p:pic>
      <p:pic>
        <p:nvPicPr>
          <p:cNvPr id="10244" name="图片 6"/>
          <p:cNvPicPr>
            <a:picLocks noChangeAspect="1"/>
          </p:cNvPicPr>
          <p:nvPr/>
        </p:nvPicPr>
        <p:blipFill>
          <a:blip r:embed="rId2"/>
          <a:stretch>
            <a:fillRect/>
          </a:stretch>
        </p:blipFill>
        <p:spPr>
          <a:xfrm>
            <a:off x="2390140" y="1790065"/>
            <a:ext cx="2778125" cy="1565275"/>
          </a:xfrm>
          <a:prstGeom prst="rect">
            <a:avLst/>
          </a:prstGeom>
          <a:noFill/>
          <a:ln w="9525">
            <a:noFill/>
          </a:ln>
        </p:spPr>
      </p:pic>
      <p:sp>
        <p:nvSpPr>
          <p:cNvPr id="2" name="文本框 1"/>
          <p:cNvSpPr txBox="1"/>
          <p:nvPr/>
        </p:nvSpPr>
        <p:spPr>
          <a:xfrm>
            <a:off x="607060" y="490220"/>
            <a:ext cx="4064000" cy="521970"/>
          </a:xfrm>
          <a:prstGeom prst="rect">
            <a:avLst/>
          </a:prstGeom>
          <a:noFill/>
        </p:spPr>
        <p:txBody>
          <a:bodyPr wrap="square" rtlCol="0">
            <a:spAutoFit/>
          </a:bodyPr>
          <a:p>
            <a:r>
              <a:rPr lang="zh-CN" altLang="en-US" sz="2800"/>
              <a:t>场景设置</a:t>
            </a:r>
            <a:endParaRPr lang="zh-CN" altLang="en-US" sz="2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圆角矩形 5"/>
          <p:cNvSpPr/>
          <p:nvPr/>
        </p:nvSpPr>
        <p:spPr>
          <a:xfrm>
            <a:off x="1395413" y="723900"/>
            <a:ext cx="3694113"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sensor</a:t>
            </a:r>
            <a:r>
              <a:rPr lang="zh-CN" altLang="en-US" strike="noStrike" noProof="1">
                <a:solidFill>
                  <a:schemeClr val="tx1"/>
                </a:solidFill>
                <a:sym typeface="+mn-ea"/>
              </a:rPr>
              <a:t>相机得到装甲板图像</a:t>
            </a:r>
            <a:endParaRPr lang="zh-CN" altLang="en-US" strike="noStrike" noProof="1">
              <a:solidFill>
                <a:schemeClr val="tx1"/>
              </a:solidFill>
            </a:endParaRPr>
          </a:p>
        </p:txBody>
      </p:sp>
      <p:sp>
        <p:nvSpPr>
          <p:cNvPr id="15" name="圆角矩形 14"/>
          <p:cNvSpPr/>
          <p:nvPr/>
        </p:nvSpPr>
        <p:spPr>
          <a:xfrm>
            <a:off x="6313488" y="1841500"/>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corner refine</a:t>
            </a:r>
            <a:r>
              <a:rPr lang="zh-CN" altLang="en-US" strike="noStrike" noProof="1">
                <a:solidFill>
                  <a:schemeClr val="tx1"/>
                </a:solidFill>
                <a:sym typeface="+mn-ea"/>
              </a:rPr>
              <a:t>传统视觉算法按照网络预测的</a:t>
            </a:r>
            <a:r>
              <a:rPr lang="en-US" altLang="zh-CN" strike="noStrike" noProof="1">
                <a:solidFill>
                  <a:schemeClr val="tx1"/>
                </a:solidFill>
                <a:sym typeface="+mn-ea"/>
              </a:rPr>
              <a:t>roi</a:t>
            </a:r>
            <a:r>
              <a:rPr lang="zh-CN" altLang="en-US" strike="noStrike" noProof="1">
                <a:solidFill>
                  <a:schemeClr val="tx1"/>
                </a:solidFill>
                <a:sym typeface="+mn-ea"/>
              </a:rPr>
              <a:t>计算精确角点</a:t>
            </a:r>
            <a:endParaRPr lang="zh-CN" altLang="en-US" strike="noStrike" noProof="1">
              <a:solidFill>
                <a:schemeClr val="tx1"/>
              </a:solidFill>
              <a:sym typeface="+mn-ea"/>
            </a:endParaRPr>
          </a:p>
        </p:txBody>
      </p:sp>
      <p:sp>
        <p:nvSpPr>
          <p:cNvPr id="16" name="圆角矩形 15"/>
          <p:cNvSpPr/>
          <p:nvPr/>
        </p:nvSpPr>
        <p:spPr>
          <a:xfrm>
            <a:off x="6159500" y="768350"/>
            <a:ext cx="4000500" cy="642938"/>
          </a:xfrm>
          <a:prstGeom prst="roundRect">
            <a:avLst>
              <a:gd name="adj" fmla="val 18741"/>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detector</a:t>
            </a:r>
            <a:r>
              <a:rPr lang="zh-CN" altLang="en-US" strike="noStrike" noProof="1">
                <a:solidFill>
                  <a:schemeClr val="tx1"/>
                </a:solidFill>
                <a:sym typeface="+mn-ea"/>
              </a:rPr>
              <a:t>神经网络预测装甲板角点</a:t>
            </a:r>
            <a:endParaRPr lang="zh-CN" altLang="en-US" strike="noStrike" noProof="1">
              <a:solidFill>
                <a:schemeClr val="tx1"/>
              </a:solidFill>
            </a:endParaRPr>
          </a:p>
        </p:txBody>
      </p:sp>
      <p:sp>
        <p:nvSpPr>
          <p:cNvPr id="17" name="圆角矩形 16"/>
          <p:cNvSpPr/>
          <p:nvPr/>
        </p:nvSpPr>
        <p:spPr>
          <a:xfrm>
            <a:off x="3521075" y="5572125"/>
            <a:ext cx="5149850"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timeserial</a:t>
            </a:r>
            <a:r>
              <a:rPr lang="zh-CN" altLang="en-US" strike="noStrike" noProof="1">
                <a:solidFill>
                  <a:schemeClr val="tx1"/>
                </a:solidFill>
                <a:sym typeface="+mn-ea"/>
              </a:rPr>
              <a:t>不断获取云台姿态角和</a:t>
            </a:r>
            <a:r>
              <a:rPr lang="en-US" altLang="zh-CN" strike="noStrike" noProof="1">
                <a:solidFill>
                  <a:schemeClr val="tx1"/>
                </a:solidFill>
                <a:sym typeface="+mn-ea"/>
              </a:rPr>
              <a:t>robostatus</a:t>
            </a:r>
            <a:r>
              <a:rPr lang="zh-CN" altLang="en-US" strike="noStrike" noProof="1">
                <a:solidFill>
                  <a:schemeClr val="tx1"/>
                </a:solidFill>
                <a:sym typeface="+mn-ea"/>
              </a:rPr>
              <a:t>并发送云台目标状态和开火信息</a:t>
            </a:r>
            <a:endParaRPr lang="zh-CN" altLang="en-US" strike="noStrike" noProof="1">
              <a:solidFill>
                <a:schemeClr val="tx1"/>
              </a:solidFill>
              <a:sym typeface="+mn-ea"/>
            </a:endParaRPr>
          </a:p>
        </p:txBody>
      </p:sp>
      <p:sp>
        <p:nvSpPr>
          <p:cNvPr id="18" name="圆角矩形 17"/>
          <p:cNvSpPr/>
          <p:nvPr/>
        </p:nvSpPr>
        <p:spPr>
          <a:xfrm>
            <a:off x="255588" y="4256088"/>
            <a:ext cx="5157788"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planner</a:t>
            </a:r>
            <a:r>
              <a:rPr lang="zh-CN" altLang="en-US" strike="noStrike" noProof="1">
                <a:solidFill>
                  <a:schemeClr val="tx1"/>
                </a:solidFill>
                <a:sym typeface="+mn-ea"/>
              </a:rPr>
              <a:t>多种策略解算到云台的目标状态并优化云台跟踪轨迹（</a:t>
            </a:r>
            <a:r>
              <a:rPr lang="en-US" altLang="zh-CN" strike="noStrike" noProof="1">
                <a:solidFill>
                  <a:schemeClr val="tx1"/>
                </a:solidFill>
                <a:sym typeface="+mn-ea"/>
              </a:rPr>
              <a:t>MPC</a:t>
            </a:r>
            <a:r>
              <a:rPr lang="zh-CN" altLang="en-US" strike="noStrike" noProof="1">
                <a:solidFill>
                  <a:schemeClr val="tx1"/>
                </a:solidFill>
                <a:sym typeface="+mn-ea"/>
              </a:rPr>
              <a:t>），控制开火时机</a:t>
            </a:r>
            <a:endParaRPr lang="zh-CN" altLang="en-US" strike="noStrike" noProof="1">
              <a:solidFill>
                <a:schemeClr val="tx1"/>
              </a:solidFill>
              <a:sym typeface="+mn-ea"/>
            </a:endParaRPr>
          </a:p>
        </p:txBody>
      </p:sp>
      <p:sp>
        <p:nvSpPr>
          <p:cNvPr id="19" name="圆角矩形 18"/>
          <p:cNvSpPr/>
          <p:nvPr/>
        </p:nvSpPr>
        <p:spPr>
          <a:xfrm>
            <a:off x="1333500" y="1841500"/>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predictor</a:t>
            </a:r>
            <a:r>
              <a:rPr lang="zh-CN" altLang="en-US" strike="noStrike" noProof="1">
                <a:solidFill>
                  <a:schemeClr val="tx1"/>
                </a:solidFill>
                <a:sym typeface="+mn-ea"/>
              </a:rPr>
              <a:t>筛选可瞄准的装甲板以及锁定跟踪车辆目标</a:t>
            </a:r>
            <a:endParaRPr lang="zh-CN" altLang="en-US" strike="noStrike" noProof="1">
              <a:solidFill>
                <a:schemeClr val="tx1"/>
              </a:solidFill>
              <a:sym typeface="+mn-ea"/>
            </a:endParaRPr>
          </a:p>
        </p:txBody>
      </p:sp>
      <p:sp>
        <p:nvSpPr>
          <p:cNvPr id="20" name="圆角矩形 19"/>
          <p:cNvSpPr/>
          <p:nvPr/>
        </p:nvSpPr>
        <p:spPr>
          <a:xfrm>
            <a:off x="1211263" y="2892425"/>
            <a:ext cx="3937000" cy="1031875"/>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solvepnp</a:t>
            </a:r>
            <a:r>
              <a:rPr lang="zh-CN" altLang="en-US" strike="noStrike" noProof="1">
                <a:solidFill>
                  <a:schemeClr val="tx1"/>
                </a:solidFill>
                <a:sym typeface="+mn-ea"/>
              </a:rPr>
              <a:t>根据角点，装甲板物理模型和相机内外参得到装甲板位置和</a:t>
            </a:r>
            <a:r>
              <a:rPr lang="en-US" altLang="zh-CN" strike="noStrike" noProof="1">
                <a:solidFill>
                  <a:schemeClr val="tx1"/>
                </a:solidFill>
                <a:sym typeface="+mn-ea"/>
              </a:rPr>
              <a:t>yaw</a:t>
            </a:r>
            <a:r>
              <a:rPr lang="zh-CN" altLang="en-US" strike="noStrike" noProof="1">
                <a:solidFill>
                  <a:schemeClr val="tx1"/>
                </a:solidFill>
                <a:sym typeface="+mn-ea"/>
              </a:rPr>
              <a:t>角（相机系）</a:t>
            </a:r>
            <a:endParaRPr lang="zh-CN" altLang="en-US" strike="noStrike" noProof="1">
              <a:solidFill>
                <a:schemeClr val="tx1"/>
              </a:solidFill>
              <a:sym typeface="+mn-ea"/>
            </a:endParaRPr>
          </a:p>
        </p:txBody>
      </p:sp>
      <p:sp>
        <p:nvSpPr>
          <p:cNvPr id="21" name="圆角矩形 20"/>
          <p:cNvSpPr/>
          <p:nvPr/>
        </p:nvSpPr>
        <p:spPr>
          <a:xfrm>
            <a:off x="6245225" y="3042603"/>
            <a:ext cx="44418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transformer</a:t>
            </a:r>
            <a:r>
              <a:rPr lang="zh-CN" altLang="en-US" strike="noStrike" noProof="1">
                <a:solidFill>
                  <a:schemeClr val="tx1"/>
                </a:solidFill>
                <a:sym typeface="+mn-ea"/>
              </a:rPr>
              <a:t>相机系位姿转换到世界系</a:t>
            </a:r>
            <a:endParaRPr lang="zh-CN" altLang="en-US" strike="noStrike" noProof="1">
              <a:solidFill>
                <a:schemeClr val="tx1"/>
              </a:solidFill>
              <a:sym typeface="+mn-ea"/>
            </a:endParaRPr>
          </a:p>
        </p:txBody>
      </p:sp>
      <p:sp>
        <p:nvSpPr>
          <p:cNvPr id="22" name="圆角矩形 21"/>
          <p:cNvSpPr/>
          <p:nvPr/>
        </p:nvSpPr>
        <p:spPr>
          <a:xfrm>
            <a:off x="6619875" y="4249738"/>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tracker</a:t>
            </a:r>
            <a:r>
              <a:rPr lang="zh-CN" altLang="en-US" strike="noStrike" noProof="1">
                <a:solidFill>
                  <a:schemeClr val="tx1"/>
                </a:solidFill>
                <a:sym typeface="+mn-ea"/>
              </a:rPr>
              <a:t>用</a:t>
            </a:r>
            <a:r>
              <a:rPr lang="en-US" altLang="zh-CN" strike="noStrike" noProof="1">
                <a:solidFill>
                  <a:schemeClr val="tx1"/>
                </a:solidFill>
                <a:sym typeface="+mn-ea"/>
              </a:rPr>
              <a:t>kf</a:t>
            </a:r>
            <a:r>
              <a:rPr lang="zh-CN" altLang="en-US" strike="noStrike" noProof="1">
                <a:solidFill>
                  <a:schemeClr val="tx1"/>
                </a:solidFill>
                <a:sym typeface="+mn-ea"/>
              </a:rPr>
              <a:t>估计装甲板运动状态，用</a:t>
            </a:r>
            <a:r>
              <a:rPr lang="en-US" altLang="zh-CN" strike="noStrike" noProof="1">
                <a:solidFill>
                  <a:schemeClr val="tx1"/>
                </a:solidFill>
                <a:sym typeface="+mn-ea"/>
              </a:rPr>
              <a:t>iesekf</a:t>
            </a:r>
            <a:r>
              <a:rPr lang="zh-CN" altLang="en-US" strike="noStrike" noProof="1">
                <a:solidFill>
                  <a:schemeClr val="tx1"/>
                </a:solidFill>
                <a:sym typeface="+mn-ea"/>
              </a:rPr>
              <a:t>估计整车运动状态</a:t>
            </a:r>
            <a:endParaRPr lang="zh-CN" altLang="en-US" strike="noStrike" noProof="1">
              <a:solidFill>
                <a:schemeClr val="tx1"/>
              </a:solidFill>
              <a:sym typeface="+mn-ea"/>
            </a:endParaRPr>
          </a:p>
        </p:txBody>
      </p:sp>
      <p:cxnSp>
        <p:nvCxnSpPr>
          <p:cNvPr id="23" name="直接箭头连接符 22"/>
          <p:cNvCxnSpPr>
            <a:stCxn id="6" idx="3"/>
            <a:endCxn id="16" idx="1"/>
          </p:cNvCxnSpPr>
          <p:nvPr/>
        </p:nvCxnSpPr>
        <p:spPr>
          <a:xfrm>
            <a:off x="5089525" y="1082675"/>
            <a:ext cx="1069975" cy="793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a:stCxn id="16" idx="2"/>
            <a:endCxn id="15" idx="0"/>
          </p:cNvCxnSpPr>
          <p:nvPr/>
        </p:nvCxnSpPr>
        <p:spPr>
          <a:xfrm>
            <a:off x="8159750" y="1411288"/>
            <a:ext cx="0" cy="43021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a:stCxn id="15" idx="1"/>
            <a:endCxn id="19" idx="3"/>
          </p:cNvCxnSpPr>
          <p:nvPr/>
        </p:nvCxnSpPr>
        <p:spPr>
          <a:xfrm flipH="1">
            <a:off x="5026025" y="2200275"/>
            <a:ext cx="1287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a:stCxn id="19" idx="2"/>
            <a:endCxn id="20" idx="0"/>
          </p:cNvCxnSpPr>
          <p:nvPr/>
        </p:nvCxnSpPr>
        <p:spPr>
          <a:xfrm>
            <a:off x="3179763" y="2559050"/>
            <a:ext cx="0" cy="3333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20" idx="3"/>
            <a:endCxn id="21" idx="1"/>
          </p:cNvCxnSpPr>
          <p:nvPr/>
        </p:nvCxnSpPr>
        <p:spPr>
          <a:xfrm flipV="1">
            <a:off x="5148263" y="3401378"/>
            <a:ext cx="1096645" cy="69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a:stCxn id="21" idx="2"/>
            <a:endCxn id="22" idx="0"/>
          </p:cNvCxnSpPr>
          <p:nvPr/>
        </p:nvCxnSpPr>
        <p:spPr>
          <a:xfrm>
            <a:off x="8466138" y="3760153"/>
            <a:ext cx="0" cy="4895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22" idx="1"/>
            <a:endCxn id="18" idx="3"/>
          </p:cNvCxnSpPr>
          <p:nvPr/>
        </p:nvCxnSpPr>
        <p:spPr>
          <a:xfrm flipH="1">
            <a:off x="5413375" y="4608513"/>
            <a:ext cx="1206500"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113" name="文本框 30"/>
          <p:cNvSpPr txBox="1"/>
          <p:nvPr/>
        </p:nvSpPr>
        <p:spPr>
          <a:xfrm>
            <a:off x="284163" y="107950"/>
            <a:ext cx="4064000" cy="582613"/>
          </a:xfrm>
          <a:prstGeom prst="rect">
            <a:avLst/>
          </a:prstGeom>
          <a:noFill/>
          <a:ln w="9525">
            <a:noFill/>
          </a:ln>
        </p:spPr>
        <p:txBody>
          <a:bodyPr wrap="square" anchor="t" anchorCtr="0">
            <a:spAutoFit/>
          </a:bodyPr>
          <a:p>
            <a:r>
              <a:rPr lang="zh-CN" altLang="en-US" sz="3200">
                <a:latin typeface="Calibri" charset="0"/>
                <a:ea typeface="SimSun" pitchFamily="2" charset="-122"/>
              </a:rPr>
              <a:t>概览</a:t>
            </a:r>
            <a:endParaRPr lang="zh-CN" altLang="en-US" sz="3200">
              <a:latin typeface="Calibri" charset="0"/>
              <a:ea typeface="SimSun" pitchFamily="2" charset="-122"/>
            </a:endParaRPr>
          </a:p>
        </p:txBody>
      </p:sp>
      <p:sp>
        <p:nvSpPr>
          <p:cNvPr id="32" name="五角星 31"/>
          <p:cNvSpPr/>
          <p:nvPr/>
        </p:nvSpPr>
        <p:spPr>
          <a:xfrm>
            <a:off x="1322388" y="579438"/>
            <a:ext cx="458788" cy="404813"/>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3" name="五角星 32"/>
          <p:cNvSpPr/>
          <p:nvPr/>
        </p:nvSpPr>
        <p:spPr>
          <a:xfrm>
            <a:off x="6159500" y="1603375"/>
            <a:ext cx="458788" cy="406400"/>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4" name="五角星 33"/>
          <p:cNvSpPr/>
          <p:nvPr/>
        </p:nvSpPr>
        <p:spPr>
          <a:xfrm>
            <a:off x="936625" y="2771775"/>
            <a:ext cx="458788" cy="404813"/>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5" name="五角星 34"/>
          <p:cNvSpPr/>
          <p:nvPr/>
        </p:nvSpPr>
        <p:spPr>
          <a:xfrm>
            <a:off x="6159500" y="2873375"/>
            <a:ext cx="458788" cy="406400"/>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6" name="五角星 35"/>
          <p:cNvSpPr/>
          <p:nvPr/>
        </p:nvSpPr>
        <p:spPr>
          <a:xfrm>
            <a:off x="6442075" y="3981450"/>
            <a:ext cx="458788" cy="406400"/>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文本框 1"/>
          <p:cNvSpPr txBox="1"/>
          <p:nvPr/>
        </p:nvSpPr>
        <p:spPr>
          <a:xfrm>
            <a:off x="4410075" y="2506663"/>
            <a:ext cx="4064000" cy="922337"/>
          </a:xfrm>
          <a:prstGeom prst="rect">
            <a:avLst/>
          </a:prstGeom>
          <a:noFill/>
          <a:ln w="9525">
            <a:noFill/>
          </a:ln>
        </p:spPr>
        <p:txBody>
          <a:bodyPr wrap="square" anchor="t" anchorCtr="0">
            <a:spAutoFit/>
          </a:bodyPr>
          <a:p>
            <a:r>
              <a:rPr lang="zh-CN" altLang="en-US" sz="5400">
                <a:latin typeface="Calibri" charset="0"/>
                <a:ea typeface="SimSun" pitchFamily="2" charset="-122"/>
              </a:rPr>
              <a:t>相机与镜头</a:t>
            </a:r>
            <a:endParaRPr lang="zh-CN" altLang="en-US" sz="5400">
              <a:latin typeface="Calibri" charset="0"/>
              <a:ea typeface="SimSun" pitchFamily="2" charset="-122"/>
            </a:endParaRPr>
          </a:p>
        </p:txBody>
      </p:sp>
      <p:sp>
        <p:nvSpPr>
          <p:cNvPr id="6" name="圆角矩形 5"/>
          <p:cNvSpPr/>
          <p:nvPr/>
        </p:nvSpPr>
        <p:spPr>
          <a:xfrm>
            <a:off x="717550" y="433388"/>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sensor</a:t>
            </a:r>
            <a:r>
              <a:rPr lang="zh-CN" altLang="en-US" strike="noStrike" noProof="1">
                <a:solidFill>
                  <a:schemeClr val="tx1"/>
                </a:solidFill>
                <a:sym typeface="+mn-ea"/>
              </a:rPr>
              <a:t>相机得到装甲板图像</a:t>
            </a:r>
            <a:endParaRPr lang="zh-CN" altLang="en-US" strike="noStrike" noProof="1">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169" name="图片 1"/>
          <p:cNvPicPr>
            <a:picLocks noChangeAspect="1"/>
          </p:cNvPicPr>
          <p:nvPr/>
        </p:nvPicPr>
        <p:blipFill>
          <a:blip r:embed="rId1"/>
          <a:stretch>
            <a:fillRect/>
          </a:stretch>
        </p:blipFill>
        <p:spPr>
          <a:xfrm>
            <a:off x="628650" y="830263"/>
            <a:ext cx="3684588" cy="674687"/>
          </a:xfrm>
          <a:prstGeom prst="rect">
            <a:avLst/>
          </a:prstGeom>
          <a:noFill/>
          <a:ln w="9525">
            <a:noFill/>
          </a:ln>
        </p:spPr>
      </p:pic>
      <p:pic>
        <p:nvPicPr>
          <p:cNvPr id="7170" name="图片 2"/>
          <p:cNvPicPr>
            <a:picLocks noChangeAspect="1"/>
          </p:cNvPicPr>
          <p:nvPr/>
        </p:nvPicPr>
        <p:blipFill>
          <a:blip r:embed="rId2"/>
          <a:stretch>
            <a:fillRect/>
          </a:stretch>
        </p:blipFill>
        <p:spPr>
          <a:xfrm>
            <a:off x="744538" y="1682750"/>
            <a:ext cx="2894012" cy="530225"/>
          </a:xfrm>
          <a:prstGeom prst="rect">
            <a:avLst/>
          </a:prstGeom>
          <a:noFill/>
          <a:ln w="9525">
            <a:noFill/>
          </a:ln>
        </p:spPr>
      </p:pic>
      <p:sp>
        <p:nvSpPr>
          <p:cNvPr id="7171" name="文本框 4"/>
          <p:cNvSpPr txBox="1"/>
          <p:nvPr/>
        </p:nvSpPr>
        <p:spPr>
          <a:xfrm>
            <a:off x="841375" y="2390775"/>
            <a:ext cx="4064000" cy="368300"/>
          </a:xfrm>
          <a:prstGeom prst="rect">
            <a:avLst/>
          </a:prstGeom>
          <a:noFill/>
          <a:ln w="9525">
            <a:noFill/>
          </a:ln>
        </p:spPr>
        <p:txBody>
          <a:bodyPr wrap="square" anchor="t" anchorCtr="0">
            <a:spAutoFit/>
          </a:bodyPr>
          <a:p>
            <a:r>
              <a:rPr lang="zh-CN" altLang="en-US">
                <a:latin typeface="Calibri" charset="0"/>
                <a:ea typeface="SimSun" pitchFamily="2" charset="-122"/>
              </a:rPr>
              <a:t>帧率：</a:t>
            </a:r>
            <a:r>
              <a:rPr lang="en-US" altLang="zh-CN">
                <a:latin typeface="Calibri" charset="0"/>
                <a:ea typeface="SimSun" pitchFamily="2" charset="-122"/>
              </a:rPr>
              <a:t>90</a:t>
            </a:r>
            <a:r>
              <a:rPr lang="zh-CN" altLang="en-US">
                <a:latin typeface="Calibri" charset="0"/>
                <a:ea typeface="SimSun" pitchFamily="2" charset="-122"/>
              </a:rPr>
              <a:t>～</a:t>
            </a:r>
            <a:r>
              <a:rPr lang="en-US" altLang="zh-CN">
                <a:latin typeface="Calibri" charset="0"/>
                <a:ea typeface="SimSun" pitchFamily="2" charset="-122"/>
              </a:rPr>
              <a:t>220fps</a:t>
            </a:r>
            <a:endParaRPr lang="en-US" altLang="zh-CN">
              <a:latin typeface="Calibri" charset="0"/>
              <a:ea typeface="SimSun" pitchFamily="2" charset="-122"/>
            </a:endParaRPr>
          </a:p>
        </p:txBody>
      </p:sp>
      <p:sp>
        <p:nvSpPr>
          <p:cNvPr id="7172" name="文本框 5"/>
          <p:cNvSpPr txBox="1"/>
          <p:nvPr/>
        </p:nvSpPr>
        <p:spPr>
          <a:xfrm>
            <a:off x="841375" y="3929063"/>
            <a:ext cx="4064000" cy="368300"/>
          </a:xfrm>
          <a:prstGeom prst="rect">
            <a:avLst/>
          </a:prstGeom>
          <a:noFill/>
          <a:ln w="9525">
            <a:noFill/>
          </a:ln>
        </p:spPr>
        <p:txBody>
          <a:bodyPr wrap="square" anchor="t" anchorCtr="0">
            <a:spAutoFit/>
          </a:bodyPr>
          <a:p>
            <a:r>
              <a:rPr lang="zh-CN" altLang="en-US">
                <a:latin typeface="Calibri" charset="0"/>
                <a:ea typeface="SimSun" pitchFamily="2" charset="-122"/>
              </a:rPr>
              <a:t>焦距：</a:t>
            </a:r>
            <a:r>
              <a:rPr lang="en-US" altLang="zh-CN">
                <a:latin typeface="Calibri" charset="0"/>
                <a:ea typeface="SimSun" pitchFamily="2" charset="-122"/>
              </a:rPr>
              <a:t>8mm</a:t>
            </a:r>
            <a:endParaRPr lang="en-US" altLang="zh-CN">
              <a:latin typeface="Calibri" charset="0"/>
              <a:ea typeface="SimSun" pitchFamily="2" charset="-122"/>
            </a:endParaRPr>
          </a:p>
        </p:txBody>
      </p:sp>
      <p:sp>
        <p:nvSpPr>
          <p:cNvPr id="7173" name="文本框 7"/>
          <p:cNvSpPr txBox="1"/>
          <p:nvPr/>
        </p:nvSpPr>
        <p:spPr>
          <a:xfrm>
            <a:off x="1289050" y="5467350"/>
            <a:ext cx="4160838" cy="438150"/>
          </a:xfrm>
          <a:prstGeom prst="rect">
            <a:avLst/>
          </a:prstGeom>
          <a:noFill/>
          <a:ln w="9525">
            <a:noFill/>
          </a:ln>
        </p:spPr>
        <p:txBody>
          <a:bodyPr wrap="square" anchor="t" anchorCtr="0"/>
          <a:p>
            <a:r>
              <a:rPr lang="zh-CN" altLang="en-US">
                <a:latin typeface="Calibri" charset="0"/>
                <a:ea typeface="SimSun" pitchFamily="2" charset="-122"/>
              </a:rPr>
              <a:t>光圈，对焦，曝光时间</a:t>
            </a:r>
            <a:endParaRPr lang="zh-CN" altLang="en-US">
              <a:latin typeface="Calibri" charset="0"/>
              <a:ea typeface="SimSun" pitchFamily="2" charset="-122"/>
            </a:endParaRPr>
          </a:p>
        </p:txBody>
      </p:sp>
      <p:pic>
        <p:nvPicPr>
          <p:cNvPr id="7174" name="图片 8"/>
          <p:cNvPicPr>
            <a:picLocks noChangeAspect="1"/>
          </p:cNvPicPr>
          <p:nvPr/>
        </p:nvPicPr>
        <p:blipFill>
          <a:blip r:embed="rId3"/>
          <a:stretch>
            <a:fillRect/>
          </a:stretch>
        </p:blipFill>
        <p:spPr>
          <a:xfrm>
            <a:off x="744538" y="3059113"/>
            <a:ext cx="1838325" cy="569912"/>
          </a:xfrm>
          <a:prstGeom prst="rect">
            <a:avLst/>
          </a:prstGeom>
          <a:noFill/>
          <a:ln w="9525">
            <a:noFill/>
          </a:ln>
        </p:spPr>
      </p:pic>
      <p:sp>
        <p:nvSpPr>
          <p:cNvPr id="7175" name="文本框 9"/>
          <p:cNvSpPr txBox="1"/>
          <p:nvPr/>
        </p:nvSpPr>
        <p:spPr>
          <a:xfrm>
            <a:off x="758825" y="4916488"/>
            <a:ext cx="4064000" cy="368300"/>
          </a:xfrm>
          <a:prstGeom prst="rect">
            <a:avLst/>
          </a:prstGeom>
          <a:noFill/>
          <a:ln w="9525">
            <a:noFill/>
          </a:ln>
        </p:spPr>
        <p:txBody>
          <a:bodyPr wrap="square" anchor="t" anchorCtr="0">
            <a:spAutoFit/>
          </a:bodyPr>
          <a:p>
            <a:r>
              <a:rPr lang="zh-CN" altLang="en-US">
                <a:latin typeface="Calibri" charset="0"/>
                <a:ea typeface="SimSun" pitchFamily="2" charset="-122"/>
              </a:rPr>
              <a:t>可调参数：</a:t>
            </a:r>
            <a:endParaRPr lang="zh-CN" altLang="en-US">
              <a:latin typeface="Calibri" charset="0"/>
              <a:ea typeface="SimSun" pitchFamily="2" charset="-122"/>
            </a:endParaRPr>
          </a:p>
        </p:txBody>
      </p:sp>
      <p:sp>
        <p:nvSpPr>
          <p:cNvPr id="2" name="文本框 1"/>
          <p:cNvSpPr txBox="1"/>
          <p:nvPr/>
        </p:nvSpPr>
        <p:spPr>
          <a:xfrm>
            <a:off x="4458335" y="1043940"/>
            <a:ext cx="4064000" cy="368300"/>
          </a:xfrm>
          <a:prstGeom prst="rect">
            <a:avLst/>
          </a:prstGeom>
          <a:noFill/>
        </p:spPr>
        <p:txBody>
          <a:bodyPr wrap="square" rtlCol="0">
            <a:spAutoFit/>
          </a:bodyPr>
          <a:p>
            <a:r>
              <a:rPr lang="zh-CN" altLang="en-US"/>
              <a:t>海康</a:t>
            </a:r>
            <a:endParaRPr lang="zh-CN" altLang="en-US"/>
          </a:p>
        </p:txBody>
      </p:sp>
      <p:pic>
        <p:nvPicPr>
          <p:cNvPr id="29697" name="图片 1"/>
          <p:cNvPicPr>
            <a:picLocks noChangeAspect="1"/>
          </p:cNvPicPr>
          <p:nvPr/>
        </p:nvPicPr>
        <p:blipFill>
          <a:blip r:embed="rId4"/>
          <a:stretch>
            <a:fillRect/>
          </a:stretch>
        </p:blipFill>
        <p:spPr>
          <a:xfrm>
            <a:off x="6636385" y="391160"/>
            <a:ext cx="5507990" cy="3037840"/>
          </a:xfrm>
          <a:prstGeom prst="rect">
            <a:avLst/>
          </a:prstGeom>
          <a:noFill/>
          <a:ln w="9525">
            <a:noFill/>
          </a:ln>
        </p:spPr>
      </p:pic>
      <p:pic>
        <p:nvPicPr>
          <p:cNvPr id="3" name="图片 2"/>
          <p:cNvPicPr>
            <a:picLocks noChangeAspect="1"/>
          </p:cNvPicPr>
          <p:nvPr/>
        </p:nvPicPr>
        <p:blipFill>
          <a:blip r:embed="rId5"/>
          <a:srcRect l="30704"/>
          <a:stretch>
            <a:fillRect/>
          </a:stretch>
        </p:blipFill>
        <p:spPr>
          <a:xfrm>
            <a:off x="7334885" y="3629025"/>
            <a:ext cx="4718685" cy="305181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3" name="图片 10"/>
          <p:cNvPicPr>
            <a:picLocks noChangeAspect="1"/>
          </p:cNvPicPr>
          <p:nvPr/>
        </p:nvPicPr>
        <p:blipFill>
          <a:blip r:embed="rId1"/>
          <a:stretch>
            <a:fillRect/>
          </a:stretch>
        </p:blipFill>
        <p:spPr>
          <a:xfrm>
            <a:off x="681038" y="4943475"/>
            <a:ext cx="5916612" cy="704850"/>
          </a:xfrm>
          <a:prstGeom prst="rect">
            <a:avLst/>
          </a:prstGeom>
          <a:noFill/>
          <a:ln w="9525">
            <a:noFill/>
          </a:ln>
        </p:spPr>
      </p:pic>
      <p:pic>
        <p:nvPicPr>
          <p:cNvPr id="8194" name="图片 11"/>
          <p:cNvPicPr>
            <a:picLocks noChangeAspect="1"/>
          </p:cNvPicPr>
          <p:nvPr/>
        </p:nvPicPr>
        <p:blipFill>
          <a:blip r:embed="rId2"/>
          <a:stretch>
            <a:fillRect/>
          </a:stretch>
        </p:blipFill>
        <p:spPr>
          <a:xfrm>
            <a:off x="798513" y="5865813"/>
            <a:ext cx="4937125" cy="652462"/>
          </a:xfrm>
          <a:prstGeom prst="rect">
            <a:avLst/>
          </a:prstGeom>
          <a:noFill/>
          <a:ln w="9525">
            <a:noFill/>
          </a:ln>
        </p:spPr>
      </p:pic>
      <p:pic>
        <p:nvPicPr>
          <p:cNvPr id="8195" name="图片 12"/>
          <p:cNvPicPr>
            <a:picLocks noChangeAspect="1"/>
          </p:cNvPicPr>
          <p:nvPr/>
        </p:nvPicPr>
        <p:blipFill>
          <a:blip r:embed="rId3"/>
          <a:stretch>
            <a:fillRect/>
          </a:stretch>
        </p:blipFill>
        <p:spPr>
          <a:xfrm>
            <a:off x="681038" y="412750"/>
            <a:ext cx="7150100" cy="4670425"/>
          </a:xfrm>
          <a:prstGeom prst="rect">
            <a:avLst/>
          </a:prstGeom>
          <a:noFill/>
          <a:ln w="9525">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2289" name="图片 6"/>
          <p:cNvPicPr>
            <a:picLocks noChangeAspect="1"/>
          </p:cNvPicPr>
          <p:nvPr/>
        </p:nvPicPr>
        <p:blipFill>
          <a:blip r:embed="rId1"/>
          <a:stretch>
            <a:fillRect/>
          </a:stretch>
        </p:blipFill>
        <p:spPr>
          <a:xfrm>
            <a:off x="752475" y="555625"/>
            <a:ext cx="9364663" cy="5162550"/>
          </a:xfrm>
          <a:prstGeom prst="rect">
            <a:avLst/>
          </a:prstGeom>
          <a:noFill/>
          <a:ln w="9525">
            <a:noFill/>
          </a:ln>
        </p:spPr>
      </p:pic>
      <p:pic>
        <p:nvPicPr>
          <p:cNvPr id="12290" name="图片 1"/>
          <p:cNvPicPr>
            <a:picLocks noChangeAspect="1"/>
          </p:cNvPicPr>
          <p:nvPr/>
        </p:nvPicPr>
        <p:blipFill>
          <a:blip r:embed="rId2"/>
          <a:stretch>
            <a:fillRect/>
          </a:stretch>
        </p:blipFill>
        <p:spPr>
          <a:xfrm>
            <a:off x="1035050" y="5718175"/>
            <a:ext cx="5610225" cy="77152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217" name="图片 2"/>
          <p:cNvPicPr>
            <a:picLocks noChangeAspect="1"/>
          </p:cNvPicPr>
          <p:nvPr/>
        </p:nvPicPr>
        <p:blipFill>
          <a:blip r:embed="rId1"/>
          <a:stretch>
            <a:fillRect/>
          </a:stretch>
        </p:blipFill>
        <p:spPr>
          <a:xfrm>
            <a:off x="227013" y="635000"/>
            <a:ext cx="8680450" cy="4984750"/>
          </a:xfrm>
          <a:prstGeom prst="rect">
            <a:avLst/>
          </a:prstGeom>
          <a:noFill/>
          <a:ln w="9525">
            <a:noFill/>
          </a:ln>
        </p:spPr>
      </p:pic>
      <p:pic>
        <p:nvPicPr>
          <p:cNvPr id="9218" name="图片 3"/>
          <p:cNvPicPr>
            <a:picLocks noChangeAspect="1"/>
          </p:cNvPicPr>
          <p:nvPr/>
        </p:nvPicPr>
        <p:blipFill>
          <a:blip r:embed="rId2"/>
          <a:stretch>
            <a:fillRect/>
          </a:stretch>
        </p:blipFill>
        <p:spPr>
          <a:xfrm>
            <a:off x="7851775" y="3008313"/>
            <a:ext cx="4184650" cy="2611437"/>
          </a:xfrm>
          <a:prstGeom prst="rect">
            <a:avLst/>
          </a:prstGeom>
          <a:noFill/>
          <a:ln w="9525">
            <a:noFill/>
          </a:ln>
        </p:spPr>
      </p:pic>
      <p:pic>
        <p:nvPicPr>
          <p:cNvPr id="9219" name="图片 4"/>
          <p:cNvPicPr>
            <a:picLocks noChangeAspect="1"/>
          </p:cNvPicPr>
          <p:nvPr/>
        </p:nvPicPr>
        <p:blipFill>
          <a:blip r:embed="rId3"/>
          <a:stretch>
            <a:fillRect/>
          </a:stretch>
        </p:blipFill>
        <p:spPr>
          <a:xfrm>
            <a:off x="4465638" y="819150"/>
            <a:ext cx="1238250" cy="552450"/>
          </a:xfrm>
          <a:prstGeom prst="rect">
            <a:avLst/>
          </a:prstGeom>
          <a:noFill/>
          <a:ln w="9525">
            <a:noFill/>
          </a:ln>
        </p:spPr>
      </p:pic>
      <p:pic>
        <p:nvPicPr>
          <p:cNvPr id="9220" name="图片 5"/>
          <p:cNvPicPr>
            <a:picLocks noChangeAspect="1"/>
          </p:cNvPicPr>
          <p:nvPr/>
        </p:nvPicPr>
        <p:blipFill>
          <a:blip r:embed="rId4"/>
          <a:stretch>
            <a:fillRect/>
          </a:stretch>
        </p:blipFill>
        <p:spPr>
          <a:xfrm>
            <a:off x="695325" y="5883275"/>
            <a:ext cx="7265988" cy="46037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识别思路</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10243" name="图片 3"/>
          <p:cNvPicPr>
            <a:picLocks noChangeAspect="1"/>
          </p:cNvPicPr>
          <p:nvPr/>
        </p:nvPicPr>
        <p:blipFill>
          <a:blip r:embed="rId1"/>
          <a:stretch>
            <a:fillRect/>
          </a:stretch>
        </p:blipFill>
        <p:spPr>
          <a:xfrm>
            <a:off x="10487025" y="447675"/>
            <a:ext cx="1060450" cy="1062038"/>
          </a:xfrm>
          <a:prstGeom prst="rect">
            <a:avLst/>
          </a:prstGeom>
          <a:noFill/>
          <a:ln w="9525">
            <a:noFill/>
          </a:ln>
        </p:spPr>
      </p:pic>
      <p:pic>
        <p:nvPicPr>
          <p:cNvPr id="10244" name="图片 6"/>
          <p:cNvPicPr>
            <a:picLocks noChangeAspect="1"/>
          </p:cNvPicPr>
          <p:nvPr/>
        </p:nvPicPr>
        <p:blipFill>
          <a:blip r:embed="rId2"/>
          <a:stretch>
            <a:fillRect/>
          </a:stretch>
        </p:blipFill>
        <p:spPr>
          <a:xfrm>
            <a:off x="3214688" y="2082800"/>
            <a:ext cx="5762625" cy="3246438"/>
          </a:xfrm>
          <a:prstGeom prst="rect">
            <a:avLst/>
          </a:prstGeom>
          <a:noFill/>
          <a:ln w="9525">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识别思路</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11267" name="图片 3"/>
          <p:cNvPicPr>
            <a:picLocks noChangeAspect="1"/>
          </p:cNvPicPr>
          <p:nvPr/>
        </p:nvPicPr>
        <p:blipFill>
          <a:blip r:embed="rId1"/>
          <a:stretch>
            <a:fillRect/>
          </a:stretch>
        </p:blipFill>
        <p:spPr>
          <a:xfrm>
            <a:off x="10487025" y="447675"/>
            <a:ext cx="1060450" cy="1062038"/>
          </a:xfrm>
          <a:prstGeom prst="rect">
            <a:avLst/>
          </a:prstGeom>
          <a:noFill/>
          <a:ln w="9525">
            <a:noFill/>
          </a:ln>
        </p:spPr>
      </p:pic>
      <p:pic>
        <p:nvPicPr>
          <p:cNvPr id="11268" name="图片 9"/>
          <p:cNvPicPr>
            <a:picLocks noChangeAspect="1"/>
          </p:cNvPicPr>
          <p:nvPr/>
        </p:nvPicPr>
        <p:blipFill>
          <a:blip r:embed="rId2"/>
          <a:stretch>
            <a:fillRect/>
          </a:stretch>
        </p:blipFill>
        <p:spPr>
          <a:xfrm>
            <a:off x="3306763" y="1857375"/>
            <a:ext cx="5578475" cy="3143250"/>
          </a:xfrm>
          <a:prstGeom prst="rect">
            <a:avLst/>
          </a:prstGeom>
          <a:noFill/>
          <a:ln w="9525">
            <a:noFill/>
          </a:ln>
        </p:spPr>
      </p:pic>
      <p:sp>
        <p:nvSpPr>
          <p:cNvPr id="11269" name="文本框 10"/>
          <p:cNvSpPr txBox="1"/>
          <p:nvPr/>
        </p:nvSpPr>
        <p:spPr>
          <a:xfrm>
            <a:off x="1531938" y="5581650"/>
            <a:ext cx="9342437" cy="369888"/>
          </a:xfrm>
          <a:prstGeom prst="rect">
            <a:avLst/>
          </a:prstGeom>
          <a:noFill/>
          <a:ln w="9525">
            <a:noFill/>
          </a:ln>
        </p:spPr>
        <p:txBody>
          <a:bodyPr wrap="square" anchor="t" anchorCtr="0">
            <a:spAutoFit/>
          </a:bodyPr>
          <a:p>
            <a:pPr algn="ctr"/>
            <a:r>
              <a:rPr lang="zh-CN" altLang="en-US" i="1" dirty="0">
                <a:solidFill>
                  <a:schemeClr val="bg1"/>
                </a:solidFill>
                <a:latin typeface="Calibri" charset="0"/>
                <a:ea typeface="SimSun" pitchFamily="2" charset="-122"/>
              </a:rPr>
              <a:t>调低相机曝光将有利于</a:t>
            </a:r>
            <a:r>
              <a:rPr lang="zh-CN" altLang="en-US" i="1" dirty="0">
                <a:solidFill>
                  <a:srgbClr val="FF0000"/>
                </a:solidFill>
                <a:latin typeface="Calibri" charset="0"/>
                <a:ea typeface="SimSun" pitchFamily="2" charset="-122"/>
              </a:rPr>
              <a:t>灯条</a:t>
            </a:r>
            <a:r>
              <a:rPr lang="zh-CN" altLang="en-US" i="1" dirty="0">
                <a:solidFill>
                  <a:schemeClr val="bg1"/>
                </a:solidFill>
                <a:latin typeface="Calibri" charset="0"/>
                <a:ea typeface="SimSun" pitchFamily="2" charset="-122"/>
              </a:rPr>
              <a:t>识别</a:t>
            </a:r>
            <a:endParaRPr lang="zh-CN" altLang="en-US" dirty="0">
              <a:solidFill>
                <a:schemeClr val="bg1"/>
              </a:solidFill>
              <a:latin typeface="Calibri" charset="0"/>
              <a:ea typeface="SimSun"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3" name="图片 1"/>
          <p:cNvPicPr>
            <a:picLocks noChangeAspect="1"/>
          </p:cNvPicPr>
          <p:nvPr/>
        </p:nvPicPr>
        <p:blipFill>
          <a:blip r:embed="rId1"/>
          <a:stretch>
            <a:fillRect/>
          </a:stretch>
        </p:blipFill>
        <p:spPr>
          <a:xfrm>
            <a:off x="1231900" y="1431925"/>
            <a:ext cx="7350125" cy="244475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337" name="图片 1"/>
          <p:cNvPicPr>
            <a:picLocks noChangeAspect="1"/>
          </p:cNvPicPr>
          <p:nvPr/>
        </p:nvPicPr>
        <p:blipFill>
          <a:blip r:embed="rId1"/>
          <a:stretch>
            <a:fillRect/>
          </a:stretch>
        </p:blipFill>
        <p:spPr>
          <a:xfrm>
            <a:off x="2443163" y="1352550"/>
            <a:ext cx="7305675" cy="4152900"/>
          </a:xfrm>
          <a:prstGeom prst="rect">
            <a:avLst/>
          </a:prstGeom>
          <a:noFill/>
          <a:ln w="9525">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文本框 1"/>
          <p:cNvSpPr txBox="1"/>
          <p:nvPr/>
        </p:nvSpPr>
        <p:spPr>
          <a:xfrm>
            <a:off x="563563" y="425450"/>
            <a:ext cx="6483350" cy="1506538"/>
          </a:xfrm>
          <a:prstGeom prst="rect">
            <a:avLst/>
          </a:prstGeom>
          <a:noFill/>
          <a:ln w="9525">
            <a:noFill/>
          </a:ln>
        </p:spPr>
        <p:txBody>
          <a:bodyPr wrap="square" anchor="t" anchorCtr="0"/>
          <a:p>
            <a:r>
              <a:rPr lang="zh-CN" altLang="en-US" sz="3600">
                <a:latin typeface="Calibri" charset="0"/>
                <a:ea typeface="SimSun" pitchFamily="2" charset="-122"/>
              </a:rPr>
              <a:t>实战：修改相机</a:t>
            </a:r>
            <a:r>
              <a:rPr lang="en-US" altLang="zh-CN" sz="3600">
                <a:latin typeface="Calibri" charset="0"/>
                <a:ea typeface="SimSun" pitchFamily="2" charset="-122"/>
              </a:rPr>
              <a:t>/</a:t>
            </a:r>
            <a:r>
              <a:rPr lang="zh-CN" altLang="en-US" sz="3600">
                <a:latin typeface="Calibri" charset="0"/>
                <a:ea typeface="SimSun" pitchFamily="2" charset="-122"/>
              </a:rPr>
              <a:t>镜头参数</a:t>
            </a:r>
            <a:endParaRPr lang="zh-CN" altLang="en-US" sz="3600">
              <a:latin typeface="Calibri" charset="0"/>
              <a:ea typeface="SimSun" pitchFamily="2" charset="-122"/>
            </a:endParaRPr>
          </a:p>
        </p:txBody>
      </p:sp>
      <p:sp>
        <p:nvSpPr>
          <p:cNvPr id="15362" name="文本框 2"/>
          <p:cNvSpPr txBox="1"/>
          <p:nvPr/>
        </p:nvSpPr>
        <p:spPr>
          <a:xfrm>
            <a:off x="398463" y="3021013"/>
            <a:ext cx="7048500" cy="1306512"/>
          </a:xfrm>
          <a:prstGeom prst="rect">
            <a:avLst/>
          </a:prstGeom>
          <a:noFill/>
          <a:ln w="9525">
            <a:noFill/>
          </a:ln>
        </p:spPr>
        <p:txBody>
          <a:bodyPr wrap="square" anchor="t" anchorCtr="0"/>
          <a:p>
            <a:r>
              <a:rPr lang="en-US" altLang="zh-CN">
                <a:latin typeface="Calibri" charset="0"/>
                <a:ea typeface="SimSun" pitchFamily="2" charset="-122"/>
              </a:rPr>
              <a:t>https://www.hikrobotics.com/cn/machinevision/service/download/?module=0</a:t>
            </a:r>
            <a:endParaRPr lang="zh-CN" altLang="en-US">
              <a:latin typeface="Calibri" charset="0"/>
              <a:ea typeface="SimSun" pitchFamily="2" charset="-122"/>
            </a:endParaRPr>
          </a:p>
        </p:txBody>
      </p:sp>
      <p:sp>
        <p:nvSpPr>
          <p:cNvPr id="15363" name="文本框 3"/>
          <p:cNvSpPr txBox="1"/>
          <p:nvPr/>
        </p:nvSpPr>
        <p:spPr>
          <a:xfrm>
            <a:off x="398463" y="2273300"/>
            <a:ext cx="4821237" cy="747713"/>
          </a:xfrm>
          <a:prstGeom prst="rect">
            <a:avLst/>
          </a:prstGeom>
          <a:noFill/>
          <a:ln w="9525">
            <a:noFill/>
          </a:ln>
        </p:spPr>
        <p:txBody>
          <a:bodyPr wrap="square" anchor="t" anchorCtr="0"/>
          <a:p>
            <a:r>
              <a:rPr lang="zh-CN" altLang="en-US" sz="2800">
                <a:latin typeface="Calibri" charset="0"/>
                <a:ea typeface="SimSun" pitchFamily="2" charset="-122"/>
              </a:rPr>
              <a:t>海康</a:t>
            </a:r>
            <a:r>
              <a:rPr lang="en-US" altLang="zh-CN" sz="2800">
                <a:latin typeface="Calibri" charset="0"/>
                <a:ea typeface="SimSun" pitchFamily="2" charset="-122"/>
              </a:rPr>
              <a:t>MVS</a:t>
            </a:r>
            <a:endParaRPr lang="en-US" altLang="zh-CN" sz="2800">
              <a:latin typeface="Calibri" charset="0"/>
              <a:ea typeface="SimSun"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文本框 2"/>
          <p:cNvSpPr txBox="1"/>
          <p:nvPr/>
        </p:nvSpPr>
        <p:spPr>
          <a:xfrm>
            <a:off x="4410075" y="2506663"/>
            <a:ext cx="4064000" cy="922337"/>
          </a:xfrm>
          <a:prstGeom prst="rect">
            <a:avLst/>
          </a:prstGeom>
          <a:noFill/>
          <a:ln w="9525">
            <a:noFill/>
          </a:ln>
        </p:spPr>
        <p:txBody>
          <a:bodyPr wrap="square" anchor="t" anchorCtr="0">
            <a:spAutoFit/>
          </a:bodyPr>
          <a:p>
            <a:r>
              <a:rPr lang="zh-CN" altLang="en-US" sz="5400">
                <a:latin typeface="Calibri" charset="0"/>
                <a:ea typeface="SimSun" pitchFamily="2" charset="-122"/>
              </a:rPr>
              <a:t>装甲板检测</a:t>
            </a:r>
            <a:endParaRPr lang="zh-CN" altLang="en-US" sz="5400">
              <a:latin typeface="Calibri" charset="0"/>
              <a:ea typeface="SimSun" pitchFamily="2" charset="-122"/>
            </a:endParaRPr>
          </a:p>
        </p:txBody>
      </p:sp>
      <p:sp>
        <p:nvSpPr>
          <p:cNvPr id="16" name="圆角矩形 15"/>
          <p:cNvSpPr/>
          <p:nvPr/>
        </p:nvSpPr>
        <p:spPr>
          <a:xfrm>
            <a:off x="655638" y="320675"/>
            <a:ext cx="4002088" cy="642938"/>
          </a:xfrm>
          <a:prstGeom prst="roundRect">
            <a:avLst>
              <a:gd name="adj" fmla="val 18741"/>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detector</a:t>
            </a:r>
            <a:r>
              <a:rPr lang="zh-CN" altLang="en-US" strike="noStrike" noProof="1">
                <a:solidFill>
                  <a:schemeClr val="tx1"/>
                </a:solidFill>
                <a:sym typeface="+mn-ea"/>
              </a:rPr>
              <a:t>神经网络预测装甲板角点</a:t>
            </a:r>
            <a:endParaRPr lang="zh-CN" altLang="en-US" strike="noStrike" noProof="1">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409" name="图片 1"/>
          <p:cNvPicPr>
            <a:picLocks noChangeAspect="1"/>
          </p:cNvPicPr>
          <p:nvPr/>
        </p:nvPicPr>
        <p:blipFill>
          <a:blip r:embed="rId1"/>
          <a:stretch>
            <a:fillRect/>
          </a:stretch>
        </p:blipFill>
        <p:spPr>
          <a:xfrm>
            <a:off x="976313" y="717550"/>
            <a:ext cx="8456612" cy="5521325"/>
          </a:xfrm>
          <a:prstGeom prst="rect">
            <a:avLst/>
          </a:prstGeom>
          <a:noFill/>
          <a:ln w="9525">
            <a:noFill/>
          </a:ln>
        </p:spPr>
      </p:pic>
      <p:sp>
        <p:nvSpPr>
          <p:cNvPr id="17410" name="文本框 2"/>
          <p:cNvSpPr txBox="1"/>
          <p:nvPr/>
        </p:nvSpPr>
        <p:spPr>
          <a:xfrm>
            <a:off x="8632825" y="717550"/>
            <a:ext cx="3149600" cy="1198880"/>
          </a:xfrm>
          <a:prstGeom prst="rect">
            <a:avLst/>
          </a:prstGeom>
          <a:noFill/>
          <a:ln w="9525">
            <a:noFill/>
          </a:ln>
        </p:spPr>
        <p:txBody>
          <a:bodyPr wrap="square" anchor="t" anchorCtr="0">
            <a:spAutoFit/>
          </a:bodyPr>
          <a:p>
            <a:r>
              <a:rPr lang="zh-CN" altLang="en-US">
                <a:latin typeface="Calibri" charset="0"/>
                <a:ea typeface="SimSun" pitchFamily="2" charset="-122"/>
              </a:rPr>
              <a:t>模型格式与平台：</a:t>
            </a:r>
            <a:endParaRPr lang="zh-CN" altLang="en-US">
              <a:latin typeface="Calibri" charset="0"/>
              <a:ea typeface="SimSun" pitchFamily="2" charset="-122"/>
            </a:endParaRPr>
          </a:p>
          <a:p>
            <a:r>
              <a:rPr lang="en-US" altLang="zh-CN">
                <a:latin typeface="Calibri" charset="0"/>
                <a:ea typeface="SimSun" pitchFamily="2" charset="-122"/>
              </a:rPr>
              <a:t>1. ONNX </a:t>
            </a:r>
            <a:r>
              <a:rPr lang="zh-CN" altLang="en-US">
                <a:latin typeface="Calibri" charset="0"/>
                <a:ea typeface="SimSun" pitchFamily="2" charset="-122"/>
              </a:rPr>
              <a:t>通用</a:t>
            </a:r>
            <a:endParaRPr lang="zh-CN" altLang="en-US">
              <a:latin typeface="Calibri" charset="0"/>
              <a:ea typeface="SimSun" pitchFamily="2" charset="-122"/>
            </a:endParaRPr>
          </a:p>
          <a:p>
            <a:r>
              <a:rPr lang="en-US" altLang="zh-CN">
                <a:latin typeface="Calibri" charset="0"/>
                <a:ea typeface="SimSun" pitchFamily="2" charset="-122"/>
              </a:rPr>
              <a:t>2. TensorRT nvidian nano</a:t>
            </a:r>
            <a:endParaRPr lang="en-US" altLang="zh-CN">
              <a:latin typeface="Calibri" charset="0"/>
              <a:ea typeface="SimSun" pitchFamily="2" charset="-122"/>
            </a:endParaRPr>
          </a:p>
          <a:p>
            <a:r>
              <a:rPr lang="en-US" altLang="zh-CN">
                <a:latin typeface="Calibri" charset="0"/>
                <a:ea typeface="SimSun" pitchFamily="2" charset="-122"/>
              </a:rPr>
              <a:t>3. axmodel ax650n </a:t>
            </a:r>
            <a:r>
              <a:rPr lang="zh-CN" altLang="en-US">
                <a:latin typeface="Calibri" charset="0"/>
                <a:ea typeface="SimSun" pitchFamily="2" charset="-122"/>
              </a:rPr>
              <a:t>（量化）</a:t>
            </a:r>
            <a:endParaRPr lang="zh-CN" altLang="en-US">
              <a:latin typeface="Calibri" charset="0"/>
              <a:ea typeface="SimSun"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文本框 1"/>
          <p:cNvSpPr txBox="1"/>
          <p:nvPr/>
        </p:nvSpPr>
        <p:spPr>
          <a:xfrm>
            <a:off x="4064000" y="2155825"/>
            <a:ext cx="4064000" cy="1106488"/>
          </a:xfrm>
          <a:prstGeom prst="rect">
            <a:avLst/>
          </a:prstGeom>
          <a:noFill/>
          <a:ln w="9525">
            <a:noFill/>
          </a:ln>
        </p:spPr>
        <p:txBody>
          <a:bodyPr wrap="square" anchor="t" anchorCtr="0">
            <a:spAutoFit/>
          </a:bodyPr>
          <a:p>
            <a:r>
              <a:rPr lang="en-US" altLang="zh-CN" sz="6600">
                <a:latin typeface="Calibri" charset="0"/>
                <a:ea typeface="SimSun" pitchFamily="2" charset="-122"/>
              </a:rPr>
              <a:t>Opencv</a:t>
            </a:r>
            <a:endParaRPr lang="en-US" altLang="zh-CN" sz="6600">
              <a:latin typeface="Calibri" charset="0"/>
              <a:ea typeface="SimSun" pitchFamily="2" charset="-122"/>
            </a:endParaRPr>
          </a:p>
        </p:txBody>
      </p:sp>
      <p:sp>
        <p:nvSpPr>
          <p:cNvPr id="15" name="圆角矩形 14"/>
          <p:cNvSpPr/>
          <p:nvPr/>
        </p:nvSpPr>
        <p:spPr>
          <a:xfrm>
            <a:off x="660400" y="368300"/>
            <a:ext cx="3694113"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corner refine</a:t>
            </a:r>
            <a:r>
              <a:rPr lang="zh-CN" altLang="en-US" strike="noStrike" noProof="1">
                <a:solidFill>
                  <a:schemeClr val="tx1"/>
                </a:solidFill>
                <a:sym typeface="+mn-ea"/>
              </a:rPr>
              <a:t>传统视觉算法按照网络预测的</a:t>
            </a:r>
            <a:r>
              <a:rPr lang="en-US" altLang="zh-CN" strike="noStrike" noProof="1">
                <a:solidFill>
                  <a:schemeClr val="tx1"/>
                </a:solidFill>
                <a:sym typeface="+mn-ea"/>
              </a:rPr>
              <a:t>roi</a:t>
            </a:r>
            <a:r>
              <a:rPr lang="zh-CN" altLang="en-US" strike="noStrike" noProof="1">
                <a:solidFill>
                  <a:schemeClr val="tx1"/>
                </a:solidFill>
                <a:sym typeface="+mn-ea"/>
              </a:rPr>
              <a:t>计算精确角点</a:t>
            </a:r>
            <a:endParaRPr lang="zh-CN" altLang="en-US" strike="noStrike" noProof="1">
              <a:solidFill>
                <a:schemeClr val="tx1"/>
              </a:solidFill>
              <a:sym typeface="+mn-ea"/>
            </a:endParaRPr>
          </a:p>
        </p:txBody>
      </p:sp>
      <p:sp>
        <p:nvSpPr>
          <p:cNvPr id="18435" name="文本框 2"/>
          <p:cNvSpPr txBox="1"/>
          <p:nvPr/>
        </p:nvSpPr>
        <p:spPr>
          <a:xfrm>
            <a:off x="3830638" y="3768725"/>
            <a:ext cx="4064000" cy="368300"/>
          </a:xfrm>
          <a:prstGeom prst="rect">
            <a:avLst/>
          </a:prstGeom>
          <a:noFill/>
          <a:ln w="9525">
            <a:noFill/>
          </a:ln>
        </p:spPr>
        <p:txBody>
          <a:bodyPr wrap="square" anchor="t" anchorCtr="0">
            <a:spAutoFit/>
          </a:bodyPr>
          <a:p>
            <a:r>
              <a:rPr lang="en-US" altLang="zh-CN">
                <a:latin typeface="Calibri" charset="0"/>
                <a:ea typeface="SimSun" pitchFamily="2" charset="-122"/>
              </a:rPr>
              <a:t>https://docs.opencv.ac.cn/4.13.0/</a:t>
            </a:r>
            <a:endParaRPr lang="en-US" altLang="zh-CN">
              <a:latin typeface="Calibri" charset="0"/>
              <a:ea typeface="SimSun"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理解图像</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19459" name="内容占位符 6"/>
          <p:cNvPicPr>
            <a:picLocks noGrp="1" noChangeAspect="1"/>
          </p:cNvPicPr>
          <p:nvPr>
            <p:ph idx="1"/>
          </p:nvPr>
        </p:nvPicPr>
        <p:blipFill>
          <a:blip r:embed="rId1"/>
          <a:stretch>
            <a:fillRect/>
          </a:stretch>
        </p:blipFill>
        <p:spPr>
          <a:xfrm>
            <a:off x="3116263" y="1690688"/>
            <a:ext cx="5959475" cy="3830637"/>
          </a:xfrm>
        </p:spPr>
      </p:pic>
      <p:sp>
        <p:nvSpPr>
          <p:cNvPr id="19460" name="Rectangle 2"/>
          <p:cNvSpPr/>
          <p:nvPr/>
        </p:nvSpPr>
        <p:spPr>
          <a:xfrm>
            <a:off x="0" y="0"/>
            <a:ext cx="12192000" cy="0"/>
          </a:xfrm>
          <a:prstGeom prst="rect">
            <a:avLst/>
          </a:prstGeom>
          <a:noFill/>
          <a:ln w="9525">
            <a:noFill/>
          </a:ln>
        </p:spPr>
        <p:txBody>
          <a:bodyPr wrap="none" lIns="91440" tIns="45720" rIns="91440" bIns="45720" anchor="ctr" anchorCtr="0">
            <a:spAutoFit/>
          </a:bodyPr>
          <a:p>
            <a:endParaRPr lang="zh-CN" altLang="en-US">
              <a:latin typeface="Calibri" charset="0"/>
              <a:ea typeface="SimSun" pitchFamily="2" charset="-122"/>
            </a:endParaRPr>
          </a:p>
        </p:txBody>
      </p:sp>
      <p:pic>
        <p:nvPicPr>
          <p:cNvPr id="19461" name="图片 7"/>
          <p:cNvPicPr>
            <a:picLocks noChangeAspect="1"/>
          </p:cNvPicPr>
          <p:nvPr/>
        </p:nvPicPr>
        <p:blipFill>
          <a:blip r:embed="rId2"/>
          <a:stretch>
            <a:fillRect/>
          </a:stretch>
        </p:blipFill>
        <p:spPr>
          <a:xfrm>
            <a:off x="10487025" y="447675"/>
            <a:ext cx="1060450" cy="1062038"/>
          </a:xfrm>
          <a:prstGeom prst="rect">
            <a:avLst/>
          </a:prstGeom>
          <a:noFill/>
          <a:ln w="9525">
            <a:noFill/>
          </a:ln>
        </p:spPr>
      </p:pic>
      <p:sp>
        <p:nvSpPr>
          <p:cNvPr id="19462" name="文本框 8"/>
          <p:cNvSpPr txBox="1"/>
          <p:nvPr/>
        </p:nvSpPr>
        <p:spPr>
          <a:xfrm>
            <a:off x="1895475" y="5922963"/>
            <a:ext cx="9342438" cy="369887"/>
          </a:xfrm>
          <a:prstGeom prst="rect">
            <a:avLst/>
          </a:prstGeom>
          <a:noFill/>
          <a:ln w="9525">
            <a:noFill/>
          </a:ln>
        </p:spPr>
        <p:txBody>
          <a:bodyPr wrap="square" anchor="t" anchorCtr="0">
            <a:spAutoFit/>
          </a:bodyPr>
          <a:p>
            <a:r>
              <a:rPr lang="zh-CN" altLang="en-US" i="1" dirty="0">
                <a:solidFill>
                  <a:schemeClr val="bg1"/>
                </a:solidFill>
                <a:latin typeface="Calibri" charset="0"/>
                <a:ea typeface="SimSun" pitchFamily="2" charset="-122"/>
              </a:rPr>
              <a:t>计算机世界内的所有图像都可以简化为数值矩阵和描述矩阵本身的其他信息</a:t>
            </a:r>
            <a:r>
              <a:rPr lang="en-US" altLang="zh-CN" i="1" dirty="0">
                <a:solidFill>
                  <a:schemeClr val="bg1"/>
                </a:solidFill>
                <a:latin typeface="Calibri" charset="0"/>
                <a:ea typeface="SimSun" pitchFamily="2" charset="-122"/>
              </a:rPr>
              <a:t>——OpenCV</a:t>
            </a:r>
            <a:endParaRPr lang="zh-CN" altLang="en-US" dirty="0">
              <a:solidFill>
                <a:schemeClr val="bg1"/>
              </a:solidFill>
              <a:latin typeface="Calibri" charset="0"/>
              <a:ea typeface="SimSun" pitchFamily="2"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色彩空间（</a:t>
            </a:r>
            <a:r>
              <a:rPr kumimoji="0" lang="en-US" altLang="zh-CN"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Color Space</a:t>
            </a: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20483" name="图片 3"/>
          <p:cNvPicPr>
            <a:picLocks noChangeAspect="1"/>
          </p:cNvPicPr>
          <p:nvPr/>
        </p:nvPicPr>
        <p:blipFill>
          <a:blip r:embed="rId1"/>
          <a:stretch>
            <a:fillRect/>
          </a:stretch>
        </p:blipFill>
        <p:spPr>
          <a:xfrm>
            <a:off x="10487025" y="447675"/>
            <a:ext cx="1060450" cy="1062038"/>
          </a:xfrm>
          <a:prstGeom prst="rect">
            <a:avLst/>
          </a:prstGeom>
          <a:noFill/>
          <a:ln w="9525">
            <a:noFill/>
          </a:ln>
        </p:spPr>
      </p:pic>
      <p:sp>
        <p:nvSpPr>
          <p:cNvPr id="20484" name="Rectangle 2"/>
          <p:cNvSpPr/>
          <p:nvPr/>
        </p:nvSpPr>
        <p:spPr>
          <a:xfrm>
            <a:off x="1266825" y="1690688"/>
            <a:ext cx="12192000" cy="0"/>
          </a:xfrm>
          <a:prstGeom prst="rect">
            <a:avLst/>
          </a:prstGeom>
          <a:noFill/>
          <a:ln w="9525">
            <a:noFill/>
          </a:ln>
        </p:spPr>
        <p:txBody>
          <a:bodyPr wrap="none" lIns="91440" tIns="45720" rIns="91440" bIns="45720" anchor="ctr" anchorCtr="0">
            <a:spAutoFit/>
          </a:bodyPr>
          <a:p>
            <a:endParaRPr lang="zh-CN" altLang="en-US">
              <a:latin typeface="Calibri" charset="0"/>
              <a:ea typeface="SimSun" pitchFamily="2" charset="-122"/>
            </a:endParaRPr>
          </a:p>
        </p:txBody>
      </p:sp>
      <p:sp>
        <p:nvSpPr>
          <p:cNvPr id="20485" name="内容占位符 2"/>
          <p:cNvSpPr>
            <a:spLocks noGrp="1"/>
          </p:cNvSpPr>
          <p:nvPr>
            <p:ph idx="1"/>
          </p:nvPr>
        </p:nvSpPr>
        <p:spPr>
          <a:xfrm>
            <a:off x="765175" y="2171700"/>
            <a:ext cx="10515600" cy="4351338"/>
          </a:xfrm>
        </p:spPr>
        <p:txBody>
          <a:bodyPr vert="horz" lIns="91440" tIns="45720" rIns="91440" bIns="45720" anchor="t" anchorCtr="0"/>
          <a:p>
            <a:pPr defTabSz="914400">
              <a:lnSpc>
                <a:spcPct val="200000"/>
              </a:lnSpc>
            </a:pPr>
            <a:r>
              <a:rPr lang="en-US" altLang="zh-CN" kern="1200" dirty="0">
                <a:solidFill>
                  <a:schemeClr val="bg1"/>
                </a:solidFill>
                <a:latin typeface="+mn-lt"/>
                <a:ea typeface="+mn-ea"/>
                <a:cs typeface="+mn-cs"/>
              </a:rPr>
              <a:t>RGB</a:t>
            </a:r>
            <a:r>
              <a:rPr lang="zh-CN" altLang="en-US" kern="1200" dirty="0">
                <a:solidFill>
                  <a:schemeClr val="bg1"/>
                </a:solidFill>
                <a:latin typeface="+mn-lt"/>
                <a:ea typeface="+mn-ea"/>
                <a:cs typeface="+mn-cs"/>
              </a:rPr>
              <a:t>（</a:t>
            </a:r>
            <a:r>
              <a:rPr lang="en-US" altLang="zh-CN" kern="1200" dirty="0">
                <a:solidFill>
                  <a:schemeClr val="bg1"/>
                </a:solidFill>
                <a:latin typeface="+mn-lt"/>
                <a:ea typeface="+mn-ea"/>
                <a:cs typeface="+mn-cs"/>
              </a:rPr>
              <a:t>Red, Green, Blue</a:t>
            </a:r>
            <a:r>
              <a:rPr lang="zh-CN" altLang="en-US" kern="1200" dirty="0">
                <a:solidFill>
                  <a:schemeClr val="bg1"/>
                </a:solidFill>
                <a:latin typeface="+mn-lt"/>
                <a:ea typeface="+mn-ea"/>
                <a:cs typeface="+mn-cs"/>
              </a:rPr>
              <a:t>）</a:t>
            </a:r>
            <a:endParaRPr lang="en-US" altLang="zh-CN" kern="1200" dirty="0">
              <a:solidFill>
                <a:schemeClr val="bg1"/>
              </a:solidFill>
              <a:latin typeface="+mn-lt"/>
              <a:ea typeface="+mn-ea"/>
              <a:cs typeface="+mn-cs"/>
            </a:endParaRPr>
          </a:p>
          <a:p>
            <a:pPr defTabSz="914400">
              <a:lnSpc>
                <a:spcPct val="200000"/>
              </a:lnSpc>
            </a:pPr>
            <a:r>
              <a:rPr lang="zh-CN" altLang="en-US" kern="1200" dirty="0">
                <a:solidFill>
                  <a:schemeClr val="bg1"/>
                </a:solidFill>
                <a:latin typeface="+mn-lt"/>
                <a:ea typeface="+mn-ea"/>
                <a:cs typeface="+mn-cs"/>
              </a:rPr>
              <a:t>灰度空间（</a:t>
            </a:r>
            <a:r>
              <a:rPr lang="en-US" altLang="zh-CN" kern="1200" dirty="0">
                <a:solidFill>
                  <a:schemeClr val="bg1"/>
                </a:solidFill>
                <a:latin typeface="+mn-lt"/>
                <a:ea typeface="+mn-ea"/>
                <a:cs typeface="+mn-cs"/>
              </a:rPr>
              <a:t>Gray-scale</a:t>
            </a:r>
            <a:r>
              <a:rPr lang="zh-CN" altLang="en-US" kern="1200" dirty="0">
                <a:solidFill>
                  <a:schemeClr val="bg1"/>
                </a:solidFill>
                <a:latin typeface="+mn-lt"/>
                <a:ea typeface="+mn-ea"/>
                <a:cs typeface="+mn-cs"/>
              </a:rPr>
              <a:t>）</a:t>
            </a:r>
            <a:endParaRPr lang="en-US" altLang="zh-CN" kern="1200" dirty="0">
              <a:solidFill>
                <a:schemeClr val="bg1"/>
              </a:solidFill>
              <a:latin typeface="+mn-lt"/>
              <a:ea typeface="+mn-ea"/>
              <a:cs typeface="+mn-cs"/>
            </a:endParaRPr>
          </a:p>
          <a:p>
            <a:pPr defTabSz="914400">
              <a:lnSpc>
                <a:spcPct val="200000"/>
              </a:lnSpc>
            </a:pPr>
            <a:r>
              <a:rPr lang="zh-CN" altLang="en-US" kern="1200" dirty="0">
                <a:solidFill>
                  <a:schemeClr val="bg1"/>
                </a:solidFill>
                <a:latin typeface="+mn-lt"/>
                <a:ea typeface="+mn-ea"/>
                <a:cs typeface="+mn-cs"/>
              </a:rPr>
              <a:t>二值空间（黑白）</a:t>
            </a:r>
            <a:endParaRPr lang="zh-CN" altLang="en-US" kern="1200" dirty="0">
              <a:solidFill>
                <a:schemeClr val="bg1"/>
              </a:solidFill>
              <a:latin typeface="+mn-lt"/>
              <a:ea typeface="+mn-ea"/>
              <a:cs typeface="+mn-cs"/>
            </a:endParaRPr>
          </a:p>
        </p:txBody>
      </p:sp>
      <p:pic>
        <p:nvPicPr>
          <p:cNvPr id="20486" name="Picture 4" descr="RGB YUV XYZ HSL CIE1976L*a*b* LCH的色彩空间图 色彩空间 转换公式_rgb转lhc公式-CSDN博客"/>
          <p:cNvPicPr>
            <a:picLocks noChangeAspect="1"/>
          </p:cNvPicPr>
          <p:nvPr/>
        </p:nvPicPr>
        <p:blipFill>
          <a:blip r:embed="rId2"/>
          <a:stretch>
            <a:fillRect/>
          </a:stretch>
        </p:blipFill>
        <p:spPr>
          <a:xfrm>
            <a:off x="5975350" y="2171700"/>
            <a:ext cx="5572125" cy="32512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色彩空间（</a:t>
            </a:r>
            <a:r>
              <a:rPr kumimoji="0" lang="en-US" altLang="zh-CN"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Color Space</a:t>
            </a: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21507" name="图片 3"/>
          <p:cNvPicPr>
            <a:picLocks noChangeAspect="1"/>
          </p:cNvPicPr>
          <p:nvPr/>
        </p:nvPicPr>
        <p:blipFill>
          <a:blip r:embed="rId1"/>
          <a:stretch>
            <a:fillRect/>
          </a:stretch>
        </p:blipFill>
        <p:spPr>
          <a:xfrm>
            <a:off x="10487025" y="447675"/>
            <a:ext cx="1060450" cy="1062038"/>
          </a:xfrm>
          <a:prstGeom prst="rect">
            <a:avLst/>
          </a:prstGeom>
          <a:noFill/>
          <a:ln w="9525">
            <a:noFill/>
          </a:ln>
        </p:spPr>
      </p:pic>
      <p:sp>
        <p:nvSpPr>
          <p:cNvPr id="21508" name="Rectangle 2"/>
          <p:cNvSpPr/>
          <p:nvPr/>
        </p:nvSpPr>
        <p:spPr>
          <a:xfrm>
            <a:off x="1266825" y="1690688"/>
            <a:ext cx="12192000" cy="0"/>
          </a:xfrm>
          <a:prstGeom prst="rect">
            <a:avLst/>
          </a:prstGeom>
          <a:noFill/>
          <a:ln w="9525">
            <a:noFill/>
          </a:ln>
        </p:spPr>
        <p:txBody>
          <a:bodyPr wrap="none" lIns="91440" tIns="45720" rIns="91440" bIns="45720" anchor="ctr" anchorCtr="0">
            <a:spAutoFit/>
          </a:bodyPr>
          <a:p>
            <a:endParaRPr lang="zh-CN" altLang="en-US">
              <a:latin typeface="Calibri" charset="0"/>
              <a:ea typeface="SimSun" pitchFamily="2" charset="-122"/>
            </a:endParaRPr>
          </a:p>
        </p:txBody>
      </p:sp>
      <p:sp>
        <p:nvSpPr>
          <p:cNvPr id="21509" name="文本框 2"/>
          <p:cNvSpPr txBox="1"/>
          <p:nvPr/>
        </p:nvSpPr>
        <p:spPr>
          <a:xfrm>
            <a:off x="4838700" y="4341813"/>
            <a:ext cx="3467100" cy="523875"/>
          </a:xfrm>
          <a:prstGeom prst="rect">
            <a:avLst/>
          </a:prstGeom>
          <a:noFill/>
          <a:ln w="9525">
            <a:noFill/>
          </a:ln>
        </p:spPr>
        <p:txBody>
          <a:bodyPr wrap="square" anchor="t" anchorCtr="0">
            <a:spAutoFit/>
          </a:bodyPr>
          <a:p>
            <a:r>
              <a:rPr lang="en-US" altLang="zh-CN" sz="2800" dirty="0">
                <a:solidFill>
                  <a:schemeClr val="bg1"/>
                </a:solidFill>
                <a:latin typeface="Calibri" charset="0"/>
                <a:ea typeface="SimSun" pitchFamily="2" charset="-122"/>
              </a:rPr>
              <a:t>255=2^8-1</a:t>
            </a:r>
            <a:endParaRPr lang="zh-CN" altLang="en-US" sz="2800" dirty="0">
              <a:solidFill>
                <a:schemeClr val="bg1"/>
              </a:solidFill>
              <a:latin typeface="Calibri" charset="0"/>
              <a:ea typeface="SimSun" pitchFamily="2" charset="-122"/>
            </a:endParaRPr>
          </a:p>
        </p:txBody>
      </p:sp>
      <p:sp>
        <p:nvSpPr>
          <p:cNvPr id="21510" name="文本框 4"/>
          <p:cNvSpPr txBox="1"/>
          <p:nvPr/>
        </p:nvSpPr>
        <p:spPr>
          <a:xfrm>
            <a:off x="3443288" y="2754313"/>
            <a:ext cx="5305425" cy="523875"/>
          </a:xfrm>
          <a:prstGeom prst="rect">
            <a:avLst/>
          </a:prstGeom>
          <a:noFill/>
          <a:ln w="9525">
            <a:noFill/>
          </a:ln>
        </p:spPr>
        <p:txBody>
          <a:bodyPr wrap="square" anchor="t" anchorCtr="0">
            <a:spAutoFit/>
          </a:bodyPr>
          <a:p>
            <a:r>
              <a:rPr lang="en-US" altLang="zh-CN" sz="2800" dirty="0">
                <a:solidFill>
                  <a:schemeClr val="bg1"/>
                </a:solidFill>
                <a:latin typeface="Calibri" charset="0"/>
                <a:ea typeface="SimSun" pitchFamily="2" charset="-122"/>
              </a:rPr>
              <a:t>8 unsigned int(</a:t>
            </a:r>
            <a:r>
              <a:rPr lang="zh-CN" altLang="en-US" sz="2800" dirty="0">
                <a:solidFill>
                  <a:schemeClr val="bg1"/>
                </a:solidFill>
                <a:latin typeface="Calibri" charset="0"/>
                <a:ea typeface="SimSun" pitchFamily="2" charset="-122"/>
              </a:rPr>
              <a:t>八位无符号整型</a:t>
            </a:r>
            <a:r>
              <a:rPr lang="en-US" altLang="zh-CN" sz="2800" dirty="0">
                <a:solidFill>
                  <a:schemeClr val="bg1"/>
                </a:solidFill>
                <a:latin typeface="Calibri" charset="0"/>
                <a:ea typeface="SimSun" pitchFamily="2" charset="-122"/>
              </a:rPr>
              <a:t>)</a:t>
            </a:r>
            <a:endParaRPr lang="zh-CN" altLang="en-US" sz="2800" dirty="0">
              <a:solidFill>
                <a:schemeClr val="bg1"/>
              </a:solidFill>
              <a:latin typeface="Calibri" charset="0"/>
              <a:ea typeface="SimSun"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理解</a:t>
            </a:r>
            <a:r>
              <a:rPr kumimoji="0" lang="en-US" altLang="zh-CN"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RGB</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sp>
        <p:nvSpPr>
          <p:cNvPr id="22531" name="Rectangle 2"/>
          <p:cNvSpPr/>
          <p:nvPr/>
        </p:nvSpPr>
        <p:spPr>
          <a:xfrm>
            <a:off x="0" y="0"/>
            <a:ext cx="12192000" cy="0"/>
          </a:xfrm>
          <a:prstGeom prst="rect">
            <a:avLst/>
          </a:prstGeom>
          <a:noFill/>
          <a:ln w="9525">
            <a:noFill/>
          </a:ln>
        </p:spPr>
        <p:txBody>
          <a:bodyPr wrap="none" lIns="91440" tIns="45720" rIns="91440" bIns="45720" anchor="ctr" anchorCtr="0">
            <a:spAutoFit/>
          </a:bodyPr>
          <a:p>
            <a:endParaRPr lang="zh-CN" altLang="en-US">
              <a:latin typeface="Calibri" charset="0"/>
              <a:ea typeface="SimSun" pitchFamily="2" charset="-122"/>
            </a:endParaRPr>
          </a:p>
        </p:txBody>
      </p:sp>
      <p:pic>
        <p:nvPicPr>
          <p:cNvPr id="22532" name="图片 7"/>
          <p:cNvPicPr>
            <a:picLocks noChangeAspect="1"/>
          </p:cNvPicPr>
          <p:nvPr/>
        </p:nvPicPr>
        <p:blipFill>
          <a:blip r:embed="rId1"/>
          <a:stretch>
            <a:fillRect/>
          </a:stretch>
        </p:blipFill>
        <p:spPr>
          <a:xfrm>
            <a:off x="10487025" y="447675"/>
            <a:ext cx="1060450" cy="1062038"/>
          </a:xfrm>
          <a:prstGeom prst="rect">
            <a:avLst/>
          </a:prstGeom>
          <a:noFill/>
          <a:ln w="9525">
            <a:noFill/>
          </a:ln>
        </p:spPr>
      </p:pic>
      <p:sp>
        <p:nvSpPr>
          <p:cNvPr id="22533" name="文本框 8"/>
          <p:cNvSpPr txBox="1"/>
          <p:nvPr/>
        </p:nvSpPr>
        <p:spPr>
          <a:xfrm>
            <a:off x="1674813" y="5913438"/>
            <a:ext cx="9342437" cy="368300"/>
          </a:xfrm>
          <a:prstGeom prst="rect">
            <a:avLst/>
          </a:prstGeom>
          <a:noFill/>
          <a:ln w="9525">
            <a:noFill/>
          </a:ln>
        </p:spPr>
        <p:txBody>
          <a:bodyPr wrap="square" anchor="t" anchorCtr="0">
            <a:spAutoFit/>
          </a:bodyPr>
          <a:p>
            <a:pPr algn="ctr"/>
            <a:r>
              <a:rPr lang="zh-CN" altLang="en-US" i="1" dirty="0">
                <a:solidFill>
                  <a:schemeClr val="bg1"/>
                </a:solidFill>
                <a:latin typeface="Calibri" charset="0"/>
                <a:ea typeface="SimSun" pitchFamily="2" charset="-122"/>
              </a:rPr>
              <a:t>色彩空间可以理解为使用不同的方式对颜色进行编码和表示</a:t>
            </a:r>
            <a:endParaRPr lang="zh-CN" altLang="en-US" dirty="0">
              <a:solidFill>
                <a:schemeClr val="bg1"/>
              </a:solidFill>
              <a:latin typeface="Calibri" charset="0"/>
              <a:ea typeface="SimSun" pitchFamily="2" charset="-122"/>
            </a:endParaRPr>
          </a:p>
        </p:txBody>
      </p:sp>
      <p:pic>
        <p:nvPicPr>
          <p:cNvPr id="22534" name="Picture 1"/>
          <p:cNvPicPr>
            <a:picLocks noChangeAspect="1"/>
          </p:cNvPicPr>
          <p:nvPr/>
        </p:nvPicPr>
        <p:blipFill>
          <a:blip r:embed="rId2"/>
          <a:stretch>
            <a:fillRect/>
          </a:stretch>
        </p:blipFill>
        <p:spPr>
          <a:xfrm>
            <a:off x="931863" y="1755775"/>
            <a:ext cx="5986462" cy="3506788"/>
          </a:xfrm>
          <a:prstGeom prst="rect">
            <a:avLst/>
          </a:prstGeom>
          <a:noFill/>
          <a:ln w="9525">
            <a:noFill/>
          </a:ln>
        </p:spPr>
      </p:pic>
      <p:sp>
        <p:nvSpPr>
          <p:cNvPr id="22535" name="Rectangle 2"/>
          <p:cNvSpPr/>
          <p:nvPr/>
        </p:nvSpPr>
        <p:spPr>
          <a:xfrm>
            <a:off x="2738438" y="1690688"/>
            <a:ext cx="12192000" cy="0"/>
          </a:xfrm>
          <a:prstGeom prst="rect">
            <a:avLst/>
          </a:prstGeom>
          <a:noFill/>
          <a:ln w="9525">
            <a:noFill/>
          </a:ln>
        </p:spPr>
        <p:txBody>
          <a:bodyPr wrap="none" lIns="91440" tIns="45720" rIns="91440" bIns="45720" anchor="ctr" anchorCtr="0">
            <a:spAutoFit/>
          </a:bodyPr>
          <a:p>
            <a:endParaRPr lang="zh-CN" altLang="en-US">
              <a:latin typeface="Calibri" charset="0"/>
              <a:ea typeface="SimSun" pitchFamily="2" charset="-122"/>
            </a:endParaRPr>
          </a:p>
        </p:txBody>
      </p:sp>
      <p:pic>
        <p:nvPicPr>
          <p:cNvPr id="22536" name="Picture 3"/>
          <p:cNvPicPr>
            <a:picLocks noChangeAspect="1"/>
          </p:cNvPicPr>
          <p:nvPr/>
        </p:nvPicPr>
        <p:blipFill>
          <a:blip r:embed="rId3"/>
          <a:stretch>
            <a:fillRect/>
          </a:stretch>
        </p:blipFill>
        <p:spPr>
          <a:xfrm>
            <a:off x="7904163" y="2205038"/>
            <a:ext cx="2749550" cy="2630487"/>
          </a:xfrm>
          <a:prstGeom prst="rect">
            <a:avLst/>
          </a:prstGeom>
          <a:noFill/>
          <a:ln w="9525">
            <a:noFill/>
          </a:ln>
        </p:spPr>
      </p:pic>
      <p:sp>
        <p:nvSpPr>
          <p:cNvPr id="22537" name="Rectangle 4"/>
          <p:cNvSpPr/>
          <p:nvPr/>
        </p:nvSpPr>
        <p:spPr>
          <a:xfrm flipV="1">
            <a:off x="7904163" y="2390775"/>
            <a:ext cx="10728325" cy="46038"/>
          </a:xfrm>
          <a:prstGeom prst="rect">
            <a:avLst/>
          </a:prstGeom>
          <a:noFill/>
          <a:ln w="9525">
            <a:noFill/>
          </a:ln>
        </p:spPr>
        <p:txBody>
          <a:bodyPr wrap="square" lIns="91440" tIns="45720" rIns="91440" bIns="45720" anchor="ctr" anchorCtr="0">
            <a:spAutoFit/>
          </a:bodyPr>
          <a:p>
            <a:endParaRPr lang="zh-CN" altLang="en-US">
              <a:latin typeface="Calibri" charset="0"/>
              <a:ea typeface="SimSun" pitchFamily="2"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en-US" altLang="zh-CN"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OpenCV</a:t>
            </a: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默认图像格式</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23555" name="图片 3"/>
          <p:cNvPicPr>
            <a:picLocks noChangeAspect="1"/>
          </p:cNvPicPr>
          <p:nvPr/>
        </p:nvPicPr>
        <p:blipFill>
          <a:blip r:embed="rId1"/>
          <a:stretch>
            <a:fillRect/>
          </a:stretch>
        </p:blipFill>
        <p:spPr>
          <a:xfrm>
            <a:off x="10487025" y="447675"/>
            <a:ext cx="1060450" cy="1062038"/>
          </a:xfrm>
          <a:prstGeom prst="rect">
            <a:avLst/>
          </a:prstGeom>
          <a:noFill/>
          <a:ln w="9525">
            <a:noFill/>
          </a:ln>
        </p:spPr>
      </p:pic>
      <p:sp>
        <p:nvSpPr>
          <p:cNvPr id="23556" name="文本框 2"/>
          <p:cNvSpPr txBox="1"/>
          <p:nvPr/>
        </p:nvSpPr>
        <p:spPr>
          <a:xfrm>
            <a:off x="3244850" y="2844800"/>
            <a:ext cx="5702300" cy="582613"/>
          </a:xfrm>
          <a:prstGeom prst="rect">
            <a:avLst/>
          </a:prstGeom>
          <a:noFill/>
          <a:ln w="9525">
            <a:noFill/>
          </a:ln>
        </p:spPr>
        <p:txBody>
          <a:bodyPr wrap="square" anchor="t" anchorCtr="0">
            <a:spAutoFit/>
          </a:bodyPr>
          <a:p>
            <a:r>
              <a:rPr lang="en-US" altLang="zh-CN" sz="3200" dirty="0">
                <a:solidFill>
                  <a:schemeClr val="bg1"/>
                </a:solidFill>
                <a:latin typeface="Calibri" charset="0"/>
                <a:ea typeface="SimSun" pitchFamily="2" charset="-122"/>
              </a:rPr>
              <a:t>RGB❎                       BGR</a:t>
            </a:r>
            <a:endParaRPr lang="zh-CN" altLang="en-US" sz="3200" dirty="0">
              <a:solidFill>
                <a:schemeClr val="bg1"/>
              </a:solidFill>
              <a:latin typeface="Calibri" charset="0"/>
              <a:ea typeface="SimSun" pitchFamily="2" charset="-122"/>
            </a:endParaRPr>
          </a:p>
        </p:txBody>
      </p:sp>
      <p:sp>
        <p:nvSpPr>
          <p:cNvPr id="23557" name="文本框 4"/>
          <p:cNvSpPr txBox="1"/>
          <p:nvPr/>
        </p:nvSpPr>
        <p:spPr>
          <a:xfrm>
            <a:off x="2289175" y="5210175"/>
            <a:ext cx="8197850" cy="369888"/>
          </a:xfrm>
          <a:prstGeom prst="rect">
            <a:avLst/>
          </a:prstGeom>
          <a:noFill/>
          <a:ln w="9525">
            <a:noFill/>
          </a:ln>
        </p:spPr>
        <p:txBody>
          <a:bodyPr wrap="square" anchor="t" anchorCtr="0">
            <a:spAutoFit/>
          </a:bodyPr>
          <a:p>
            <a:r>
              <a:rPr lang="en-US" altLang="zh-CN" dirty="0">
                <a:solidFill>
                  <a:schemeClr val="bg1"/>
                </a:solidFill>
                <a:latin typeface="Calibri" charset="0"/>
                <a:ea typeface="SimSun" pitchFamily="2" charset="-122"/>
              </a:rPr>
              <a:t>Funny story : </a:t>
            </a:r>
            <a:r>
              <a:rPr lang="en-US" altLang="zh-CN" dirty="0">
                <a:latin typeface="Calibri" charset="0"/>
                <a:ea typeface="SimSun" pitchFamily="2" charset="-122"/>
                <a:hlinkClick r:id="rId2"/>
              </a:rPr>
              <a:t>Why does OpenCV use BGR color format ? | </a:t>
            </a:r>
            <a:r>
              <a:rPr lang="en-US" altLang="zh-CN" dirty="0" err="1">
                <a:latin typeface="Calibri" charset="0"/>
                <a:ea typeface="SimSun" pitchFamily="2" charset="-122"/>
                <a:hlinkClick r:id="rId2"/>
              </a:rPr>
              <a:t>LearnOpenCV</a:t>
            </a:r>
            <a:r>
              <a:rPr lang="en-US" altLang="zh-CN" dirty="0">
                <a:latin typeface="Calibri" charset="0"/>
                <a:ea typeface="SimSun" pitchFamily="2" charset="-122"/>
                <a:hlinkClick r:id="rId2"/>
              </a:rPr>
              <a:t> #</a:t>
            </a:r>
            <a:endParaRPr lang="zh-CN" altLang="en-US" dirty="0">
              <a:solidFill>
                <a:schemeClr val="bg1"/>
              </a:solidFill>
              <a:latin typeface="Calibri" charset="0"/>
              <a:ea typeface="SimSun"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577" name="图片 1"/>
          <p:cNvPicPr>
            <a:picLocks noChangeAspect="1"/>
          </p:cNvPicPr>
          <p:nvPr/>
        </p:nvPicPr>
        <p:blipFill>
          <a:blip r:embed="rId1"/>
          <a:stretch>
            <a:fillRect/>
          </a:stretch>
        </p:blipFill>
        <p:spPr>
          <a:xfrm>
            <a:off x="920750" y="617538"/>
            <a:ext cx="8813800" cy="4787900"/>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p:sp>
        <p:nvSpPr>
          <p:cNvPr id="2" name="标题 1"/>
          <p:cNvSpPr>
            <a:spLocks noGrp="1"/>
          </p:cNvSpPr>
          <p:nvPr>
            <p:ph type="title"/>
          </p:nvPr>
        </p:nvSpPr>
        <p:spPr>
          <a:xfrm>
            <a:off x="647700" y="258763"/>
            <a:ext cx="10515600" cy="1325563"/>
          </a:xfrm>
        </p:spPr>
        <p:txBody>
          <a:bodyPr anchor="ctr" anchorCtr="0">
            <a:normAutofit/>
          </a:bodyPr>
          <a:lstStyle/>
          <a:p>
            <a:pPr marL="0" marR="0" indent="0" algn="l" defTabSz="914400" rtl="0" eaLnBrk="1" fontAlgn="auto" latinLnBrk="0" hangingPunct="1">
              <a:lnSpc>
                <a:spcPct val="90000"/>
              </a:lnSpc>
              <a:spcBef>
                <a:spcPct val="0"/>
              </a:spcBef>
              <a:spcAft>
                <a:spcPct val="0"/>
              </a:spcAft>
              <a:buClrTx/>
              <a:buSzTx/>
              <a:buFontTx/>
              <a:buNone/>
            </a:pPr>
            <a:r>
              <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rPr>
              <a:t>实践时间</a:t>
            </a:r>
            <a:endParaRPr kumimoji="0" lang="zh-CN" altLang="en-US" sz="2400" b="1" i="0" u="none" strike="noStrike" kern="1200" cap="none" spc="0" normalizeH="0" baseline="0" noProof="1" dirty="0">
              <a:solidFill>
                <a:schemeClr val="bg1"/>
              </a:solidFill>
              <a:effectLst>
                <a:outerShdw blurRad="38100" dist="38100" dir="2700000" algn="tl">
                  <a:srgbClr val="000000">
                    <a:alpha val="43137"/>
                  </a:srgbClr>
                </a:outerShdw>
              </a:effectLst>
              <a:latin typeface="+mj-lt"/>
              <a:ea typeface="+mj-ea"/>
              <a:cs typeface="+mj-cs"/>
            </a:endParaRPr>
          </a:p>
        </p:txBody>
      </p:sp>
      <p:pic>
        <p:nvPicPr>
          <p:cNvPr id="27651" name="图片 5"/>
          <p:cNvPicPr>
            <a:picLocks noChangeAspect="1"/>
          </p:cNvPicPr>
          <p:nvPr/>
        </p:nvPicPr>
        <p:blipFill>
          <a:blip r:embed="rId1"/>
          <a:stretch>
            <a:fillRect/>
          </a:stretch>
        </p:blipFill>
        <p:spPr>
          <a:xfrm>
            <a:off x="10487025" y="447675"/>
            <a:ext cx="1060450" cy="1062038"/>
          </a:xfrm>
          <a:prstGeom prst="rect">
            <a:avLst/>
          </a:prstGeom>
          <a:noFill/>
          <a:ln w="9525">
            <a:noFill/>
          </a:ln>
        </p:spPr>
      </p:pic>
      <p:pic>
        <p:nvPicPr>
          <p:cNvPr id="27652" name="图片 15"/>
          <p:cNvPicPr>
            <a:picLocks noChangeAspect="1"/>
          </p:cNvPicPr>
          <p:nvPr/>
        </p:nvPicPr>
        <p:blipFill>
          <a:blip r:embed="rId2"/>
          <a:stretch>
            <a:fillRect/>
          </a:stretch>
        </p:blipFill>
        <p:spPr>
          <a:xfrm>
            <a:off x="2184083" y="1333500"/>
            <a:ext cx="8978900" cy="4978400"/>
          </a:xfrm>
          <a:prstGeom prst="rect">
            <a:avLst/>
          </a:prstGeom>
          <a:noFill/>
          <a:ln w="9525">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601" name="图片 1"/>
          <p:cNvPicPr>
            <a:picLocks noChangeAspect="1"/>
          </p:cNvPicPr>
          <p:nvPr/>
        </p:nvPicPr>
        <p:blipFill>
          <a:blip r:embed="rId1"/>
          <a:stretch>
            <a:fillRect/>
          </a:stretch>
        </p:blipFill>
        <p:spPr>
          <a:xfrm>
            <a:off x="104775" y="919163"/>
            <a:ext cx="11982450" cy="5019675"/>
          </a:xfrm>
          <a:prstGeom prst="rect">
            <a:avLst/>
          </a:prstGeom>
          <a:noFill/>
          <a:ln w="9525">
            <a:noFill/>
          </a:ln>
        </p:spPr>
      </p:pic>
      <p:sp>
        <p:nvSpPr>
          <p:cNvPr id="25602" name="文本框 2"/>
          <p:cNvSpPr txBox="1"/>
          <p:nvPr/>
        </p:nvSpPr>
        <p:spPr>
          <a:xfrm>
            <a:off x="1682750" y="6159500"/>
            <a:ext cx="4064000" cy="368300"/>
          </a:xfrm>
          <a:prstGeom prst="rect">
            <a:avLst/>
          </a:prstGeom>
          <a:noFill/>
          <a:ln w="9525">
            <a:noFill/>
          </a:ln>
        </p:spPr>
        <p:txBody>
          <a:bodyPr wrap="square" anchor="t" anchorCtr="0">
            <a:spAutoFit/>
          </a:bodyPr>
          <a:p>
            <a:r>
              <a:rPr lang="zh-CN" altLang="en-US">
                <a:latin typeface="Calibri" charset="0"/>
                <a:ea typeface="SimSun" pitchFamily="2" charset="-122"/>
              </a:rPr>
              <a:t>精确</a:t>
            </a:r>
            <a:endParaRPr lang="zh-CN" altLang="en-US">
              <a:latin typeface="Calibri" charset="0"/>
              <a:ea typeface="SimSun" pitchFamily="2" charset="-122"/>
            </a:endParaRPr>
          </a:p>
        </p:txBody>
      </p:sp>
      <p:sp>
        <p:nvSpPr>
          <p:cNvPr id="25603" name="文本框 3"/>
          <p:cNvSpPr txBox="1"/>
          <p:nvPr/>
        </p:nvSpPr>
        <p:spPr>
          <a:xfrm>
            <a:off x="8023225" y="6197600"/>
            <a:ext cx="4064000" cy="368300"/>
          </a:xfrm>
          <a:prstGeom prst="rect">
            <a:avLst/>
          </a:prstGeom>
          <a:noFill/>
          <a:ln w="9525">
            <a:noFill/>
          </a:ln>
        </p:spPr>
        <p:txBody>
          <a:bodyPr wrap="square" anchor="t" anchorCtr="0">
            <a:spAutoFit/>
          </a:bodyPr>
          <a:p>
            <a:r>
              <a:rPr lang="zh-CN" altLang="en-US">
                <a:latin typeface="Calibri" charset="0"/>
                <a:ea typeface="SimSun" pitchFamily="2" charset="-122"/>
              </a:rPr>
              <a:t>鲁棒</a:t>
            </a:r>
            <a:endParaRPr lang="zh-CN" altLang="en-US">
              <a:latin typeface="Calibri" charset="0"/>
              <a:ea typeface="SimSun"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625" name="图片 1"/>
          <p:cNvPicPr>
            <a:picLocks noChangeAspect="1"/>
          </p:cNvPicPr>
          <p:nvPr/>
        </p:nvPicPr>
        <p:blipFill>
          <a:blip r:embed="rId1"/>
          <a:stretch>
            <a:fillRect/>
          </a:stretch>
        </p:blipFill>
        <p:spPr>
          <a:xfrm>
            <a:off x="352425" y="671513"/>
            <a:ext cx="8410575" cy="403860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44195" y="635000"/>
            <a:ext cx="9003030" cy="1179830"/>
          </a:xfrm>
          <a:prstGeom prst="rect">
            <a:avLst/>
          </a:prstGeom>
          <a:noFill/>
        </p:spPr>
        <p:txBody>
          <a:bodyPr wrap="square" rtlCol="0">
            <a:noAutofit/>
          </a:bodyPr>
          <a:p>
            <a:r>
              <a:rPr lang="zh-CN" altLang="en-US" sz="3600"/>
              <a:t>实战：使用</a:t>
            </a:r>
            <a:r>
              <a:rPr lang="en-US" sz="3600"/>
              <a:t>opencv</a:t>
            </a:r>
            <a:r>
              <a:rPr lang="zh-CN" altLang="en-US" sz="3600"/>
              <a:t>找到装甲板角点并分类</a:t>
            </a:r>
            <a:endParaRPr lang="zh-CN" altLang="en-US" sz="3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72745" y="264795"/>
            <a:ext cx="4064000" cy="521970"/>
          </a:xfrm>
          <a:prstGeom prst="rect">
            <a:avLst/>
          </a:prstGeom>
          <a:noFill/>
        </p:spPr>
        <p:txBody>
          <a:bodyPr wrap="square" rtlCol="0">
            <a:spAutoFit/>
          </a:bodyPr>
          <a:p>
            <a:r>
              <a:rPr lang="en-US" altLang="zh-CN" sz="2800"/>
              <a:t>hw1</a:t>
            </a:r>
            <a:endParaRPr lang="en-US" altLang="zh-CN" sz="2800"/>
          </a:p>
        </p:txBody>
      </p:sp>
      <p:sp>
        <p:nvSpPr>
          <p:cNvPr id="5" name="文本框 4"/>
          <p:cNvSpPr txBox="1"/>
          <p:nvPr/>
        </p:nvSpPr>
        <p:spPr>
          <a:xfrm>
            <a:off x="988695" y="1541145"/>
            <a:ext cx="9625965" cy="3456940"/>
          </a:xfrm>
          <a:prstGeom prst="rect">
            <a:avLst/>
          </a:prstGeom>
          <a:noFill/>
        </p:spPr>
        <p:txBody>
          <a:bodyPr wrap="square" rtlCol="0">
            <a:noAutofit/>
          </a:bodyPr>
          <a:p>
            <a:r>
              <a:rPr lang="en-US" altLang="zh-CN"/>
              <a:t>1. </a:t>
            </a:r>
            <a:r>
              <a:rPr lang="zh-CN" altLang="en-US"/>
              <a:t>修改相机</a:t>
            </a:r>
            <a:r>
              <a:rPr lang="en-US" altLang="zh-CN"/>
              <a:t>/</a:t>
            </a:r>
            <a:r>
              <a:rPr lang="zh-CN" altLang="en-US"/>
              <a:t>镜头的</a:t>
            </a:r>
            <a:r>
              <a:rPr lang="en-US" altLang="zh-CN"/>
              <a:t>3</a:t>
            </a:r>
            <a:r>
              <a:rPr lang="zh-CN" altLang="en-US"/>
              <a:t>个可调参数，在</a:t>
            </a:r>
            <a:r>
              <a:rPr lang="en-US" altLang="zh-CN"/>
              <a:t>MVS</a:t>
            </a:r>
            <a:r>
              <a:rPr lang="zh-CN" altLang="en-US"/>
              <a:t>里截取调节参数前后的图像变化。</a:t>
            </a:r>
            <a:endParaRPr lang="zh-CN" altLang="en-US"/>
          </a:p>
          <a:p>
            <a:endParaRPr lang="zh-CN" altLang="en-US"/>
          </a:p>
          <a:p>
            <a:r>
              <a:rPr lang="en-US" altLang="zh-CN"/>
              <a:t>2. </a:t>
            </a:r>
            <a:r>
              <a:rPr lang="zh-CN" altLang="en-US">
                <a:sym typeface="+mn-ea"/>
              </a:rPr>
              <a:t>使用</a:t>
            </a:r>
            <a:r>
              <a:rPr lang="en-US">
                <a:sym typeface="+mn-ea"/>
              </a:rPr>
              <a:t>opencv</a:t>
            </a:r>
            <a:r>
              <a:rPr lang="zh-CN" altLang="en-US">
                <a:sym typeface="+mn-ea"/>
              </a:rPr>
              <a:t>找到装甲板角点并分类，完成</a:t>
            </a:r>
            <a:r>
              <a:rPr lang="en-US" altLang="zh-CN">
                <a:sym typeface="+mn-ea"/>
              </a:rPr>
              <a:t>detector.cpp</a:t>
            </a:r>
            <a:r>
              <a:rPr lang="zh-CN" altLang="en-US">
                <a:sym typeface="+mn-ea"/>
              </a:rPr>
              <a:t>和</a:t>
            </a:r>
            <a:r>
              <a:rPr lang="en-US" altLang="zh-CN">
                <a:sym typeface="+mn-ea"/>
              </a:rPr>
              <a:t>hpp</a:t>
            </a:r>
            <a:r>
              <a:rPr lang="zh-CN" altLang="en-US">
                <a:sym typeface="+mn-ea"/>
              </a:rPr>
              <a:t>的代码填充，提交可视化结果和源码。</a:t>
            </a:r>
            <a:endParaRPr lang="zh-CN" altLang="en-US">
              <a:sym typeface="+mn-ea"/>
            </a:endParaRPr>
          </a:p>
          <a:p>
            <a:endParaRPr lang="zh-CN" altLang="en-US">
              <a:sym typeface="+mn-ea"/>
            </a:endParaRPr>
          </a:p>
          <a:p>
            <a:r>
              <a:rPr lang="en-US" altLang="zh-CN">
                <a:sym typeface="+mn-ea"/>
              </a:rPr>
              <a:t>3. </a:t>
            </a:r>
            <a:r>
              <a:rPr lang="zh-CN" altLang="en-US">
                <a:sym typeface="+mn-ea"/>
              </a:rPr>
              <a:t>阅读</a:t>
            </a:r>
            <a:r>
              <a:rPr lang="zh-CN" altLang="en-US"/>
              <a:t>上海科技大学</a:t>
            </a:r>
            <a:r>
              <a:rPr lang="en-US" altLang="zh-CN"/>
              <a:t>2026</a:t>
            </a:r>
            <a:r>
              <a:rPr lang="zh-CN" altLang="en-US"/>
              <a:t>视觉技术方案开源前置知识，场景</a:t>
            </a:r>
            <a:r>
              <a:rPr lang="en-US" altLang="zh-CN"/>
              <a:t>1-2</a:t>
            </a:r>
            <a:r>
              <a:rPr lang="zh-CN" altLang="en-US"/>
              <a:t>。</a:t>
            </a:r>
            <a:r>
              <a:rPr lang="en-US" altLang="zh-CN"/>
              <a:t>https://fcn47qghdcqf.feishu.cn/wiki/Hcw1wxTMZicx0xkinuQcKHetn5d</a:t>
            </a:r>
            <a:endParaRPr lang="en-US" altLang="zh-CN"/>
          </a:p>
          <a:p>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圆角矩形 20"/>
          <p:cNvSpPr/>
          <p:nvPr/>
        </p:nvSpPr>
        <p:spPr>
          <a:xfrm>
            <a:off x="411480" y="282258"/>
            <a:ext cx="44418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transformer</a:t>
            </a:r>
            <a:r>
              <a:rPr lang="zh-CN" altLang="en-US" strike="noStrike" noProof="1">
                <a:solidFill>
                  <a:schemeClr val="tx1"/>
                </a:solidFill>
                <a:sym typeface="+mn-ea"/>
              </a:rPr>
              <a:t>相机系位姿转换到世界系</a:t>
            </a:r>
            <a:endParaRPr lang="zh-CN" altLang="en-US" strike="noStrike" noProof="1">
              <a:solidFill>
                <a:schemeClr val="tx1"/>
              </a:solidFill>
              <a:sym typeface="+mn-ea"/>
            </a:endParaRPr>
          </a:p>
        </p:txBody>
      </p:sp>
      <p:sp>
        <p:nvSpPr>
          <p:cNvPr id="2" name="文本框 1"/>
          <p:cNvSpPr txBox="1"/>
          <p:nvPr/>
        </p:nvSpPr>
        <p:spPr>
          <a:xfrm>
            <a:off x="4277360" y="2967990"/>
            <a:ext cx="4064000" cy="922020"/>
          </a:xfrm>
          <a:prstGeom prst="rect">
            <a:avLst/>
          </a:prstGeom>
          <a:noFill/>
        </p:spPr>
        <p:txBody>
          <a:bodyPr wrap="square" rtlCol="0">
            <a:spAutoFit/>
          </a:bodyPr>
          <a:p>
            <a:r>
              <a:rPr lang="zh-CN" altLang="en-US" sz="5400"/>
              <a:t>刚体变换</a:t>
            </a:r>
            <a:endParaRPr lang="zh-CN" altLang="en-US" sz="5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263650" y="599440"/>
            <a:ext cx="6960870" cy="1917065"/>
          </a:xfrm>
          <a:prstGeom prst="rect">
            <a:avLst/>
          </a:prstGeom>
          <a:noFill/>
        </p:spPr>
        <p:txBody>
          <a:bodyPr wrap="square" rtlCol="0">
            <a:noAutofit/>
          </a:bodyPr>
          <a:p>
            <a:r>
              <a:rPr lang="zh-CN" altLang="en-US" sz="2400"/>
              <a:t>当你有一个点在坐标系</a:t>
            </a:r>
            <a:r>
              <a:rPr lang="en-US" altLang="zh-CN" sz="2400"/>
              <a:t> A </a:t>
            </a:r>
            <a:r>
              <a:rPr lang="zh-CN" altLang="en-US" sz="2400"/>
              <a:t>中的位置</a:t>
            </a:r>
            <a:r>
              <a:rPr lang="en-US" altLang="zh-CN" sz="2400"/>
              <a:t> `P_A`</a:t>
            </a:r>
            <a:r>
              <a:rPr lang="zh-CN" altLang="en-US" sz="2400"/>
              <a:t>，想知道它在坐标系</a:t>
            </a:r>
            <a:r>
              <a:rPr lang="en-US" altLang="zh-CN" sz="2400"/>
              <a:t> B </a:t>
            </a:r>
            <a:r>
              <a:rPr lang="zh-CN" altLang="en-US" sz="2400"/>
              <a:t>中的位置</a:t>
            </a:r>
            <a:r>
              <a:rPr lang="en-US" altLang="zh-CN" sz="2400"/>
              <a:t> `P_B` </a:t>
            </a:r>
            <a:r>
              <a:rPr lang="zh-CN" altLang="en-US" sz="2400"/>
              <a:t>时，需要做一次</a:t>
            </a:r>
            <a:r>
              <a:rPr lang="en-US" altLang="zh-CN" sz="2400"/>
              <a:t> </a:t>
            </a:r>
            <a:r>
              <a:rPr lang="zh-CN" altLang="en-US" sz="2400"/>
              <a:t>刚体变换（</a:t>
            </a:r>
            <a:r>
              <a:rPr lang="en-US" altLang="zh-CN" sz="2400"/>
              <a:t>rigid transform</a:t>
            </a:r>
            <a:r>
              <a:rPr lang="zh-CN" altLang="en-US" sz="2400"/>
              <a:t>）。</a:t>
            </a:r>
            <a:endParaRPr lang="zh-CN" altLang="en-US" sz="2400"/>
          </a:p>
        </p:txBody>
      </p:sp>
      <p:pic>
        <p:nvPicPr>
          <p:cNvPr id="3" name="图片 2"/>
          <p:cNvPicPr>
            <a:picLocks noChangeAspect="1"/>
          </p:cNvPicPr>
          <p:nvPr/>
        </p:nvPicPr>
        <p:blipFill>
          <a:blip r:embed="rId1"/>
          <a:stretch>
            <a:fillRect/>
          </a:stretch>
        </p:blipFill>
        <p:spPr>
          <a:xfrm>
            <a:off x="1451610" y="2319020"/>
            <a:ext cx="8074025" cy="361823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二维坐标系</a:t>
            </a:r>
            <a:r>
              <a:rPr lang="en-US" altLang="zh-CN" sz="4000" cap="none" dirty="0"/>
              <a:t>——</a:t>
            </a:r>
            <a:r>
              <a:rPr lang="zh-CN" altLang="en-US" sz="4000" cap="none" dirty="0"/>
              <a:t>向量的旋转</a:t>
            </a:r>
            <a:endParaRPr lang="zh-CN" altLang="en-US" sz="4000" cap="none" dirty="0"/>
          </a:p>
        </p:txBody>
      </p:sp>
      <p:sp>
        <p:nvSpPr>
          <p:cNvPr id="12" name="文本框 11"/>
          <p:cNvSpPr txBox="1"/>
          <p:nvPr/>
        </p:nvSpPr>
        <p:spPr>
          <a:xfrm>
            <a:off x="581192" y="5115384"/>
            <a:ext cx="11029616" cy="1158907"/>
          </a:xfrm>
          <a:prstGeom prst="rect">
            <a:avLst/>
          </a:prstGeom>
          <a:noFill/>
        </p:spPr>
        <p:txBody>
          <a:bodyPr wrap="square" rtlCol="0">
            <a:spAutoFit/>
          </a:bodyPr>
          <a:lstStyle/>
          <a:p>
            <a:pPr>
              <a:lnSpc>
                <a:spcPct val="130000"/>
              </a:lnSpc>
            </a:pPr>
            <a:r>
              <a:rPr lang="zh-CN" altLang="en-US" sz="2800" dirty="0">
                <a:latin typeface="Microsoft YaHei UI" panose="020B0503020204020204" pitchFamily="34" charset="-122"/>
                <a:ea typeface="Microsoft YaHei UI" panose="020B0503020204020204" pitchFamily="34" charset="-122"/>
              </a:rPr>
              <a:t>意义：</a:t>
            </a:r>
            <a:endParaRPr lang="en-US" altLang="zh-CN" sz="2800" dirty="0">
              <a:latin typeface="Microsoft YaHei UI" panose="020B0503020204020204" pitchFamily="34" charset="-122"/>
              <a:ea typeface="Microsoft YaHei UI" panose="020B0503020204020204" pitchFamily="34" charset="-122"/>
            </a:endParaRPr>
          </a:p>
          <a:p>
            <a:pPr>
              <a:lnSpc>
                <a:spcPct val="130000"/>
              </a:lnSpc>
            </a:pPr>
            <a:r>
              <a:rPr lang="zh-CN" altLang="en-US" sz="2800" dirty="0">
                <a:latin typeface="Microsoft YaHei UI" panose="020B0503020204020204" pitchFamily="34" charset="-122"/>
                <a:ea typeface="Microsoft YaHei UI" panose="020B0503020204020204" pitchFamily="34" charset="-122"/>
              </a:rPr>
              <a:t>建立了</a:t>
            </a:r>
            <a:r>
              <a:rPr lang="zh-CN" altLang="en-US" sz="2800" dirty="0">
                <a:solidFill>
                  <a:srgbClr val="FF0000"/>
                </a:solidFill>
                <a:latin typeface="Microsoft YaHei UI" panose="020B0503020204020204" pitchFamily="34" charset="-122"/>
                <a:ea typeface="Microsoft YaHei UI" panose="020B0503020204020204" pitchFamily="34" charset="-122"/>
              </a:rPr>
              <a:t>旋转操作</a:t>
            </a:r>
            <a:r>
              <a:rPr lang="zh-CN" altLang="en-US" sz="2800" dirty="0">
                <a:latin typeface="Microsoft YaHei UI" panose="020B0503020204020204" pitchFamily="34" charset="-122"/>
                <a:ea typeface="Microsoft YaHei UI" panose="020B0503020204020204" pitchFamily="34" charset="-122"/>
              </a:rPr>
              <a:t>与</a:t>
            </a:r>
            <a:r>
              <a:rPr lang="zh-CN" altLang="en-US" sz="2800" dirty="0">
                <a:solidFill>
                  <a:srgbClr val="FF0000"/>
                </a:solidFill>
                <a:latin typeface="Microsoft YaHei UI" panose="020B0503020204020204" pitchFamily="34" charset="-122"/>
                <a:ea typeface="Microsoft YaHei UI" panose="020B0503020204020204" pitchFamily="34" charset="-122"/>
              </a:rPr>
              <a:t>旋转矩阵</a:t>
            </a:r>
            <a:r>
              <a:rPr lang="zh-CN" altLang="en-US" sz="2800" dirty="0">
                <a:latin typeface="Microsoft YaHei UI" panose="020B0503020204020204" pitchFamily="34" charset="-122"/>
                <a:ea typeface="Microsoft YaHei UI" panose="020B0503020204020204" pitchFamily="34" charset="-122"/>
              </a:rPr>
              <a:t>之间的对应关系</a:t>
            </a:r>
            <a:endParaRPr lang="en-US" altLang="zh-CN" sz="2800" dirty="0">
              <a:latin typeface="Microsoft YaHei UI" panose="020B0503020204020204" pitchFamily="34" charset="-122"/>
              <a:ea typeface="Microsoft YaHei UI" panose="020B0503020204020204" pitchFamily="34" charset="-122"/>
            </a:endParaRPr>
          </a:p>
        </p:txBody>
      </p:sp>
      <p:pic>
        <p:nvPicPr>
          <p:cNvPr id="6" name="图片 5"/>
          <p:cNvPicPr>
            <a:picLocks noChangeAspect="1"/>
          </p:cNvPicPr>
          <p:nvPr/>
        </p:nvPicPr>
        <p:blipFill>
          <a:blip r:embed="rId1"/>
          <a:stretch>
            <a:fillRect/>
          </a:stretch>
        </p:blipFill>
        <p:spPr>
          <a:xfrm>
            <a:off x="595312" y="2286000"/>
            <a:ext cx="11001375" cy="2286000"/>
          </a:xfrm>
          <a:prstGeom prst="rect">
            <a:avLst/>
          </a:prstGeom>
        </p:spPr>
      </p:pic>
      <p:sp>
        <p:nvSpPr>
          <p:cNvPr id="5" name="文本框 4"/>
          <p:cNvSpPr txBox="1"/>
          <p:nvPr/>
        </p:nvSpPr>
        <p:spPr>
          <a:xfrm>
            <a:off x="581192" y="1550046"/>
            <a:ext cx="11029616" cy="417935"/>
          </a:xfrm>
          <a:prstGeom prst="rect">
            <a:avLst/>
          </a:prstGeom>
          <a:noFill/>
        </p:spPr>
        <p:txBody>
          <a:bodyPr wrap="square" rtlCol="0">
            <a:spAutoFit/>
          </a:bodyPr>
          <a:lstStyle/>
          <a:p>
            <a:pPr>
              <a:lnSpc>
                <a:spcPct val="130000"/>
              </a:lnSpc>
            </a:pPr>
            <a:r>
              <a:rPr lang="zh-CN" altLang="en-US" dirty="0">
                <a:latin typeface="Microsoft YaHei UI" panose="020B0503020204020204" pitchFamily="34" charset="-122"/>
                <a:ea typeface="Microsoft YaHei UI" panose="020B0503020204020204" pitchFamily="34" charset="-122"/>
              </a:rPr>
              <a:t>先考虑我们三维生物在二维电脑屏幕上比较容易脑补的东西，那就是二维坐标系</a:t>
            </a:r>
            <a:endParaRPr lang="zh-CN" altLang="en-US" dirty="0">
              <a:latin typeface="Microsoft YaHei UI" panose="020B0503020204020204" pitchFamily="34" charset="-122"/>
              <a:ea typeface="Microsoft YaHei UI" panose="020B0503020204020204" pitchFamily="34"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94155" y="1366520"/>
            <a:ext cx="8987155" cy="40271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57275" y="1357630"/>
            <a:ext cx="9246235" cy="4143375"/>
          </a:xfrm>
          <a:prstGeom prst="rect">
            <a:avLst/>
          </a:prstGeom>
        </p:spPr>
      </p:pic>
      <p:pic>
        <p:nvPicPr>
          <p:cNvPr id="3" name="图片 2"/>
          <p:cNvPicPr>
            <a:picLocks noChangeAspect="1"/>
          </p:cNvPicPr>
          <p:nvPr/>
        </p:nvPicPr>
        <p:blipFill>
          <a:blip r:embed="rId2"/>
          <a:stretch>
            <a:fillRect/>
          </a:stretch>
        </p:blipFill>
        <p:spPr>
          <a:xfrm>
            <a:off x="1277620" y="5907405"/>
            <a:ext cx="6715125" cy="54483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42670" y="1387475"/>
            <a:ext cx="9790430" cy="3110230"/>
          </a:xfrm>
          <a:prstGeom prst="rect">
            <a:avLst/>
          </a:prstGeom>
        </p:spPr>
      </p:pic>
      <p:sp>
        <p:nvSpPr>
          <p:cNvPr id="3" name="文本框 2"/>
          <p:cNvSpPr txBox="1"/>
          <p:nvPr/>
        </p:nvSpPr>
        <p:spPr>
          <a:xfrm>
            <a:off x="641985" y="598805"/>
            <a:ext cx="4064000" cy="460375"/>
          </a:xfrm>
          <a:prstGeom prst="rect">
            <a:avLst/>
          </a:prstGeom>
          <a:noFill/>
        </p:spPr>
        <p:txBody>
          <a:bodyPr wrap="square" rtlCol="0">
            <a:spAutoFit/>
          </a:bodyPr>
          <a:p>
            <a:r>
              <a:rPr lang="zh-CN" altLang="en-US" sz="2400"/>
              <a:t>齐次变换矩阵</a:t>
            </a:r>
            <a:endParaRPr lang="zh-CN" altLang="en-US" sz="2400"/>
          </a:p>
        </p:txBody>
      </p:sp>
      <p:pic>
        <p:nvPicPr>
          <p:cNvPr id="4" name="图片 3"/>
          <p:cNvPicPr>
            <a:picLocks noChangeAspect="1"/>
          </p:cNvPicPr>
          <p:nvPr/>
        </p:nvPicPr>
        <p:blipFill>
          <a:blip r:embed="rId2"/>
          <a:stretch>
            <a:fillRect/>
          </a:stretch>
        </p:blipFill>
        <p:spPr>
          <a:xfrm>
            <a:off x="1400810" y="4645025"/>
            <a:ext cx="1962785" cy="196278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73810" y="1505585"/>
            <a:ext cx="8776970" cy="2482215"/>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欧拉角</a:t>
            </a:r>
            <a:endParaRPr lang="zh-CN" altLang="en-US" sz="4000" cap="none" dirty="0"/>
          </a:p>
        </p:txBody>
      </p:sp>
      <p:sp>
        <p:nvSpPr>
          <p:cNvPr id="6" name="文本框 5"/>
          <p:cNvSpPr txBox="1"/>
          <p:nvPr/>
        </p:nvSpPr>
        <p:spPr>
          <a:xfrm>
            <a:off x="581192" y="1550046"/>
            <a:ext cx="11029616" cy="5210810"/>
          </a:xfrm>
          <a:prstGeom prst="rect">
            <a:avLst/>
          </a:prstGeom>
          <a:noFill/>
        </p:spPr>
        <p:txBody>
          <a:bodyPr wrap="square" rtlCol="0">
            <a:spAutoFit/>
          </a:bodyPr>
          <a:lstStyle/>
          <a:p>
            <a:pPr marL="342900" indent="-342900">
              <a:lnSpc>
                <a:spcPct val="130000"/>
              </a:lnSpc>
              <a:buFont typeface="Arial" panose="02080604020202020204" pitchFamily="34" charset="0"/>
              <a:buChar char="•"/>
            </a:pPr>
            <a:r>
              <a:rPr lang="zh-CN" altLang="en-US" sz="1600" dirty="0">
                <a:latin typeface="Microsoft YaHei UI" panose="020B0503020204020204" pitchFamily="34" charset="-122"/>
                <a:ea typeface="Microsoft YaHei UI" panose="020B0503020204020204" pitchFamily="34" charset="-122"/>
              </a:rPr>
              <a:t>欧拉角</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r>
              <a:rPr lang="zh-CN" altLang="en-US" sz="1600" dirty="0">
                <a:latin typeface="Microsoft YaHei UI" panose="020B0503020204020204" pitchFamily="34" charset="-122"/>
                <a:ea typeface="Microsoft YaHei UI" panose="020B0503020204020204" pitchFamily="34" charset="-122"/>
              </a:rPr>
              <a:t>由欧拉提出，用于描述三维世界物体的姿态</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r>
              <a:rPr lang="zh-CN" altLang="en-US" sz="1600" dirty="0">
                <a:latin typeface="Microsoft YaHei UI" panose="020B0503020204020204" pitchFamily="34" charset="-122"/>
                <a:ea typeface="Microsoft YaHei UI" panose="020B0503020204020204" pitchFamily="34" charset="-122"/>
              </a:rPr>
              <a:t>欧拉角采用的转轴为当前物体坐标系的轴进行旋转，而非世界坐标系的旋转</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r>
              <a:rPr lang="zh-CN" altLang="en-US" sz="1600" dirty="0">
                <a:latin typeface="Microsoft YaHei UI" panose="020B0503020204020204" pitchFamily="34" charset="-122"/>
                <a:ea typeface="Microsoft YaHei UI" panose="020B0503020204020204" pitchFamily="34" charset="-122"/>
              </a:rPr>
              <a:t>偏航角，</a:t>
            </a:r>
            <a:r>
              <a:rPr lang="en-US" altLang="zh-CN" sz="1600" dirty="0">
                <a:highlight>
                  <a:srgbClr val="FFFF00"/>
                </a:highlight>
                <a:latin typeface="Microsoft YaHei UI" panose="020B0503020204020204" pitchFamily="34" charset="-122"/>
                <a:ea typeface="Microsoft YaHei UI" panose="020B0503020204020204" pitchFamily="34" charset="-122"/>
              </a:rPr>
              <a:t>Yaw</a:t>
            </a:r>
            <a:r>
              <a:rPr lang="zh-CN" altLang="en-US" sz="1600" dirty="0">
                <a:latin typeface="Microsoft YaHei UI" panose="020B0503020204020204" pitchFamily="34" charset="-122"/>
                <a:ea typeface="Microsoft YaHei UI" panose="020B0503020204020204" pitchFamily="34" charset="-122"/>
              </a:rPr>
              <a:t>，左右摇头，绕物体坐标系</a:t>
            </a:r>
            <a:r>
              <a:rPr lang="en-US" altLang="zh-CN" sz="1600" dirty="0">
                <a:latin typeface="Microsoft YaHei UI" panose="020B0503020204020204" pitchFamily="34" charset="-122"/>
                <a:ea typeface="Microsoft YaHei UI" panose="020B0503020204020204" pitchFamily="34" charset="-122"/>
              </a:rPr>
              <a:t>z</a:t>
            </a:r>
            <a:r>
              <a:rPr lang="zh-CN" altLang="en-US" sz="1600" dirty="0">
                <a:latin typeface="Microsoft YaHei UI" panose="020B0503020204020204" pitchFamily="34" charset="-122"/>
                <a:ea typeface="Microsoft YaHei UI" panose="020B0503020204020204" pitchFamily="34" charset="-122"/>
              </a:rPr>
              <a:t>转动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r>
              <a:rPr lang="zh-CN" altLang="en-US" sz="1600" dirty="0">
                <a:latin typeface="Microsoft YaHei UI" panose="020B0503020204020204" pitchFamily="34" charset="-122"/>
                <a:ea typeface="Microsoft YaHei UI" panose="020B0503020204020204" pitchFamily="34" charset="-122"/>
              </a:rPr>
              <a:t>俯仰角，</a:t>
            </a:r>
            <a:r>
              <a:rPr lang="en-US" altLang="zh-CN" sz="1600" dirty="0">
                <a:highlight>
                  <a:srgbClr val="FFFF00"/>
                </a:highlight>
                <a:latin typeface="Microsoft YaHei UI" panose="020B0503020204020204" pitchFamily="34" charset="-122"/>
                <a:ea typeface="Microsoft YaHei UI" panose="020B0503020204020204" pitchFamily="34" charset="-122"/>
              </a:rPr>
              <a:t>Pitch</a:t>
            </a:r>
            <a:r>
              <a:rPr lang="zh-CN" altLang="en-US" sz="1600" dirty="0">
                <a:latin typeface="Microsoft YaHei UI" panose="020B0503020204020204" pitchFamily="34" charset="-122"/>
                <a:ea typeface="Microsoft YaHei UI" panose="020B0503020204020204" pitchFamily="34" charset="-122"/>
              </a:rPr>
              <a:t>，低头抬头，绕物体坐标系</a:t>
            </a:r>
            <a:r>
              <a:rPr lang="en-US" altLang="zh-CN" sz="1600" dirty="0">
                <a:latin typeface="Microsoft YaHei UI" panose="020B0503020204020204" pitchFamily="34" charset="-122"/>
                <a:ea typeface="Microsoft YaHei UI" panose="020B0503020204020204" pitchFamily="34" charset="-122"/>
              </a:rPr>
              <a:t>y</a:t>
            </a:r>
            <a:r>
              <a:rPr lang="zh-CN" altLang="en-US" sz="1600" dirty="0">
                <a:latin typeface="Microsoft YaHei UI" panose="020B0503020204020204" pitchFamily="34" charset="-122"/>
                <a:ea typeface="Microsoft YaHei UI" panose="020B0503020204020204" pitchFamily="34" charset="-122"/>
              </a:rPr>
              <a:t>转动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r>
              <a:rPr lang="zh-CN" altLang="en-US" sz="1600" dirty="0">
                <a:latin typeface="Microsoft YaHei UI" panose="020B0503020204020204" pitchFamily="34" charset="-122"/>
                <a:ea typeface="Microsoft YaHei UI" panose="020B0503020204020204" pitchFamily="34" charset="-122"/>
              </a:rPr>
              <a:t>横滚角，</a:t>
            </a:r>
            <a:r>
              <a:rPr lang="en-US" altLang="zh-CN" sz="1600" dirty="0">
                <a:highlight>
                  <a:srgbClr val="FFFF00"/>
                </a:highlight>
                <a:latin typeface="Microsoft YaHei UI" panose="020B0503020204020204" pitchFamily="34" charset="-122"/>
                <a:ea typeface="Microsoft YaHei UI" panose="020B0503020204020204" pitchFamily="34" charset="-122"/>
              </a:rPr>
              <a:t>Roll</a:t>
            </a:r>
            <a:r>
              <a:rPr lang="zh-CN" altLang="en-US" sz="1600" dirty="0">
                <a:latin typeface="Microsoft YaHei UI" panose="020B0503020204020204" pitchFamily="34" charset="-122"/>
                <a:ea typeface="Microsoft YaHei UI" panose="020B0503020204020204" pitchFamily="34" charset="-122"/>
              </a:rPr>
              <a:t>，逆时针顺时针晃头，绕物体坐标系</a:t>
            </a:r>
            <a:r>
              <a:rPr lang="en-US" altLang="zh-CN" sz="1600" dirty="0">
                <a:latin typeface="Microsoft YaHei UI" panose="020B0503020204020204" pitchFamily="34" charset="-122"/>
                <a:ea typeface="Microsoft YaHei UI" panose="020B0503020204020204" pitchFamily="34" charset="-122"/>
              </a:rPr>
              <a:t>x</a:t>
            </a:r>
            <a:r>
              <a:rPr lang="zh-CN" altLang="en-US" sz="1600" dirty="0">
                <a:latin typeface="Microsoft YaHei UI" panose="020B0503020204020204" pitchFamily="34" charset="-122"/>
                <a:ea typeface="Microsoft YaHei UI" panose="020B0503020204020204" pitchFamily="34" charset="-122"/>
              </a:rPr>
              <a:t>转动</a:t>
            </a:r>
            <a:endParaRPr lang="en-US" altLang="zh-CN" sz="1600" dirty="0">
              <a:latin typeface="Microsoft YaHei UI" panose="020B0503020204020204" pitchFamily="34" charset="-122"/>
              <a:ea typeface="Microsoft YaHei UI" panose="020B0503020204020204" pitchFamily="34" charset="-122"/>
            </a:endParaRPr>
          </a:p>
          <a:p>
            <a:pPr marL="800100" lvl="1" indent="-342900">
              <a:lnSpc>
                <a:spcPct val="130000"/>
              </a:lnSpc>
              <a:buFont typeface="Arial" panose="02080604020202020204" pitchFamily="34" charset="0"/>
              <a:buChar char="•"/>
            </a:pPr>
            <a:endParaRPr lang="en-US" altLang="zh-CN" sz="1600" dirty="0">
              <a:latin typeface="Microsoft YaHei UI" panose="020B0503020204020204" pitchFamily="34" charset="-122"/>
              <a:ea typeface="Microsoft YaHei UI" panose="020B0503020204020204" pitchFamily="34" charset="-122"/>
            </a:endParaRPr>
          </a:p>
          <a:p>
            <a:pPr lvl="1">
              <a:lnSpc>
                <a:spcPct val="130000"/>
              </a:lnSpc>
              <a:buFont typeface="Arial" panose="02080604020202020204" pitchFamily="34" charset="0"/>
            </a:pPr>
            <a:endParaRPr lang="en-US" altLang="zh-CN" sz="1600" dirty="0">
              <a:latin typeface="Microsoft YaHei UI" panose="020B0503020204020204" pitchFamily="34" charset="-122"/>
              <a:ea typeface="Microsoft YaHei UI" panose="020B0503020204020204" pitchFamily="34" charset="-122"/>
            </a:endParaRPr>
          </a:p>
        </p:txBody>
      </p:sp>
      <p:pic>
        <p:nvPicPr>
          <p:cNvPr id="8" name="QQ20241010-225744-HD">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7246794" y="2647950"/>
            <a:ext cx="1105366" cy="3807374"/>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9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3600" cap="none" dirty="0"/>
              <a:t>三维坐标系</a:t>
            </a:r>
            <a:r>
              <a:rPr lang="en-US" altLang="zh-CN" sz="3600" cap="none" dirty="0"/>
              <a:t>——</a:t>
            </a:r>
            <a:r>
              <a:rPr lang="zh-CN" altLang="en-US" sz="3600" cap="none" dirty="0"/>
              <a:t>绕坐标轴旋转</a:t>
            </a:r>
            <a:endParaRPr lang="zh-CN" altLang="en-US" sz="3600" cap="none" dirty="0"/>
          </a:p>
        </p:txBody>
      </p:sp>
      <p:sp>
        <p:nvSpPr>
          <p:cNvPr id="9" name="文本框 8"/>
          <p:cNvSpPr txBox="1"/>
          <p:nvPr/>
        </p:nvSpPr>
        <p:spPr>
          <a:xfrm>
            <a:off x="581192" y="5411649"/>
            <a:ext cx="11029616" cy="1138132"/>
          </a:xfrm>
          <a:prstGeom prst="rect">
            <a:avLst/>
          </a:prstGeom>
          <a:noFill/>
        </p:spPr>
        <p:txBody>
          <a:bodyPr wrap="square" rtlCol="0">
            <a:spAutoFit/>
          </a:bodyPr>
          <a:lstStyle/>
          <a:p>
            <a:pPr>
              <a:lnSpc>
                <a:spcPct val="130000"/>
              </a:lnSpc>
            </a:pPr>
            <a:r>
              <a:rPr lang="zh-CN" altLang="en-US" dirty="0">
                <a:latin typeface="Microsoft YaHei UI" panose="020B0503020204020204" pitchFamily="34" charset="-122"/>
                <a:ea typeface="Microsoft YaHei UI" panose="020B0503020204020204" pitchFamily="34" charset="-122"/>
              </a:rPr>
              <a:t>意义</a:t>
            </a:r>
            <a:endParaRPr lang="en-US" altLang="zh-CN" dirty="0">
              <a:latin typeface="Microsoft YaHei UI" panose="020B0503020204020204" pitchFamily="34" charset="-122"/>
              <a:ea typeface="Microsoft YaHei UI" panose="020B0503020204020204" pitchFamily="34" charset="-122"/>
            </a:endParaRPr>
          </a:p>
          <a:p>
            <a:pPr marL="342900" indent="-342900">
              <a:lnSpc>
                <a:spcPct val="130000"/>
              </a:lnSpc>
              <a:buFont typeface="+mj-lt"/>
              <a:buAutoNum type="arabicPeriod"/>
            </a:pPr>
            <a:r>
              <a:rPr lang="zh-CN" altLang="en-US" dirty="0">
                <a:latin typeface="Microsoft YaHei UI" panose="020B0503020204020204" pitchFamily="34" charset="-122"/>
                <a:ea typeface="Microsoft YaHei UI" panose="020B0503020204020204" pitchFamily="34" charset="-122"/>
              </a:rPr>
              <a:t>初始状态（物体坐标系和世界坐标系重合）的</a:t>
            </a:r>
            <a:r>
              <a:rPr lang="zh-CN" altLang="en-US" dirty="0">
                <a:solidFill>
                  <a:srgbClr val="FF0000"/>
                </a:solidFill>
                <a:latin typeface="Microsoft YaHei UI" panose="020B0503020204020204" pitchFamily="34" charset="-122"/>
                <a:ea typeface="Microsoft YaHei UI" panose="020B0503020204020204" pitchFamily="34" charset="-122"/>
              </a:rPr>
              <a:t>单次旋转</a:t>
            </a:r>
            <a:r>
              <a:rPr lang="zh-CN" altLang="en-US" dirty="0">
                <a:latin typeface="Microsoft YaHei UI" panose="020B0503020204020204" pitchFamily="34" charset="-122"/>
                <a:ea typeface="Microsoft YaHei UI" panose="020B0503020204020204" pitchFamily="34" charset="-122"/>
              </a:rPr>
              <a:t>，内旋和外旋可以</a:t>
            </a:r>
            <a:r>
              <a:rPr lang="zh-CN" altLang="en-US" dirty="0">
                <a:solidFill>
                  <a:srgbClr val="FF0000"/>
                </a:solidFill>
                <a:latin typeface="Microsoft YaHei UI" panose="020B0503020204020204" pitchFamily="34" charset="-122"/>
                <a:ea typeface="Microsoft YaHei UI" panose="020B0503020204020204" pitchFamily="34" charset="-122"/>
              </a:rPr>
              <a:t>等价</a:t>
            </a:r>
            <a:endParaRPr lang="en-US" altLang="zh-CN" dirty="0">
              <a:solidFill>
                <a:srgbClr val="FF0000"/>
              </a:solidFill>
              <a:latin typeface="Microsoft YaHei UI" panose="020B0503020204020204" pitchFamily="34" charset="-122"/>
              <a:ea typeface="Microsoft YaHei UI" panose="020B0503020204020204" pitchFamily="34" charset="-122"/>
            </a:endParaRPr>
          </a:p>
          <a:p>
            <a:pPr marL="342900" indent="-342900">
              <a:lnSpc>
                <a:spcPct val="130000"/>
              </a:lnSpc>
              <a:buFont typeface="+mj-lt"/>
              <a:buAutoNum type="arabicPeriod"/>
            </a:pPr>
            <a:r>
              <a:rPr lang="zh-CN" altLang="en-US" dirty="0">
                <a:latin typeface="Microsoft YaHei UI" panose="020B0503020204020204" pitchFamily="34" charset="-122"/>
                <a:ea typeface="Microsoft YaHei UI" panose="020B0503020204020204" pitchFamily="34" charset="-122"/>
              </a:rPr>
              <a:t>这是外旋和内旋的基础</a:t>
            </a:r>
            <a:endParaRPr lang="en-US" altLang="zh-CN" dirty="0">
              <a:latin typeface="Microsoft YaHei UI" panose="020B0503020204020204" pitchFamily="34" charset="-122"/>
              <a:ea typeface="Microsoft YaHei UI" panose="020B0503020204020204" pitchFamily="34" charset="-122"/>
            </a:endParaRPr>
          </a:p>
        </p:txBody>
      </p:sp>
      <p:pic>
        <p:nvPicPr>
          <p:cNvPr id="4" name="图片 3"/>
          <p:cNvPicPr>
            <a:picLocks noChangeAspect="1"/>
          </p:cNvPicPr>
          <p:nvPr/>
        </p:nvPicPr>
        <p:blipFill>
          <a:blip r:embed="rId1"/>
          <a:stretch>
            <a:fillRect/>
          </a:stretch>
        </p:blipFill>
        <p:spPr>
          <a:xfrm>
            <a:off x="1393694" y="1550046"/>
            <a:ext cx="9404612" cy="3861603"/>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三维坐标系</a:t>
            </a:r>
            <a:r>
              <a:rPr lang="en-US" altLang="zh-CN" sz="4000" cap="none" dirty="0"/>
              <a:t>——</a:t>
            </a:r>
            <a:r>
              <a:rPr lang="zh-CN" altLang="en-US" sz="4000" cap="none" dirty="0"/>
              <a:t>内旋</a:t>
            </a:r>
            <a:endParaRPr lang="zh-CN" altLang="en-US" sz="4000" cap="none" dirty="0"/>
          </a:p>
        </p:txBody>
      </p:sp>
      <p:pic>
        <p:nvPicPr>
          <p:cNvPr id="5" name="图片 4"/>
          <p:cNvPicPr>
            <a:picLocks noChangeAspect="1"/>
          </p:cNvPicPr>
          <p:nvPr/>
        </p:nvPicPr>
        <p:blipFill>
          <a:blip r:embed="rId1"/>
          <a:stretch>
            <a:fillRect/>
          </a:stretch>
        </p:blipFill>
        <p:spPr>
          <a:xfrm>
            <a:off x="1176337" y="2777387"/>
            <a:ext cx="9839325" cy="187017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三维坐标系</a:t>
            </a:r>
            <a:r>
              <a:rPr lang="en-US" altLang="zh-CN" sz="4000" cap="none" dirty="0"/>
              <a:t>——</a:t>
            </a:r>
            <a:r>
              <a:rPr lang="zh-CN" altLang="en-US" sz="4000" cap="none" dirty="0"/>
              <a:t>外旋</a:t>
            </a:r>
            <a:endParaRPr lang="zh-CN" altLang="en-US" sz="4000" cap="none" dirty="0"/>
          </a:p>
        </p:txBody>
      </p:sp>
      <p:pic>
        <p:nvPicPr>
          <p:cNvPr id="4" name="图片 3"/>
          <p:cNvPicPr>
            <a:picLocks noChangeAspect="1"/>
          </p:cNvPicPr>
          <p:nvPr/>
        </p:nvPicPr>
        <p:blipFill>
          <a:blip r:embed="rId1"/>
          <a:stretch>
            <a:fillRect/>
          </a:stretch>
        </p:blipFill>
        <p:spPr>
          <a:xfrm>
            <a:off x="581025" y="2424112"/>
            <a:ext cx="11029950" cy="2009775"/>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34365" y="594995"/>
            <a:ext cx="5600700" cy="4201160"/>
          </a:xfrm>
        </p:spPr>
      </p:pic>
      <p:pic>
        <p:nvPicPr>
          <p:cNvPr id="3" name="图片 2"/>
          <p:cNvPicPr>
            <a:picLocks noChangeAspect="1"/>
          </p:cNvPicPr>
          <p:nvPr/>
        </p:nvPicPr>
        <p:blipFill>
          <a:blip r:embed="rId2"/>
          <a:stretch>
            <a:fillRect/>
          </a:stretch>
        </p:blipFill>
        <p:spPr>
          <a:xfrm>
            <a:off x="5055235" y="1899920"/>
            <a:ext cx="6834505" cy="3997960"/>
          </a:xfrm>
          <a:prstGeom prst="rect">
            <a:avLst/>
          </a:prstGeom>
        </p:spPr>
      </p:pic>
      <p:sp>
        <p:nvSpPr>
          <p:cNvPr id="2" name="文本框 1"/>
          <p:cNvSpPr txBox="1"/>
          <p:nvPr/>
        </p:nvSpPr>
        <p:spPr>
          <a:xfrm>
            <a:off x="3843020" y="4657725"/>
            <a:ext cx="4064000" cy="368300"/>
          </a:xfrm>
          <a:prstGeom prst="rect">
            <a:avLst/>
          </a:prstGeom>
          <a:noFill/>
        </p:spPr>
        <p:txBody>
          <a:bodyPr wrap="square" rtlCol="0">
            <a:spAutoFit/>
          </a:bodyPr>
          <a:p>
            <a:r>
              <a:rPr lang="en-US" altLang="zh-CN"/>
              <a:t>imu</a:t>
            </a:r>
            <a:r>
              <a:rPr lang="zh-CN" altLang="en-US"/>
              <a:t>坐标系</a:t>
            </a:r>
            <a:endParaRPr lang="zh-CN" altLang="en-US"/>
          </a:p>
        </p:txBody>
      </p:sp>
      <p:pic>
        <p:nvPicPr>
          <p:cNvPr id="4" name="图片 3"/>
          <p:cNvPicPr>
            <a:picLocks noChangeAspect="1"/>
          </p:cNvPicPr>
          <p:nvPr/>
        </p:nvPicPr>
        <p:blipFill>
          <a:blip r:embed="rId3"/>
          <a:stretch>
            <a:fillRect/>
          </a:stretch>
        </p:blipFill>
        <p:spPr>
          <a:xfrm>
            <a:off x="409575" y="5732780"/>
            <a:ext cx="6240780" cy="96012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432935" y="2506980"/>
            <a:ext cx="4064000" cy="922020"/>
          </a:xfrm>
          <a:prstGeom prst="rect">
            <a:avLst/>
          </a:prstGeom>
          <a:noFill/>
        </p:spPr>
        <p:txBody>
          <a:bodyPr wrap="square" rtlCol="0">
            <a:spAutoFit/>
          </a:bodyPr>
          <a:p>
            <a:r>
              <a:rPr lang="zh-CN" altLang="en-US" sz="5400"/>
              <a:t>相机模型</a:t>
            </a:r>
            <a:endParaRPr lang="zh-CN" altLang="en-US" sz="5400"/>
          </a:p>
        </p:txBody>
      </p:sp>
      <p:sp>
        <p:nvSpPr>
          <p:cNvPr id="20" name="圆角矩形 19"/>
          <p:cNvSpPr/>
          <p:nvPr/>
        </p:nvSpPr>
        <p:spPr>
          <a:xfrm>
            <a:off x="315913" y="296863"/>
            <a:ext cx="3935413" cy="1033463"/>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solvepnp</a:t>
            </a:r>
            <a:r>
              <a:rPr lang="zh-CN" altLang="en-US" strike="noStrike" noProof="1">
                <a:solidFill>
                  <a:schemeClr val="tx1"/>
                </a:solidFill>
                <a:sym typeface="+mn-ea"/>
              </a:rPr>
              <a:t>根据角点，装甲板物理模型和相机内外参得到装甲板位置和</a:t>
            </a:r>
            <a:r>
              <a:rPr lang="en-US" altLang="zh-CN" strike="noStrike" noProof="1">
                <a:solidFill>
                  <a:schemeClr val="tx1"/>
                </a:solidFill>
                <a:sym typeface="+mn-ea"/>
              </a:rPr>
              <a:t>yaw</a:t>
            </a:r>
            <a:r>
              <a:rPr lang="zh-CN" altLang="en-US" strike="noStrike" noProof="1">
                <a:solidFill>
                  <a:schemeClr val="tx1"/>
                </a:solidFill>
                <a:sym typeface="+mn-ea"/>
              </a:rPr>
              <a:t>角（相机系）</a:t>
            </a:r>
            <a:endParaRPr lang="zh-CN" altLang="en-US" strike="noStrike" noProof="1">
              <a:solidFill>
                <a:schemeClr val="tx1"/>
              </a:solidFill>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9697" name="图片 1"/>
          <p:cNvPicPr>
            <a:picLocks noChangeAspect="1"/>
          </p:cNvPicPr>
          <p:nvPr/>
        </p:nvPicPr>
        <p:blipFill>
          <a:blip r:embed="rId1"/>
          <a:stretch>
            <a:fillRect/>
          </a:stretch>
        </p:blipFill>
        <p:spPr>
          <a:xfrm>
            <a:off x="1008380" y="622935"/>
            <a:ext cx="9397365" cy="5182870"/>
          </a:xfrm>
          <a:prstGeom prst="rect">
            <a:avLst/>
          </a:prstGeom>
          <a:noFill/>
          <a:ln w="9525">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466215" y="635000"/>
            <a:ext cx="8881745" cy="527748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09040" y="813435"/>
            <a:ext cx="9154795" cy="495681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639695" y="1394460"/>
            <a:ext cx="6758940" cy="4069715"/>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18515" y="937260"/>
            <a:ext cx="9874250" cy="4418330"/>
          </a:xfrm>
          <a:prstGeom prst="rect">
            <a:avLst/>
          </a:prstGeom>
        </p:spPr>
      </p:pic>
      <p:pic>
        <p:nvPicPr>
          <p:cNvPr id="3" name="图片 2"/>
          <p:cNvPicPr>
            <a:picLocks noChangeAspect="1"/>
          </p:cNvPicPr>
          <p:nvPr/>
        </p:nvPicPr>
        <p:blipFill>
          <a:blip r:embed="rId2"/>
          <a:stretch>
            <a:fillRect/>
          </a:stretch>
        </p:blipFill>
        <p:spPr>
          <a:xfrm>
            <a:off x="8586470" y="225425"/>
            <a:ext cx="3495675" cy="2266950"/>
          </a:xfrm>
          <a:prstGeom prst="rect">
            <a:avLst/>
          </a:prstGeom>
        </p:spPr>
      </p:pic>
      <p:sp>
        <p:nvSpPr>
          <p:cNvPr id="4" name="文本框 3"/>
          <p:cNvSpPr txBox="1"/>
          <p:nvPr/>
        </p:nvSpPr>
        <p:spPr>
          <a:xfrm>
            <a:off x="582930" y="405130"/>
            <a:ext cx="4064000" cy="521970"/>
          </a:xfrm>
          <a:prstGeom prst="rect">
            <a:avLst/>
          </a:prstGeom>
          <a:noFill/>
        </p:spPr>
        <p:txBody>
          <a:bodyPr wrap="square" rtlCol="0">
            <a:spAutoFit/>
          </a:bodyPr>
          <a:p>
            <a:r>
              <a:rPr lang="zh-CN" altLang="en-US" sz="2800"/>
              <a:t>内参矩阵</a:t>
            </a:r>
            <a:endParaRPr lang="zh-CN" altLang="en-US" sz="2800"/>
          </a:p>
        </p:txBody>
      </p:sp>
      <p:pic>
        <p:nvPicPr>
          <p:cNvPr id="5" name="图片 4"/>
          <p:cNvPicPr>
            <a:picLocks noChangeAspect="1"/>
          </p:cNvPicPr>
          <p:nvPr/>
        </p:nvPicPr>
        <p:blipFill>
          <a:blip r:embed="rId3"/>
          <a:stretch>
            <a:fillRect/>
          </a:stretch>
        </p:blipFill>
        <p:spPr>
          <a:xfrm>
            <a:off x="582930" y="5219700"/>
            <a:ext cx="6846570" cy="1209675"/>
          </a:xfrm>
          <a:prstGeom prst="rect">
            <a:avLst/>
          </a:prstGeom>
        </p:spPr>
      </p:pic>
      <p:pic>
        <p:nvPicPr>
          <p:cNvPr id="6" name="图片 5"/>
          <p:cNvPicPr/>
          <p:nvPr/>
        </p:nvPicPr>
        <p:blipFill>
          <a:blip r:embed="rId4"/>
          <a:stretch>
            <a:fillRect/>
          </a:stretch>
        </p:blipFill>
        <p:spPr>
          <a:xfrm>
            <a:off x="8349615" y="5614670"/>
            <a:ext cx="1560195" cy="97472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39420" y="673735"/>
            <a:ext cx="10230485" cy="5506085"/>
          </a:xfrm>
          <a:prstGeom prst="rect">
            <a:avLst/>
          </a:prstGeom>
        </p:spPr>
      </p:pic>
      <p:pic>
        <p:nvPicPr>
          <p:cNvPr id="3" name="图片 2"/>
          <p:cNvPicPr>
            <a:picLocks noChangeAspect="1"/>
          </p:cNvPicPr>
          <p:nvPr/>
        </p:nvPicPr>
        <p:blipFill>
          <a:blip r:embed="rId2"/>
          <a:stretch>
            <a:fillRect/>
          </a:stretch>
        </p:blipFill>
        <p:spPr>
          <a:xfrm>
            <a:off x="5415915" y="5085080"/>
            <a:ext cx="6189345" cy="674370"/>
          </a:xfrm>
          <a:prstGeom prst="rect">
            <a:avLst/>
          </a:prstGeom>
        </p:spPr>
      </p:pic>
      <p:sp>
        <p:nvSpPr>
          <p:cNvPr id="4" name="文本框 3"/>
          <p:cNvSpPr txBox="1"/>
          <p:nvPr/>
        </p:nvSpPr>
        <p:spPr>
          <a:xfrm>
            <a:off x="330200" y="151765"/>
            <a:ext cx="4064000" cy="521970"/>
          </a:xfrm>
          <a:prstGeom prst="rect">
            <a:avLst/>
          </a:prstGeom>
          <a:noFill/>
        </p:spPr>
        <p:txBody>
          <a:bodyPr wrap="square" rtlCol="0">
            <a:spAutoFit/>
          </a:bodyPr>
          <a:p>
            <a:r>
              <a:rPr lang="zh-CN" altLang="en-US" sz="2800"/>
              <a:t>畸变系数</a:t>
            </a:r>
            <a:endParaRPr lang="zh-CN" altLang="en-US" sz="2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05460" y="365760"/>
            <a:ext cx="4064000" cy="583565"/>
          </a:xfrm>
          <a:prstGeom prst="rect">
            <a:avLst/>
          </a:prstGeom>
          <a:noFill/>
        </p:spPr>
        <p:txBody>
          <a:bodyPr wrap="square" rtlCol="0">
            <a:spAutoFit/>
          </a:bodyPr>
          <a:p>
            <a:r>
              <a:rPr lang="zh-CN" altLang="en-US" sz="3200"/>
              <a:t>外参矩阵（非广义）</a:t>
            </a:r>
            <a:endParaRPr lang="zh-CN" altLang="en-US" sz="3200"/>
          </a:p>
        </p:txBody>
      </p:sp>
      <p:pic>
        <p:nvPicPr>
          <p:cNvPr id="3" name="图片 2"/>
          <p:cNvPicPr>
            <a:picLocks noChangeAspect="1"/>
          </p:cNvPicPr>
          <p:nvPr/>
        </p:nvPicPr>
        <p:blipFill>
          <a:blip r:embed="rId1"/>
          <a:stretch>
            <a:fillRect/>
          </a:stretch>
        </p:blipFill>
        <p:spPr>
          <a:xfrm>
            <a:off x="1158875" y="1581785"/>
            <a:ext cx="8841740" cy="1670685"/>
          </a:xfrm>
          <a:prstGeom prst="rect">
            <a:avLst/>
          </a:prstGeom>
        </p:spPr>
      </p:pic>
      <p:pic>
        <p:nvPicPr>
          <p:cNvPr id="5" name="图片 4"/>
          <p:cNvPicPr>
            <a:picLocks noChangeAspect="1"/>
          </p:cNvPicPr>
          <p:nvPr/>
        </p:nvPicPr>
        <p:blipFill>
          <a:blip r:embed="rId2"/>
          <a:stretch>
            <a:fillRect/>
          </a:stretch>
        </p:blipFill>
        <p:spPr>
          <a:xfrm>
            <a:off x="1349375" y="3710305"/>
            <a:ext cx="7650480" cy="212153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文本框 1"/>
          <p:cNvSpPr txBox="1"/>
          <p:nvPr/>
        </p:nvSpPr>
        <p:spPr>
          <a:xfrm>
            <a:off x="3921125" y="2498725"/>
            <a:ext cx="4064000" cy="1016000"/>
          </a:xfrm>
          <a:prstGeom prst="rect">
            <a:avLst/>
          </a:prstGeom>
          <a:noFill/>
          <a:ln w="9525">
            <a:noFill/>
          </a:ln>
        </p:spPr>
        <p:txBody>
          <a:bodyPr wrap="square" anchor="t" anchorCtr="0">
            <a:spAutoFit/>
          </a:bodyPr>
          <a:p>
            <a:r>
              <a:rPr lang="en-US" altLang="zh-CN" sz="6000">
                <a:latin typeface="Calibri" charset="0"/>
                <a:ea typeface="SimSun" pitchFamily="2" charset="-122"/>
              </a:rPr>
              <a:t>solvepnp</a:t>
            </a:r>
            <a:endParaRPr lang="en-US" altLang="zh-CN" sz="6000">
              <a:latin typeface="Calibri" charset="0"/>
              <a:ea typeface="SimSun" pitchFamily="2" charset="-122"/>
            </a:endParaRPr>
          </a:p>
        </p:txBody>
      </p:sp>
      <p:sp>
        <p:nvSpPr>
          <p:cNvPr id="20" name="圆角矩形 19"/>
          <p:cNvSpPr/>
          <p:nvPr/>
        </p:nvSpPr>
        <p:spPr>
          <a:xfrm>
            <a:off x="315913" y="296863"/>
            <a:ext cx="3935413" cy="1033463"/>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solvepnp</a:t>
            </a:r>
            <a:r>
              <a:rPr lang="zh-CN" altLang="en-US" strike="noStrike" noProof="1">
                <a:solidFill>
                  <a:schemeClr val="tx1"/>
                </a:solidFill>
                <a:sym typeface="+mn-ea"/>
              </a:rPr>
              <a:t>根据角点，装甲板物理模型和相机内外参得到装甲板位置和</a:t>
            </a:r>
            <a:r>
              <a:rPr lang="en-US" altLang="zh-CN" strike="noStrike" noProof="1">
                <a:solidFill>
                  <a:schemeClr val="tx1"/>
                </a:solidFill>
                <a:sym typeface="+mn-ea"/>
              </a:rPr>
              <a:t>yaw</a:t>
            </a:r>
            <a:r>
              <a:rPr lang="zh-CN" altLang="en-US" strike="noStrike" noProof="1">
                <a:solidFill>
                  <a:schemeClr val="tx1"/>
                </a:solidFill>
                <a:sym typeface="+mn-ea"/>
              </a:rPr>
              <a:t>角（相机系）</a:t>
            </a:r>
            <a:endParaRPr lang="zh-CN" altLang="en-US" strike="noStrike" noProof="1">
              <a:solidFill>
                <a:schemeClr val="tx1"/>
              </a:solidFill>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86055" y="175895"/>
            <a:ext cx="4380230" cy="2964815"/>
          </a:xfrm>
          <a:prstGeom prst="rect">
            <a:avLst/>
          </a:prstGeom>
        </p:spPr>
      </p:pic>
      <p:pic>
        <p:nvPicPr>
          <p:cNvPr id="3" name="图片 2"/>
          <p:cNvPicPr>
            <a:picLocks noChangeAspect="1"/>
          </p:cNvPicPr>
          <p:nvPr/>
        </p:nvPicPr>
        <p:blipFill>
          <a:blip r:embed="rId2"/>
          <a:stretch>
            <a:fillRect/>
          </a:stretch>
        </p:blipFill>
        <p:spPr>
          <a:xfrm>
            <a:off x="3695700" y="2446020"/>
            <a:ext cx="8448040" cy="4006215"/>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45870" y="2025015"/>
            <a:ext cx="8418830" cy="3566160"/>
          </a:xfrm>
          <a:prstGeom prst="rect">
            <a:avLst/>
          </a:prstGeom>
        </p:spPr>
      </p:pic>
      <p:sp>
        <p:nvSpPr>
          <p:cNvPr id="3" name="文本框 2"/>
          <p:cNvSpPr txBox="1"/>
          <p:nvPr/>
        </p:nvSpPr>
        <p:spPr>
          <a:xfrm>
            <a:off x="485775" y="618490"/>
            <a:ext cx="6260465" cy="645160"/>
          </a:xfrm>
          <a:prstGeom prst="rect">
            <a:avLst/>
          </a:prstGeom>
          <a:noFill/>
        </p:spPr>
        <p:txBody>
          <a:bodyPr wrap="square" rtlCol="0">
            <a:spAutoFit/>
          </a:bodyPr>
          <a:p>
            <a:r>
              <a:rPr lang="zh-CN" altLang="en-US" sz="3600"/>
              <a:t>结合相机模型</a:t>
            </a:r>
            <a:r>
              <a:rPr lang="en-US" altLang="zh-CN" sz="3600"/>
              <a:t>-&gt;</a:t>
            </a:r>
            <a:r>
              <a:rPr lang="zh-CN" altLang="en-US" sz="3600"/>
              <a:t>像素坐标系</a:t>
            </a:r>
            <a:endParaRPr lang="zh-CN" altLang="en-US" sz="36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rPr>
              <a:t>Perspective n Points</a:t>
            </a:r>
            <a:endParaRPr lang="en-US" altLang="zh-CN" dirty="0">
              <a:solidFill>
                <a:schemeClr val="bg1"/>
              </a:solidFill>
            </a:endParaRPr>
          </a:p>
        </p:txBody>
      </p:sp>
      <p:sp>
        <p:nvSpPr>
          <p:cNvPr id="3" name="内容占位符 2"/>
          <p:cNvSpPr>
            <a:spLocks noGrp="1"/>
          </p:cNvSpPr>
          <p:nvPr>
            <p:ph idx="1"/>
          </p:nvPr>
        </p:nvSpPr>
        <p:spPr>
          <a:xfrm>
            <a:off x="838200" y="1825625"/>
            <a:ext cx="6589373" cy="4351338"/>
          </a:xfrm>
        </p:spPr>
        <p:txBody>
          <a:bodyPr>
            <a:normAutofit/>
          </a:bodyPr>
          <a:lstStyle/>
          <a:p>
            <a:r>
              <a:rPr lang="zh-CN" altLang="en-US" sz="2000" dirty="0">
                <a:solidFill>
                  <a:schemeClr val="bg1"/>
                </a:solidFill>
              </a:rPr>
              <a:t>相对应的  </a:t>
            </a:r>
            <a:r>
              <a:rPr lang="en-US" altLang="zh-CN" sz="2000" dirty="0">
                <a:solidFill>
                  <a:schemeClr val="bg1"/>
                </a:solidFill>
              </a:rPr>
              <a:t>n </a:t>
            </a:r>
            <a:r>
              <a:rPr lang="zh-CN" altLang="en-US" sz="2000" dirty="0">
                <a:solidFill>
                  <a:schemeClr val="bg1"/>
                </a:solidFill>
              </a:rPr>
              <a:t>个 点</a:t>
            </a:r>
            <a:endParaRPr lang="en-US" altLang="zh-CN" sz="2000" dirty="0">
              <a:solidFill>
                <a:schemeClr val="bg1"/>
              </a:solidFill>
            </a:endParaRPr>
          </a:p>
          <a:p>
            <a:endParaRPr lang="en-US" altLang="zh-CN" sz="2000" dirty="0">
              <a:solidFill>
                <a:schemeClr val="bg1"/>
              </a:solidFill>
            </a:endParaRPr>
          </a:p>
          <a:p>
            <a:r>
              <a:rPr lang="zh-CN" altLang="en-US" sz="2000" dirty="0">
                <a:solidFill>
                  <a:schemeClr val="bg1"/>
                </a:solidFill>
              </a:rPr>
              <a:t>已知相对位置的三维点（世界系）</a:t>
            </a:r>
            <a:endParaRPr lang="en-US" altLang="zh-CN" sz="2000" dirty="0">
              <a:solidFill>
                <a:schemeClr val="bg1"/>
              </a:solidFill>
            </a:endParaRPr>
          </a:p>
          <a:p>
            <a:r>
              <a:rPr lang="zh-CN" altLang="en-US" sz="2000" dirty="0">
                <a:solidFill>
                  <a:schemeClr val="bg1"/>
                </a:solidFill>
              </a:rPr>
              <a:t>以及 </a:t>
            </a:r>
            <a:r>
              <a:rPr lang="zh-CN" altLang="en-US" sz="2000" b="1" dirty="0">
                <a:solidFill>
                  <a:schemeClr val="bg1"/>
                </a:solidFill>
              </a:rPr>
              <a:t>对应的</a:t>
            </a:r>
            <a:r>
              <a:rPr lang="zh-CN" altLang="en-US" sz="2000" dirty="0">
                <a:solidFill>
                  <a:schemeClr val="bg1"/>
                </a:solidFill>
              </a:rPr>
              <a:t> 图像上二维点</a:t>
            </a:r>
            <a:endParaRPr lang="zh-CN" altLang="en-US" sz="2000" dirty="0">
              <a:solidFill>
                <a:schemeClr val="bg1"/>
              </a:solidFill>
            </a:endParaRPr>
          </a:p>
          <a:p>
            <a:endParaRPr lang="zh-CN" altLang="en-US" sz="2000" dirty="0">
              <a:solidFill>
                <a:schemeClr val="bg1"/>
              </a:solidFill>
            </a:endParaRPr>
          </a:p>
          <a:p>
            <a:r>
              <a:rPr lang="zh-CN" altLang="en-US" sz="2000" dirty="0">
                <a:solidFill>
                  <a:schemeClr val="bg1"/>
                </a:solidFill>
              </a:rPr>
              <a:t>求世界坐标系到相机坐标系的变换矩阵</a:t>
            </a:r>
            <a:endParaRPr lang="zh-CN" altLang="en-US" sz="2000" dirty="0">
              <a:solidFill>
                <a:schemeClr val="bg1"/>
              </a:solidFill>
            </a:endParaRPr>
          </a:p>
        </p:txBody>
      </p:sp>
      <p:pic>
        <p:nvPicPr>
          <p:cNvPr id="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98097" y="1451091"/>
            <a:ext cx="3477510" cy="2434257"/>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组合 27"/>
          <p:cNvGrpSpPr/>
          <p:nvPr/>
        </p:nvGrpSpPr>
        <p:grpSpPr>
          <a:xfrm>
            <a:off x="7698097" y="4001294"/>
            <a:ext cx="4105574" cy="2662257"/>
            <a:chOff x="7756988" y="3836018"/>
            <a:chExt cx="4292572" cy="2783516"/>
          </a:xfrm>
        </p:grpSpPr>
        <p:grpSp>
          <p:nvGrpSpPr>
            <p:cNvPr id="6" name="组合 5"/>
            <p:cNvGrpSpPr/>
            <p:nvPr/>
          </p:nvGrpSpPr>
          <p:grpSpPr>
            <a:xfrm>
              <a:off x="7756988" y="3836018"/>
              <a:ext cx="4292572" cy="2783516"/>
              <a:chOff x="5323114" y="1956598"/>
              <a:chExt cx="6716486" cy="4355302"/>
            </a:xfrm>
          </p:grpSpPr>
          <p:pic>
            <p:nvPicPr>
              <p:cNvPr id="7" name="图片 6"/>
              <p:cNvPicPr>
                <a:picLocks noChangeAspect="1"/>
              </p:cNvPicPr>
              <p:nvPr/>
            </p:nvPicPr>
            <p:blipFill rotWithShape="1">
              <a:blip r:embed="rId2"/>
              <a:srcRect l="8544" t="5458" b="15468"/>
              <a:stretch>
                <a:fillRect/>
              </a:stretch>
            </p:blipFill>
            <p:spPr>
              <a:xfrm>
                <a:off x="5323114" y="1956598"/>
                <a:ext cx="6716486" cy="4355302"/>
              </a:xfrm>
              <a:prstGeom prst="rect">
                <a:avLst/>
              </a:prstGeom>
            </p:spPr>
          </p:pic>
          <p:cxnSp>
            <p:nvCxnSpPr>
              <p:cNvPr id="8" name="直线箭头连接符 18"/>
              <p:cNvCxnSpPr/>
              <p:nvPr/>
            </p:nvCxnSpPr>
            <p:spPr>
              <a:xfrm>
                <a:off x="10250585" y="4004756"/>
                <a:ext cx="666963" cy="602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线箭头连接符 19"/>
              <p:cNvCxnSpPr/>
              <p:nvPr/>
            </p:nvCxnSpPr>
            <p:spPr>
              <a:xfrm flipH="1">
                <a:off x="10201763" y="3992845"/>
                <a:ext cx="40312" cy="4052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线箭头连接符 20"/>
              <p:cNvCxnSpPr/>
              <p:nvPr/>
            </p:nvCxnSpPr>
            <p:spPr>
              <a:xfrm flipV="1">
                <a:off x="10233368" y="3918828"/>
                <a:ext cx="250440" cy="926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10016456" y="4207384"/>
                <a:ext cx="370614" cy="584775"/>
              </a:xfrm>
              <a:prstGeom prst="rect">
                <a:avLst/>
              </a:prstGeom>
              <a:noFill/>
            </p:spPr>
            <p:txBody>
              <a:bodyPr wrap="none" rtlCol="0">
                <a:spAutoFit/>
              </a:bodyPr>
              <a:lstStyle/>
              <a:p>
                <a:r>
                  <a:rPr kumimoji="1" lang="en-US" altLang="zh-CN" sz="3200" dirty="0"/>
                  <a:t>y</a:t>
                </a:r>
                <a:endParaRPr kumimoji="1" lang="zh-CN" altLang="en-US" sz="3200" dirty="0"/>
              </a:p>
            </p:txBody>
          </p:sp>
          <p:sp>
            <p:nvSpPr>
              <p:cNvPr id="12" name="文本框 11"/>
              <p:cNvSpPr txBox="1"/>
              <p:nvPr/>
            </p:nvSpPr>
            <p:spPr>
              <a:xfrm>
                <a:off x="10480283" y="3840797"/>
                <a:ext cx="362600" cy="584774"/>
              </a:xfrm>
              <a:prstGeom prst="rect">
                <a:avLst/>
              </a:prstGeom>
              <a:noFill/>
            </p:spPr>
            <p:txBody>
              <a:bodyPr wrap="none" rtlCol="0">
                <a:spAutoFit/>
              </a:bodyPr>
              <a:lstStyle/>
              <a:p>
                <a:r>
                  <a:rPr kumimoji="1" lang="en-US" altLang="zh-CN" sz="3200" dirty="0"/>
                  <a:t>x</a:t>
                </a:r>
                <a:endParaRPr kumimoji="1" lang="zh-CN" altLang="en-US" sz="3200" dirty="0"/>
              </a:p>
            </p:txBody>
          </p:sp>
          <p:sp>
            <p:nvSpPr>
              <p:cNvPr id="13" name="文本框 12"/>
              <p:cNvSpPr txBox="1"/>
              <p:nvPr/>
            </p:nvSpPr>
            <p:spPr>
              <a:xfrm>
                <a:off x="10299101" y="3106123"/>
                <a:ext cx="370615" cy="584775"/>
              </a:xfrm>
              <a:prstGeom prst="rect">
                <a:avLst/>
              </a:prstGeom>
              <a:noFill/>
            </p:spPr>
            <p:txBody>
              <a:bodyPr wrap="square" rtlCol="0">
                <a:spAutoFit/>
              </a:bodyPr>
              <a:lstStyle/>
              <a:p>
                <a:r>
                  <a:rPr kumimoji="1" lang="en-US" altLang="zh-CN" sz="3200" dirty="0"/>
                  <a:t>z</a:t>
                </a:r>
                <a:endParaRPr kumimoji="1" lang="zh-CN" altLang="en-US" sz="3200" dirty="0"/>
              </a:p>
            </p:txBody>
          </p:sp>
          <p:cxnSp>
            <p:nvCxnSpPr>
              <p:cNvPr id="14" name="直线箭头连接符 36"/>
              <p:cNvCxnSpPr/>
              <p:nvPr/>
            </p:nvCxnSpPr>
            <p:spPr>
              <a:xfrm flipV="1">
                <a:off x="7636241" y="4952548"/>
                <a:ext cx="925288" cy="33654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37"/>
              <p:cNvCxnSpPr/>
              <p:nvPr/>
            </p:nvCxnSpPr>
            <p:spPr>
              <a:xfrm>
                <a:off x="7636241" y="5289097"/>
                <a:ext cx="108859" cy="8878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38"/>
              <p:cNvCxnSpPr/>
              <p:nvPr/>
            </p:nvCxnSpPr>
            <p:spPr>
              <a:xfrm>
                <a:off x="7625356" y="5290173"/>
                <a:ext cx="794658" cy="3752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7320056" y="5727125"/>
                <a:ext cx="370614" cy="584775"/>
              </a:xfrm>
              <a:prstGeom prst="rect">
                <a:avLst/>
              </a:prstGeom>
              <a:noFill/>
            </p:spPr>
            <p:txBody>
              <a:bodyPr wrap="none" rtlCol="0">
                <a:spAutoFit/>
              </a:bodyPr>
              <a:lstStyle/>
              <a:p>
                <a:r>
                  <a:rPr kumimoji="1" lang="en-US" altLang="zh-CN" sz="3200" dirty="0"/>
                  <a:t>y</a:t>
                </a:r>
                <a:endParaRPr kumimoji="1" lang="zh-CN" altLang="en-US" sz="3200" dirty="0"/>
              </a:p>
            </p:txBody>
          </p:sp>
          <p:sp>
            <p:nvSpPr>
              <p:cNvPr id="18" name="文本框 17"/>
              <p:cNvSpPr txBox="1"/>
              <p:nvPr/>
            </p:nvSpPr>
            <p:spPr>
              <a:xfrm>
                <a:off x="8430899" y="5403885"/>
                <a:ext cx="362600" cy="584775"/>
              </a:xfrm>
              <a:prstGeom prst="rect">
                <a:avLst/>
              </a:prstGeom>
              <a:noFill/>
            </p:spPr>
            <p:txBody>
              <a:bodyPr wrap="none" rtlCol="0">
                <a:spAutoFit/>
              </a:bodyPr>
              <a:lstStyle/>
              <a:p>
                <a:r>
                  <a:rPr kumimoji="1" lang="en-US" altLang="zh-CN" sz="3200" dirty="0"/>
                  <a:t>x</a:t>
                </a:r>
                <a:endParaRPr kumimoji="1" lang="zh-CN" altLang="en-US" sz="3200" dirty="0"/>
              </a:p>
            </p:txBody>
          </p:sp>
          <p:sp>
            <p:nvSpPr>
              <p:cNvPr id="19" name="文本框 18"/>
              <p:cNvSpPr txBox="1"/>
              <p:nvPr/>
            </p:nvSpPr>
            <p:spPr>
              <a:xfrm>
                <a:off x="8543129" y="4645900"/>
                <a:ext cx="370614" cy="584775"/>
              </a:xfrm>
              <a:prstGeom prst="rect">
                <a:avLst/>
              </a:prstGeom>
              <a:noFill/>
            </p:spPr>
            <p:txBody>
              <a:bodyPr wrap="square" rtlCol="0">
                <a:spAutoFit/>
              </a:bodyPr>
              <a:lstStyle/>
              <a:p>
                <a:r>
                  <a:rPr kumimoji="1" lang="en-US" altLang="zh-CN" sz="3200" dirty="0"/>
                  <a:t>z</a:t>
                </a:r>
                <a:endParaRPr kumimoji="1" lang="zh-CN" altLang="en-US" sz="3200" dirty="0"/>
              </a:p>
            </p:txBody>
          </p:sp>
        </p:grpSp>
        <p:sp>
          <p:nvSpPr>
            <p:cNvPr id="20" name="椭圆 19"/>
            <p:cNvSpPr/>
            <p:nvPr/>
          </p:nvSpPr>
          <p:spPr>
            <a:xfrm>
              <a:off x="10450120" y="4897005"/>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1456899" y="4914671"/>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1427145" y="5323944"/>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0430753" y="5227096"/>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1374034" y="4565690"/>
              <a:ext cx="312906" cy="369332"/>
            </a:xfrm>
            <a:prstGeom prst="rect">
              <a:avLst/>
            </a:prstGeom>
            <a:noFill/>
          </p:spPr>
          <p:txBody>
            <a:bodyPr wrap="none" rtlCol="0">
              <a:spAutoFit/>
            </a:bodyPr>
            <a:lstStyle/>
            <a:p>
              <a:r>
                <a:rPr lang="en-US" altLang="zh-CN" dirty="0"/>
                <a:t>2</a:t>
              </a:r>
              <a:endParaRPr lang="zh-CN" altLang="en-US" dirty="0"/>
            </a:p>
          </p:txBody>
        </p:sp>
        <p:sp>
          <p:nvSpPr>
            <p:cNvPr id="25" name="文本框 24"/>
            <p:cNvSpPr txBox="1"/>
            <p:nvPr/>
          </p:nvSpPr>
          <p:spPr>
            <a:xfrm>
              <a:off x="10300007" y="4512655"/>
              <a:ext cx="312906" cy="369332"/>
            </a:xfrm>
            <a:prstGeom prst="rect">
              <a:avLst/>
            </a:prstGeom>
            <a:noFill/>
          </p:spPr>
          <p:txBody>
            <a:bodyPr wrap="none" rtlCol="0">
              <a:spAutoFit/>
            </a:bodyPr>
            <a:lstStyle/>
            <a:p>
              <a:r>
                <a:rPr lang="en-US" altLang="zh-CN" dirty="0"/>
                <a:t>1</a:t>
              </a:r>
              <a:endParaRPr lang="zh-CN" altLang="en-US" dirty="0"/>
            </a:p>
          </p:txBody>
        </p:sp>
        <p:sp>
          <p:nvSpPr>
            <p:cNvPr id="26" name="文本框 25"/>
            <p:cNvSpPr txBox="1"/>
            <p:nvPr/>
          </p:nvSpPr>
          <p:spPr>
            <a:xfrm>
              <a:off x="11359080" y="5345848"/>
              <a:ext cx="312906" cy="369332"/>
            </a:xfrm>
            <a:prstGeom prst="rect">
              <a:avLst/>
            </a:prstGeom>
            <a:noFill/>
          </p:spPr>
          <p:txBody>
            <a:bodyPr wrap="none" rtlCol="0">
              <a:spAutoFit/>
            </a:bodyPr>
            <a:lstStyle/>
            <a:p>
              <a:r>
                <a:rPr lang="en-US" altLang="zh-CN" dirty="0"/>
                <a:t>3</a:t>
              </a:r>
              <a:endParaRPr lang="zh-CN" altLang="en-US" dirty="0"/>
            </a:p>
          </p:txBody>
        </p:sp>
        <p:sp>
          <p:nvSpPr>
            <p:cNvPr id="27" name="文本框 26"/>
            <p:cNvSpPr txBox="1"/>
            <p:nvPr/>
          </p:nvSpPr>
          <p:spPr>
            <a:xfrm>
              <a:off x="10212693" y="5257132"/>
              <a:ext cx="312906" cy="369332"/>
            </a:xfrm>
            <a:prstGeom prst="rect">
              <a:avLst/>
            </a:prstGeom>
            <a:noFill/>
          </p:spPr>
          <p:txBody>
            <a:bodyPr wrap="none" rtlCol="0">
              <a:spAutoFit/>
            </a:bodyPr>
            <a:lstStyle/>
            <a:p>
              <a:r>
                <a:rPr lang="en-US" altLang="zh-CN" dirty="0"/>
                <a:t>4</a:t>
              </a:r>
              <a:endParaRPr lang="zh-CN" altLang="en-US" dirty="0"/>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chemeClr val="bg1"/>
                </a:solidFill>
              </a:rPr>
              <a:t>cv::</a:t>
            </a:r>
            <a:r>
              <a:rPr lang="en-US" altLang="zh-CN" dirty="0" err="1">
                <a:solidFill>
                  <a:schemeClr val="bg1"/>
                </a:solidFill>
              </a:rPr>
              <a:t>solvePnP</a:t>
            </a:r>
            <a:endParaRPr lang="en-US" altLang="zh-CN" dirty="0" err="1">
              <a:solidFill>
                <a:schemeClr val="bg1"/>
              </a:solidFill>
            </a:endParaRPr>
          </a:p>
        </p:txBody>
      </p:sp>
      <p:sp>
        <p:nvSpPr>
          <p:cNvPr id="5" name="文本框 4"/>
          <p:cNvSpPr txBox="1"/>
          <p:nvPr/>
        </p:nvSpPr>
        <p:spPr>
          <a:xfrm>
            <a:off x="5816624" y="2206949"/>
            <a:ext cx="1697901" cy="369332"/>
          </a:xfrm>
          <a:prstGeom prst="rect">
            <a:avLst/>
          </a:prstGeom>
          <a:noFill/>
        </p:spPr>
        <p:txBody>
          <a:bodyPr wrap="none" rtlCol="0">
            <a:spAutoFit/>
          </a:bodyPr>
          <a:lstStyle/>
          <a:p>
            <a:r>
              <a:rPr lang="zh-CN" altLang="en-US" dirty="0">
                <a:solidFill>
                  <a:schemeClr val="bg1"/>
                </a:solidFill>
              </a:rPr>
              <a:t>图像上的</a:t>
            </a:r>
            <a:r>
              <a:rPr lang="en-US" altLang="zh-CN" dirty="0">
                <a:solidFill>
                  <a:schemeClr val="bg1"/>
                </a:solidFill>
              </a:rPr>
              <a:t>n</a:t>
            </a:r>
            <a:r>
              <a:rPr lang="zh-CN" altLang="en-US" dirty="0">
                <a:solidFill>
                  <a:schemeClr val="bg1"/>
                </a:solidFill>
              </a:rPr>
              <a:t>个点</a:t>
            </a:r>
            <a:endParaRPr lang="zh-CN" altLang="en-US" dirty="0">
              <a:solidFill>
                <a:schemeClr val="bg1"/>
              </a:solidFill>
            </a:endParaRPr>
          </a:p>
        </p:txBody>
      </p:sp>
      <p:pic>
        <p:nvPicPr>
          <p:cNvPr id="6" name="图片 5"/>
          <p:cNvPicPr>
            <a:picLocks noChangeAspect="1"/>
          </p:cNvPicPr>
          <p:nvPr/>
        </p:nvPicPr>
        <p:blipFill rotWithShape="1">
          <a:blip r:embed="rId1"/>
          <a:srcRect l="442" t="463" r="23125" b="60761"/>
          <a:stretch>
            <a:fillRect/>
          </a:stretch>
        </p:blipFill>
        <p:spPr>
          <a:xfrm>
            <a:off x="952820" y="3136149"/>
            <a:ext cx="7896500" cy="3106569"/>
          </a:xfrm>
          <a:prstGeom prst="rect">
            <a:avLst/>
          </a:prstGeom>
        </p:spPr>
      </p:pic>
      <p:sp>
        <p:nvSpPr>
          <p:cNvPr id="21" name="矩形: 圆角 20"/>
          <p:cNvSpPr/>
          <p:nvPr/>
        </p:nvSpPr>
        <p:spPr>
          <a:xfrm>
            <a:off x="2401313" y="3696093"/>
            <a:ext cx="1846030" cy="1085807"/>
          </a:xfrm>
          <a:prstGeom prst="roundRect">
            <a:avLst>
              <a:gd name="adj" fmla="val 6316"/>
            </a:avLst>
          </a:prstGeom>
          <a:noFill/>
          <a:ln w="19050">
            <a:solidFill>
              <a:srgbClr val="FF656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spc="-150" dirty="0">
              <a:latin typeface="JetBrains Mono SemiBold" panose="02000009000000000000" pitchFamily="49" charset="0"/>
              <a:ea typeface="JetBrains Mono SemiBold" panose="02000009000000000000" pitchFamily="49" charset="0"/>
              <a:cs typeface="JetBrains Mono SemiBold" panose="02000009000000000000" pitchFamily="49" charset="0"/>
            </a:endParaRPr>
          </a:p>
        </p:txBody>
      </p:sp>
      <p:sp>
        <p:nvSpPr>
          <p:cNvPr id="22" name="矩形: 圆角 21"/>
          <p:cNvSpPr/>
          <p:nvPr/>
        </p:nvSpPr>
        <p:spPr>
          <a:xfrm>
            <a:off x="2413026" y="4833500"/>
            <a:ext cx="1846029" cy="452539"/>
          </a:xfrm>
          <a:prstGeom prst="roundRect">
            <a:avLst>
              <a:gd name="adj" fmla="val 6316"/>
            </a:avLst>
          </a:prstGeom>
          <a:noFill/>
          <a:ln w="19050">
            <a:solidFill>
              <a:srgbClr val="FF6565"/>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sz="2400" spc="-150" dirty="0">
              <a:latin typeface="JetBrains Mono SemiBold" panose="02000009000000000000" pitchFamily="49" charset="0"/>
              <a:ea typeface="JetBrains Mono SemiBold" panose="02000009000000000000" pitchFamily="49" charset="0"/>
              <a:cs typeface="JetBrains Mono SemiBold" panose="02000009000000000000" pitchFamily="49" charset="0"/>
            </a:endParaRPr>
          </a:p>
        </p:txBody>
      </p:sp>
      <p:sp>
        <p:nvSpPr>
          <p:cNvPr id="23" name="文本框 22"/>
          <p:cNvSpPr txBox="1"/>
          <p:nvPr/>
        </p:nvSpPr>
        <p:spPr>
          <a:xfrm>
            <a:off x="1766696" y="4054330"/>
            <a:ext cx="646331" cy="369332"/>
          </a:xfrm>
          <a:prstGeom prst="rect">
            <a:avLst/>
          </a:prstGeom>
          <a:noFill/>
        </p:spPr>
        <p:txBody>
          <a:bodyPr wrap="none" rtlCol="0">
            <a:spAutoFit/>
          </a:bodyPr>
          <a:lstStyle/>
          <a:p>
            <a:r>
              <a:rPr lang="zh-CN" altLang="en-US" dirty="0">
                <a:solidFill>
                  <a:schemeClr val="bg2">
                    <a:lumMod val="60000"/>
                    <a:lumOff val="40000"/>
                  </a:schemeClr>
                </a:solidFill>
              </a:rPr>
              <a:t>输入</a:t>
            </a:r>
            <a:endParaRPr lang="zh-CN" altLang="en-US" dirty="0">
              <a:solidFill>
                <a:schemeClr val="bg2">
                  <a:lumMod val="60000"/>
                  <a:lumOff val="40000"/>
                </a:schemeClr>
              </a:solidFill>
            </a:endParaRPr>
          </a:p>
        </p:txBody>
      </p:sp>
      <p:sp>
        <p:nvSpPr>
          <p:cNvPr id="24" name="文本框 23"/>
          <p:cNvSpPr txBox="1"/>
          <p:nvPr/>
        </p:nvSpPr>
        <p:spPr>
          <a:xfrm>
            <a:off x="1766695" y="4919666"/>
            <a:ext cx="646331" cy="369332"/>
          </a:xfrm>
          <a:prstGeom prst="rect">
            <a:avLst/>
          </a:prstGeom>
          <a:noFill/>
        </p:spPr>
        <p:txBody>
          <a:bodyPr wrap="none" rtlCol="0">
            <a:spAutoFit/>
          </a:bodyPr>
          <a:lstStyle/>
          <a:p>
            <a:r>
              <a:rPr lang="zh-CN" altLang="en-US" dirty="0">
                <a:solidFill>
                  <a:schemeClr val="bg2">
                    <a:lumMod val="60000"/>
                    <a:lumOff val="40000"/>
                  </a:schemeClr>
                </a:solidFill>
              </a:rPr>
              <a:t>输出</a:t>
            </a:r>
            <a:endParaRPr lang="zh-CN" altLang="en-US" dirty="0">
              <a:solidFill>
                <a:schemeClr val="bg2">
                  <a:lumMod val="60000"/>
                  <a:lumOff val="40000"/>
                </a:schemeClr>
              </a:solidFill>
            </a:endParaRPr>
          </a:p>
        </p:txBody>
      </p:sp>
      <p:cxnSp>
        <p:nvCxnSpPr>
          <p:cNvPr id="4" name="直接箭头连接符 3"/>
          <p:cNvCxnSpPr/>
          <p:nvPr/>
        </p:nvCxnSpPr>
        <p:spPr>
          <a:xfrm flipV="1">
            <a:off x="4206010" y="1841957"/>
            <a:ext cx="1336146" cy="1948274"/>
          </a:xfrm>
          <a:prstGeom prst="straightConnector1">
            <a:avLst/>
          </a:prstGeom>
          <a:ln w="444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0" name="文本框 29"/>
          <p:cNvSpPr txBox="1"/>
          <p:nvPr/>
        </p:nvSpPr>
        <p:spPr>
          <a:xfrm>
            <a:off x="5660329" y="1690688"/>
            <a:ext cx="2621230" cy="369332"/>
          </a:xfrm>
          <a:prstGeom prst="rect">
            <a:avLst/>
          </a:prstGeom>
          <a:noFill/>
        </p:spPr>
        <p:txBody>
          <a:bodyPr wrap="none" rtlCol="0">
            <a:spAutoFit/>
          </a:bodyPr>
          <a:lstStyle/>
          <a:p>
            <a:r>
              <a:rPr lang="zh-CN" altLang="en-US" dirty="0">
                <a:solidFill>
                  <a:schemeClr val="bg1"/>
                </a:solidFill>
              </a:rPr>
              <a:t>物体局部坐标系的</a:t>
            </a:r>
            <a:r>
              <a:rPr lang="en-US" altLang="zh-CN" dirty="0">
                <a:solidFill>
                  <a:schemeClr val="bg1"/>
                </a:solidFill>
              </a:rPr>
              <a:t>n</a:t>
            </a:r>
            <a:r>
              <a:rPr lang="zh-CN" altLang="en-US" dirty="0">
                <a:solidFill>
                  <a:schemeClr val="bg1"/>
                </a:solidFill>
              </a:rPr>
              <a:t>个点</a:t>
            </a:r>
            <a:endParaRPr lang="zh-CN" altLang="en-US" dirty="0">
              <a:solidFill>
                <a:schemeClr val="bg1"/>
              </a:solidFill>
            </a:endParaRPr>
          </a:p>
        </p:txBody>
      </p:sp>
      <p:cxnSp>
        <p:nvCxnSpPr>
          <p:cNvPr id="32" name="直接箭头连接符 31"/>
          <p:cNvCxnSpPr/>
          <p:nvPr/>
        </p:nvCxnSpPr>
        <p:spPr>
          <a:xfrm flipV="1">
            <a:off x="4170501" y="2506295"/>
            <a:ext cx="1489828" cy="1612660"/>
          </a:xfrm>
          <a:prstGeom prst="straightConnector1">
            <a:avLst/>
          </a:prstGeom>
          <a:ln w="444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a:xfrm flipV="1">
            <a:off x="4170501" y="2879319"/>
            <a:ext cx="2798917" cy="1711964"/>
          </a:xfrm>
          <a:prstGeom prst="straightConnector1">
            <a:avLst/>
          </a:prstGeom>
          <a:ln w="444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p:cNvSpPr txBox="1"/>
          <p:nvPr/>
        </p:nvSpPr>
        <p:spPr>
          <a:xfrm>
            <a:off x="7104571" y="2675663"/>
            <a:ext cx="4108817" cy="369332"/>
          </a:xfrm>
          <a:prstGeom prst="rect">
            <a:avLst/>
          </a:prstGeom>
          <a:noFill/>
        </p:spPr>
        <p:txBody>
          <a:bodyPr wrap="none" rtlCol="0">
            <a:spAutoFit/>
          </a:bodyPr>
          <a:lstStyle/>
          <a:p>
            <a:r>
              <a:rPr lang="zh-CN" altLang="en-US" dirty="0">
                <a:solidFill>
                  <a:schemeClr val="bg1"/>
                </a:solidFill>
              </a:rPr>
              <a:t>与相机有关的参数。我们会提供给你。</a:t>
            </a:r>
            <a:endParaRPr lang="zh-CN" altLang="en-US" dirty="0">
              <a:solidFill>
                <a:schemeClr val="bg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solidFill>
                  <a:schemeClr val="bg1"/>
                </a:solidFill>
              </a:rPr>
              <a:t>solvePnP</a:t>
            </a:r>
            <a:r>
              <a:rPr lang="en-US" altLang="zh-CN" dirty="0">
                <a:solidFill>
                  <a:schemeClr val="bg1"/>
                </a:solidFill>
              </a:rPr>
              <a:t> </a:t>
            </a:r>
            <a:r>
              <a:rPr lang="zh-CN" altLang="en-US" dirty="0">
                <a:solidFill>
                  <a:schemeClr val="bg1"/>
                </a:solidFill>
              </a:rPr>
              <a:t>解出了什么</a:t>
            </a:r>
            <a:endParaRPr lang="zh-CN" altLang="en-US" dirty="0">
              <a:solidFill>
                <a:schemeClr val="bg1"/>
              </a:solidFill>
            </a:endParaRPr>
          </a:p>
        </p:txBody>
      </p:sp>
      <p:sp>
        <p:nvSpPr>
          <p:cNvPr id="3" name="内容占位符 2"/>
          <p:cNvSpPr>
            <a:spLocks noGrp="1"/>
          </p:cNvSpPr>
          <p:nvPr>
            <p:ph idx="1"/>
          </p:nvPr>
        </p:nvSpPr>
        <p:spPr>
          <a:xfrm>
            <a:off x="524099" y="2067456"/>
            <a:ext cx="10515600" cy="3672517"/>
          </a:xfrm>
        </p:spPr>
        <p:txBody>
          <a:bodyPr>
            <a:normAutofit/>
          </a:bodyPr>
          <a:lstStyle/>
          <a:p>
            <a:r>
              <a:rPr lang="en-US" altLang="zh-CN" dirty="0" err="1">
                <a:solidFill>
                  <a:schemeClr val="bg1"/>
                </a:solidFill>
              </a:rPr>
              <a:t>tvec</a:t>
            </a:r>
            <a:r>
              <a:rPr lang="en-US" altLang="zh-CN" dirty="0">
                <a:solidFill>
                  <a:schemeClr val="bg1"/>
                </a:solidFill>
              </a:rPr>
              <a:t> </a:t>
            </a:r>
            <a:r>
              <a:rPr lang="zh-CN" altLang="en-US" dirty="0">
                <a:solidFill>
                  <a:schemeClr val="bg1"/>
                </a:solidFill>
              </a:rPr>
              <a:t>是一个</a:t>
            </a:r>
            <a:r>
              <a:rPr lang="en-US" altLang="zh-CN" dirty="0">
                <a:solidFill>
                  <a:schemeClr val="bg1"/>
                </a:solidFill>
              </a:rPr>
              <a:t>3*1</a:t>
            </a:r>
            <a:r>
              <a:rPr lang="zh-CN" altLang="en-US" dirty="0">
                <a:solidFill>
                  <a:schemeClr val="bg1"/>
                </a:solidFill>
              </a:rPr>
              <a:t>的向量</a:t>
            </a:r>
            <a:endParaRPr lang="en-US" altLang="zh-CN" dirty="0">
              <a:solidFill>
                <a:schemeClr val="bg1"/>
              </a:solidFill>
            </a:endParaRPr>
          </a:p>
          <a:p>
            <a:pPr lvl="1"/>
            <a:r>
              <a:rPr lang="zh-CN" altLang="en-US" dirty="0">
                <a:solidFill>
                  <a:schemeClr val="bg1"/>
                </a:solidFill>
              </a:rPr>
              <a:t>装甲板坐标系的原点在相机坐标系下的位置</a:t>
            </a:r>
            <a:endParaRPr lang="en-US" altLang="zh-CN" dirty="0">
              <a:solidFill>
                <a:schemeClr val="bg1"/>
              </a:solidFill>
            </a:endParaRPr>
          </a:p>
          <a:p>
            <a:pPr lvl="1"/>
            <a:r>
              <a:rPr lang="zh-CN" altLang="en-US" dirty="0">
                <a:solidFill>
                  <a:schemeClr val="bg1"/>
                </a:solidFill>
              </a:rPr>
              <a:t>平移向量</a:t>
            </a:r>
            <a:endParaRPr lang="en-US" altLang="zh-CN" dirty="0">
              <a:solidFill>
                <a:schemeClr val="bg1"/>
              </a:solidFill>
            </a:endParaRPr>
          </a:p>
          <a:p>
            <a:endParaRPr lang="en-US" altLang="zh-CN" dirty="0">
              <a:solidFill>
                <a:schemeClr val="bg1"/>
              </a:solidFill>
            </a:endParaRPr>
          </a:p>
          <a:p>
            <a:r>
              <a:rPr lang="en-US" altLang="zh-CN" dirty="0" err="1">
                <a:solidFill>
                  <a:schemeClr val="bg1"/>
                </a:solidFill>
              </a:rPr>
              <a:t>rvec</a:t>
            </a:r>
            <a:r>
              <a:rPr lang="en-US" altLang="zh-CN" dirty="0">
                <a:solidFill>
                  <a:schemeClr val="bg1"/>
                </a:solidFill>
              </a:rPr>
              <a:t> </a:t>
            </a:r>
            <a:r>
              <a:rPr lang="zh-CN" altLang="en-US" dirty="0">
                <a:solidFill>
                  <a:schemeClr val="bg1"/>
                </a:solidFill>
              </a:rPr>
              <a:t>也是一个</a:t>
            </a:r>
            <a:r>
              <a:rPr lang="en-US" altLang="zh-CN" dirty="0">
                <a:solidFill>
                  <a:schemeClr val="bg1"/>
                </a:solidFill>
              </a:rPr>
              <a:t>3*1</a:t>
            </a:r>
            <a:r>
              <a:rPr lang="zh-CN" altLang="en-US" dirty="0">
                <a:solidFill>
                  <a:schemeClr val="bg1"/>
                </a:solidFill>
              </a:rPr>
              <a:t>的向量</a:t>
            </a:r>
            <a:endParaRPr lang="en-US" altLang="zh-CN" dirty="0">
              <a:solidFill>
                <a:schemeClr val="bg1"/>
              </a:solidFill>
            </a:endParaRPr>
          </a:p>
          <a:p>
            <a:pPr lvl="1"/>
            <a:r>
              <a:rPr lang="en-US" altLang="zh-CN" dirty="0" err="1">
                <a:solidFill>
                  <a:schemeClr val="bg1"/>
                </a:solidFill>
              </a:rPr>
              <a:t>rvec</a:t>
            </a:r>
            <a:r>
              <a:rPr lang="zh-CN" altLang="en-US" dirty="0">
                <a:solidFill>
                  <a:schemeClr val="bg1"/>
                </a:solidFill>
              </a:rPr>
              <a:t>是什么？</a:t>
            </a:r>
            <a:endParaRPr lang="zh-CN" altLang="en-US" dirty="0">
              <a:solidFill>
                <a:schemeClr val="bg1"/>
              </a:solidFill>
            </a:endParaRPr>
          </a:p>
        </p:txBody>
      </p:sp>
      <p:grpSp>
        <p:nvGrpSpPr>
          <p:cNvPr id="17" name="组合 16"/>
          <p:cNvGrpSpPr/>
          <p:nvPr/>
        </p:nvGrpSpPr>
        <p:grpSpPr>
          <a:xfrm>
            <a:off x="7831668" y="2259306"/>
            <a:ext cx="4021995" cy="2608061"/>
            <a:chOff x="5323114" y="1956598"/>
            <a:chExt cx="6716486" cy="4355302"/>
          </a:xfrm>
        </p:grpSpPr>
        <p:pic>
          <p:nvPicPr>
            <p:cNvPr id="4" name="图片 3"/>
            <p:cNvPicPr>
              <a:picLocks noChangeAspect="1"/>
            </p:cNvPicPr>
            <p:nvPr/>
          </p:nvPicPr>
          <p:blipFill rotWithShape="1">
            <a:blip r:embed="rId1"/>
            <a:srcRect l="8544" t="5458" b="15468"/>
            <a:stretch>
              <a:fillRect/>
            </a:stretch>
          </p:blipFill>
          <p:spPr>
            <a:xfrm>
              <a:off x="5323114" y="1956598"/>
              <a:ext cx="6716486" cy="4355302"/>
            </a:xfrm>
            <a:prstGeom prst="rect">
              <a:avLst/>
            </a:prstGeom>
          </p:spPr>
        </p:pic>
        <p:cxnSp>
          <p:nvCxnSpPr>
            <p:cNvPr id="5" name="直线箭头连接符 18"/>
            <p:cNvCxnSpPr/>
            <p:nvPr/>
          </p:nvCxnSpPr>
          <p:spPr>
            <a:xfrm>
              <a:off x="10250585" y="4004756"/>
              <a:ext cx="666963" cy="602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线箭头连接符 19"/>
            <p:cNvCxnSpPr/>
            <p:nvPr/>
          </p:nvCxnSpPr>
          <p:spPr>
            <a:xfrm flipH="1">
              <a:off x="10201763" y="3992845"/>
              <a:ext cx="40312" cy="4052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线箭头连接符 20"/>
            <p:cNvCxnSpPr/>
            <p:nvPr/>
          </p:nvCxnSpPr>
          <p:spPr>
            <a:xfrm flipV="1">
              <a:off x="10233368" y="3918828"/>
              <a:ext cx="250440" cy="926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10016456" y="4207384"/>
              <a:ext cx="370614" cy="584775"/>
            </a:xfrm>
            <a:prstGeom prst="rect">
              <a:avLst/>
            </a:prstGeom>
            <a:noFill/>
          </p:spPr>
          <p:txBody>
            <a:bodyPr wrap="none" rtlCol="0">
              <a:spAutoFit/>
            </a:bodyPr>
            <a:lstStyle/>
            <a:p>
              <a:r>
                <a:rPr kumimoji="1" lang="en-US" altLang="zh-CN" sz="3200" dirty="0"/>
                <a:t>y</a:t>
              </a:r>
              <a:endParaRPr kumimoji="1" lang="zh-CN" altLang="en-US" sz="3200" dirty="0"/>
            </a:p>
          </p:txBody>
        </p:sp>
        <p:sp>
          <p:nvSpPr>
            <p:cNvPr id="9" name="文本框 8"/>
            <p:cNvSpPr txBox="1"/>
            <p:nvPr/>
          </p:nvSpPr>
          <p:spPr>
            <a:xfrm>
              <a:off x="10697205" y="3924856"/>
              <a:ext cx="362600" cy="584775"/>
            </a:xfrm>
            <a:prstGeom prst="rect">
              <a:avLst/>
            </a:prstGeom>
            <a:noFill/>
          </p:spPr>
          <p:txBody>
            <a:bodyPr wrap="none" rtlCol="0">
              <a:spAutoFit/>
            </a:bodyPr>
            <a:lstStyle/>
            <a:p>
              <a:r>
                <a:rPr kumimoji="1" lang="en-US" altLang="zh-CN" sz="3200" dirty="0"/>
                <a:t>x</a:t>
              </a:r>
              <a:endParaRPr kumimoji="1" lang="zh-CN" altLang="en-US" sz="3200" dirty="0"/>
            </a:p>
          </p:txBody>
        </p:sp>
        <p:sp>
          <p:nvSpPr>
            <p:cNvPr id="10" name="文本框 9"/>
            <p:cNvSpPr txBox="1"/>
            <p:nvPr/>
          </p:nvSpPr>
          <p:spPr>
            <a:xfrm>
              <a:off x="10299101" y="3106123"/>
              <a:ext cx="370615" cy="584775"/>
            </a:xfrm>
            <a:prstGeom prst="rect">
              <a:avLst/>
            </a:prstGeom>
            <a:noFill/>
          </p:spPr>
          <p:txBody>
            <a:bodyPr wrap="square" rtlCol="0">
              <a:spAutoFit/>
            </a:bodyPr>
            <a:lstStyle/>
            <a:p>
              <a:r>
                <a:rPr kumimoji="1" lang="en-US" altLang="zh-CN" sz="3200" dirty="0"/>
                <a:t>z</a:t>
              </a:r>
              <a:endParaRPr kumimoji="1" lang="zh-CN" altLang="en-US" sz="3200" dirty="0"/>
            </a:p>
          </p:txBody>
        </p:sp>
        <p:cxnSp>
          <p:nvCxnSpPr>
            <p:cNvPr id="11" name="直线箭头连接符 36"/>
            <p:cNvCxnSpPr/>
            <p:nvPr/>
          </p:nvCxnSpPr>
          <p:spPr>
            <a:xfrm flipV="1">
              <a:off x="7636241" y="4952548"/>
              <a:ext cx="925288" cy="33654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37"/>
            <p:cNvCxnSpPr/>
            <p:nvPr/>
          </p:nvCxnSpPr>
          <p:spPr>
            <a:xfrm>
              <a:off x="7636241" y="5289097"/>
              <a:ext cx="108859" cy="8878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38"/>
            <p:cNvCxnSpPr/>
            <p:nvPr/>
          </p:nvCxnSpPr>
          <p:spPr>
            <a:xfrm>
              <a:off x="7625356" y="5290173"/>
              <a:ext cx="794658" cy="3752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7320056" y="5727125"/>
              <a:ext cx="370614" cy="584775"/>
            </a:xfrm>
            <a:prstGeom prst="rect">
              <a:avLst/>
            </a:prstGeom>
            <a:noFill/>
          </p:spPr>
          <p:txBody>
            <a:bodyPr wrap="none" rtlCol="0">
              <a:spAutoFit/>
            </a:bodyPr>
            <a:lstStyle/>
            <a:p>
              <a:r>
                <a:rPr kumimoji="1" lang="en-US" altLang="zh-CN" sz="3200" dirty="0"/>
                <a:t>y</a:t>
              </a:r>
              <a:endParaRPr kumimoji="1" lang="zh-CN" altLang="en-US" sz="3200" dirty="0"/>
            </a:p>
          </p:txBody>
        </p:sp>
        <p:sp>
          <p:nvSpPr>
            <p:cNvPr id="15" name="文本框 14"/>
            <p:cNvSpPr txBox="1"/>
            <p:nvPr/>
          </p:nvSpPr>
          <p:spPr>
            <a:xfrm>
              <a:off x="8430899" y="5403885"/>
              <a:ext cx="362600" cy="584775"/>
            </a:xfrm>
            <a:prstGeom prst="rect">
              <a:avLst/>
            </a:prstGeom>
            <a:noFill/>
          </p:spPr>
          <p:txBody>
            <a:bodyPr wrap="none" rtlCol="0">
              <a:spAutoFit/>
            </a:bodyPr>
            <a:lstStyle/>
            <a:p>
              <a:r>
                <a:rPr kumimoji="1" lang="en-US" altLang="zh-CN" sz="3200" dirty="0"/>
                <a:t>x</a:t>
              </a:r>
              <a:endParaRPr kumimoji="1" lang="zh-CN" altLang="en-US" sz="3200" dirty="0"/>
            </a:p>
          </p:txBody>
        </p:sp>
        <p:sp>
          <p:nvSpPr>
            <p:cNvPr id="16" name="文本框 15"/>
            <p:cNvSpPr txBox="1"/>
            <p:nvPr/>
          </p:nvSpPr>
          <p:spPr>
            <a:xfrm>
              <a:off x="8543129" y="4645900"/>
              <a:ext cx="370614" cy="584775"/>
            </a:xfrm>
            <a:prstGeom prst="rect">
              <a:avLst/>
            </a:prstGeom>
            <a:noFill/>
          </p:spPr>
          <p:txBody>
            <a:bodyPr wrap="square" rtlCol="0">
              <a:spAutoFit/>
            </a:bodyPr>
            <a:lstStyle/>
            <a:p>
              <a:r>
                <a:rPr kumimoji="1" lang="en-US" altLang="zh-CN" sz="3200" dirty="0"/>
                <a:t>z</a:t>
              </a:r>
              <a:endParaRPr kumimoji="1" lang="zh-CN" altLang="en-US" sz="3200" dirty="0"/>
            </a:p>
          </p:txBody>
        </p:sp>
      </p:gr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err="1">
                <a:solidFill>
                  <a:schemeClr val="bg1"/>
                </a:solidFill>
              </a:rPr>
              <a:t>rvec</a:t>
            </a:r>
            <a:r>
              <a:rPr lang="en-US" altLang="zh-CN" b="1" dirty="0">
                <a:solidFill>
                  <a:schemeClr val="bg1"/>
                </a:solidFill>
              </a:rPr>
              <a:t> </a:t>
            </a:r>
            <a:r>
              <a:rPr lang="zh-CN" altLang="en-US" b="1" dirty="0">
                <a:solidFill>
                  <a:schemeClr val="bg1"/>
                </a:solidFill>
              </a:rPr>
              <a:t>旋转向量</a:t>
            </a:r>
            <a:endParaRPr lang="zh-CN" altLang="en-US" b="1" dirty="0">
              <a:solidFill>
                <a:schemeClr val="bg1"/>
              </a:solidFill>
            </a:endParaRPr>
          </a:p>
        </p:txBody>
      </p:sp>
      <p:pic>
        <p:nvPicPr>
          <p:cNvPr id="4" name="Picture 2" descr="undefine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629684" y="1741488"/>
            <a:ext cx="2129632"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p:cNvSpPr txBox="1"/>
          <p:nvPr/>
        </p:nvSpPr>
        <p:spPr>
          <a:xfrm>
            <a:off x="1716484" y="1982518"/>
            <a:ext cx="6097604" cy="461665"/>
          </a:xfrm>
          <a:prstGeom prst="rect">
            <a:avLst/>
          </a:prstGeom>
          <a:noFill/>
        </p:spPr>
        <p:txBody>
          <a:bodyPr wrap="square">
            <a:spAutoFit/>
          </a:bodyPr>
          <a:lstStyle/>
          <a:p>
            <a:r>
              <a:rPr lang="zh-CN" altLang="en-US" sz="2400" b="1" dirty="0">
                <a:solidFill>
                  <a:srgbClr val="92D050"/>
                </a:solidFill>
              </a:rPr>
              <a:t>旋转向量</a:t>
            </a:r>
            <a:r>
              <a:rPr lang="zh-CN" altLang="en-US" sz="2400" b="1" dirty="0"/>
              <a:t> 也是一种旋转表示方法</a:t>
            </a:r>
            <a:endParaRPr lang="zh-CN" altLang="en-US" sz="2400" dirty="0"/>
          </a:p>
        </p:txBody>
      </p:sp>
      <p:sp>
        <p:nvSpPr>
          <p:cNvPr id="7" name="文本框 6"/>
          <p:cNvSpPr txBox="1"/>
          <p:nvPr/>
        </p:nvSpPr>
        <p:spPr>
          <a:xfrm>
            <a:off x="1716484" y="2689154"/>
            <a:ext cx="6097604" cy="2677656"/>
          </a:xfrm>
          <a:prstGeom prst="rect">
            <a:avLst/>
          </a:prstGeom>
          <a:noFill/>
        </p:spPr>
        <p:txBody>
          <a:bodyPr wrap="square">
            <a:spAutoFit/>
          </a:bodyPr>
          <a:lstStyle/>
          <a:p>
            <a:r>
              <a:rPr lang="zh-CN" altLang="en-US" sz="2400" b="1" dirty="0">
                <a:solidFill>
                  <a:schemeClr val="bg1"/>
                </a:solidFill>
              </a:rPr>
              <a:t>欧拉角：依次绕三根坐标轴，进行三次旋转</a:t>
            </a:r>
            <a:endParaRPr lang="en-US" altLang="zh-CN" sz="2400" b="1" dirty="0">
              <a:solidFill>
                <a:schemeClr val="bg1"/>
              </a:solidFill>
            </a:endParaRPr>
          </a:p>
          <a:p>
            <a:endParaRPr lang="en-US" altLang="zh-CN" sz="2400" b="1" dirty="0">
              <a:solidFill>
                <a:schemeClr val="bg1"/>
              </a:solidFill>
            </a:endParaRPr>
          </a:p>
          <a:p>
            <a:r>
              <a:rPr lang="zh-CN" altLang="en-US" sz="2400" b="1" dirty="0">
                <a:solidFill>
                  <a:schemeClr val="bg1"/>
                </a:solidFill>
              </a:rPr>
              <a:t>旋转向量：</a:t>
            </a:r>
            <a:endParaRPr lang="en-US" altLang="zh-CN" sz="2400" b="1" dirty="0">
              <a:solidFill>
                <a:schemeClr val="bg1"/>
              </a:solidFill>
            </a:endParaRPr>
          </a:p>
          <a:p>
            <a:r>
              <a:rPr lang="zh-CN" altLang="en-US" sz="2400" b="1" dirty="0">
                <a:solidFill>
                  <a:schemeClr val="bg1"/>
                </a:solidFill>
              </a:rPr>
              <a:t>绕一个空间中的向量，进行一次性的旋转</a:t>
            </a:r>
            <a:endParaRPr lang="en-US" altLang="zh-CN" sz="2400" b="1" dirty="0">
              <a:solidFill>
                <a:schemeClr val="bg1"/>
              </a:solidFill>
            </a:endParaRPr>
          </a:p>
          <a:p>
            <a:endParaRPr lang="en-US" altLang="zh-CN" sz="2400" b="1" dirty="0">
              <a:solidFill>
                <a:schemeClr val="bg1"/>
              </a:solidFill>
            </a:endParaRPr>
          </a:p>
          <a:p>
            <a:r>
              <a:rPr lang="zh-CN" altLang="en-US" sz="2400" b="1" dirty="0">
                <a:solidFill>
                  <a:schemeClr val="bg1"/>
                </a:solidFill>
              </a:rPr>
              <a:t>该向量的方向 使用右手定则决定旋转的方向</a:t>
            </a:r>
            <a:endParaRPr lang="en-US" altLang="zh-CN" sz="2400" b="1" dirty="0">
              <a:solidFill>
                <a:schemeClr val="bg1"/>
              </a:solidFill>
            </a:endParaRPr>
          </a:p>
          <a:p>
            <a:r>
              <a:rPr lang="zh-CN" altLang="en-US" sz="2400" b="1" dirty="0">
                <a:solidFill>
                  <a:schemeClr val="bg1"/>
                </a:solidFill>
              </a:rPr>
              <a:t>该向量的长度 旋转的弧度</a:t>
            </a:r>
            <a:endParaRPr lang="zh-CN" altLang="en-US" sz="2400" b="1" dirty="0">
              <a:solidFill>
                <a:schemeClr val="bg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8" name="文本框 7"/>
          <p:cNvSpPr txBox="1"/>
          <p:nvPr/>
        </p:nvSpPr>
        <p:spPr>
          <a:xfrm>
            <a:off x="489029" y="2500672"/>
            <a:ext cx="1620957" cy="523220"/>
          </a:xfrm>
          <a:prstGeom prst="rect">
            <a:avLst/>
          </a:prstGeom>
          <a:noFill/>
        </p:spPr>
        <p:txBody>
          <a:bodyPr wrap="none" rtlCol="0">
            <a:spAutoFit/>
          </a:bodyPr>
          <a:lstStyle/>
          <a:p>
            <a:r>
              <a:rPr lang="zh-CN" altLang="en-US" sz="2800" dirty="0">
                <a:solidFill>
                  <a:schemeClr val="bg1"/>
                </a:solidFill>
              </a:rPr>
              <a:t>旋转向量</a:t>
            </a:r>
            <a:endParaRPr lang="zh-CN" altLang="en-US" sz="2800" dirty="0">
              <a:solidFill>
                <a:schemeClr val="bg1"/>
              </a:solidFill>
            </a:endParaRPr>
          </a:p>
        </p:txBody>
      </p:sp>
      <p:sp>
        <p:nvSpPr>
          <p:cNvPr id="9" name="文本框 8"/>
          <p:cNvSpPr txBox="1"/>
          <p:nvPr/>
        </p:nvSpPr>
        <p:spPr>
          <a:xfrm>
            <a:off x="4207613" y="2500672"/>
            <a:ext cx="1620957" cy="523220"/>
          </a:xfrm>
          <a:prstGeom prst="rect">
            <a:avLst/>
          </a:prstGeom>
          <a:noFill/>
        </p:spPr>
        <p:txBody>
          <a:bodyPr wrap="none" rtlCol="0">
            <a:spAutoFit/>
          </a:bodyPr>
          <a:lstStyle/>
          <a:p>
            <a:r>
              <a:rPr lang="zh-CN" altLang="en-US" sz="2800" dirty="0">
                <a:solidFill>
                  <a:schemeClr val="bg1"/>
                </a:solidFill>
              </a:rPr>
              <a:t>旋转矩阵</a:t>
            </a:r>
            <a:endParaRPr lang="zh-CN" altLang="en-US" sz="2800" dirty="0">
              <a:solidFill>
                <a:schemeClr val="bg1"/>
              </a:solidFill>
            </a:endParaRPr>
          </a:p>
        </p:txBody>
      </p:sp>
      <p:sp>
        <p:nvSpPr>
          <p:cNvPr id="10" name="文本框 9"/>
          <p:cNvSpPr txBox="1"/>
          <p:nvPr/>
        </p:nvSpPr>
        <p:spPr>
          <a:xfrm>
            <a:off x="7891145" y="2500672"/>
            <a:ext cx="1261884" cy="523220"/>
          </a:xfrm>
          <a:prstGeom prst="rect">
            <a:avLst/>
          </a:prstGeom>
          <a:noFill/>
        </p:spPr>
        <p:txBody>
          <a:bodyPr wrap="none" rtlCol="0">
            <a:spAutoFit/>
          </a:bodyPr>
          <a:lstStyle/>
          <a:p>
            <a:r>
              <a:rPr lang="zh-CN" altLang="en-US" sz="2800" dirty="0">
                <a:solidFill>
                  <a:schemeClr val="bg1"/>
                </a:solidFill>
              </a:rPr>
              <a:t>欧拉角</a:t>
            </a:r>
            <a:endParaRPr lang="zh-CN" altLang="en-US" sz="2800" dirty="0">
              <a:solidFill>
                <a:schemeClr val="bg1"/>
              </a:solidFill>
            </a:endParaRPr>
          </a:p>
        </p:txBody>
      </p:sp>
      <p:sp>
        <p:nvSpPr>
          <p:cNvPr id="11" name="文本框 10"/>
          <p:cNvSpPr txBox="1"/>
          <p:nvPr/>
        </p:nvSpPr>
        <p:spPr>
          <a:xfrm>
            <a:off x="10540604" y="2500672"/>
            <a:ext cx="1261884" cy="523220"/>
          </a:xfrm>
          <a:prstGeom prst="rect">
            <a:avLst/>
          </a:prstGeom>
          <a:noFill/>
        </p:spPr>
        <p:txBody>
          <a:bodyPr wrap="none" rtlCol="0">
            <a:spAutoFit/>
          </a:bodyPr>
          <a:lstStyle/>
          <a:p>
            <a:r>
              <a:rPr lang="zh-CN" altLang="en-US" sz="2800" dirty="0">
                <a:solidFill>
                  <a:schemeClr val="bg1"/>
                </a:solidFill>
              </a:rPr>
              <a:t>四元数</a:t>
            </a:r>
            <a:endParaRPr lang="zh-CN" altLang="en-US" sz="2800" dirty="0">
              <a:solidFill>
                <a:schemeClr val="bg1"/>
              </a:solidFill>
            </a:endParaRPr>
          </a:p>
        </p:txBody>
      </p:sp>
      <p:sp>
        <p:nvSpPr>
          <p:cNvPr id="12" name="文本框 11"/>
          <p:cNvSpPr txBox="1"/>
          <p:nvPr/>
        </p:nvSpPr>
        <p:spPr>
          <a:xfrm>
            <a:off x="2284611" y="3344429"/>
            <a:ext cx="1851789" cy="400110"/>
          </a:xfrm>
          <a:prstGeom prst="rect">
            <a:avLst/>
          </a:prstGeom>
          <a:noFill/>
        </p:spPr>
        <p:txBody>
          <a:bodyPr wrap="none" rtlCol="0">
            <a:spAutoFit/>
          </a:bodyPr>
          <a:lstStyle/>
          <a:p>
            <a:r>
              <a:rPr lang="en-US" altLang="zh-CN" sz="2000" dirty="0"/>
              <a:t>cv::</a:t>
            </a:r>
            <a:r>
              <a:rPr lang="en-US" altLang="zh-CN" sz="2000" b="0" dirty="0">
                <a:solidFill>
                  <a:srgbClr val="DCDCAA"/>
                </a:solidFill>
                <a:effectLst/>
                <a:latin typeface="Consolas" panose="020B0609020204030204" pitchFamily="49" charset="0"/>
              </a:rPr>
              <a:t>Rodrigues</a:t>
            </a:r>
            <a:endParaRPr lang="en-US" altLang="zh-CN" sz="2000" b="0" dirty="0">
              <a:solidFill>
                <a:srgbClr val="CCCCCC"/>
              </a:solidFill>
              <a:effectLst/>
              <a:latin typeface="Consolas" panose="020B0609020204030204" pitchFamily="49" charset="0"/>
            </a:endParaRPr>
          </a:p>
        </p:txBody>
      </p:sp>
      <p:sp>
        <p:nvSpPr>
          <p:cNvPr id="7" name="标题 1"/>
          <p:cNvSpPr>
            <a:spLocks noGrp="1"/>
          </p:cNvSpPr>
          <p:nvPr>
            <p:ph type="title"/>
          </p:nvPr>
        </p:nvSpPr>
        <p:spPr>
          <a:xfrm>
            <a:off x="838200" y="365125"/>
            <a:ext cx="10515600" cy="1325563"/>
          </a:xfrm>
        </p:spPr>
        <p:txBody>
          <a:bodyPr/>
          <a:lstStyle/>
          <a:p>
            <a:r>
              <a:rPr lang="zh-CN" altLang="en-US" sz="3200" b="1" dirty="0">
                <a:solidFill>
                  <a:schemeClr val="bg1"/>
                </a:solidFill>
              </a:rPr>
              <a:t>旋转</a:t>
            </a:r>
            <a:br>
              <a:rPr lang="en-US" altLang="zh-CN" b="1" dirty="0">
                <a:solidFill>
                  <a:schemeClr val="bg1"/>
                </a:solidFill>
              </a:rPr>
            </a:br>
            <a:r>
              <a:rPr lang="zh-CN" altLang="en-US" b="1" dirty="0">
                <a:solidFill>
                  <a:schemeClr val="bg1"/>
                </a:solidFill>
              </a:rPr>
              <a:t>还有什么别的表示方法？</a:t>
            </a:r>
            <a:endParaRPr lang="zh-CN" altLang="en-US" b="1" dirty="0">
              <a:solidFill>
                <a:schemeClr val="bg1"/>
              </a:solidFill>
            </a:endParaRPr>
          </a:p>
        </p:txBody>
      </p:sp>
      <p:sp>
        <p:nvSpPr>
          <p:cNvPr id="13" name="文本框 12"/>
          <p:cNvSpPr txBox="1"/>
          <p:nvPr/>
        </p:nvSpPr>
        <p:spPr>
          <a:xfrm>
            <a:off x="902914" y="3389552"/>
            <a:ext cx="864339" cy="523220"/>
          </a:xfrm>
          <a:prstGeom prst="rect">
            <a:avLst/>
          </a:prstGeom>
          <a:noFill/>
        </p:spPr>
        <p:txBody>
          <a:bodyPr wrap="none" rtlCol="0">
            <a:spAutoFit/>
          </a:bodyPr>
          <a:lstStyle/>
          <a:p>
            <a:r>
              <a:rPr lang="en-US" altLang="zh-CN" sz="2800" dirty="0" err="1">
                <a:solidFill>
                  <a:schemeClr val="bg1"/>
                </a:solidFill>
              </a:rPr>
              <a:t>rvec</a:t>
            </a:r>
            <a:endParaRPr lang="en-US" altLang="zh-CN" sz="2800" dirty="0" err="1">
              <a:solidFill>
                <a:schemeClr val="bg1"/>
              </a:solidFill>
            </a:endParaRPr>
          </a:p>
        </p:txBody>
      </p:sp>
      <p:sp>
        <p:nvSpPr>
          <p:cNvPr id="14" name="文本框 13"/>
          <p:cNvSpPr txBox="1"/>
          <p:nvPr/>
        </p:nvSpPr>
        <p:spPr>
          <a:xfrm>
            <a:off x="4574459" y="3389552"/>
            <a:ext cx="904415" cy="523220"/>
          </a:xfrm>
          <a:prstGeom prst="rect">
            <a:avLst/>
          </a:prstGeom>
          <a:noFill/>
        </p:spPr>
        <p:txBody>
          <a:bodyPr wrap="none" rtlCol="0">
            <a:spAutoFit/>
          </a:bodyPr>
          <a:lstStyle/>
          <a:p>
            <a:r>
              <a:rPr lang="en-US" altLang="zh-CN" sz="2800" dirty="0" err="1">
                <a:solidFill>
                  <a:schemeClr val="bg1"/>
                </a:solidFill>
              </a:rPr>
              <a:t>rmat</a:t>
            </a:r>
            <a:endParaRPr lang="en-US" altLang="zh-CN" sz="2800" dirty="0" err="1">
              <a:solidFill>
                <a:schemeClr val="bg1"/>
              </a:solidFill>
            </a:endParaRPr>
          </a:p>
        </p:txBody>
      </p:sp>
      <p:cxnSp>
        <p:nvCxnSpPr>
          <p:cNvPr id="3" name="直接箭头连接符 2"/>
          <p:cNvCxnSpPr/>
          <p:nvPr/>
        </p:nvCxnSpPr>
        <p:spPr>
          <a:xfrm>
            <a:off x="2137290" y="3304981"/>
            <a:ext cx="214643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a:xfrm>
            <a:off x="5954629" y="3285258"/>
            <a:ext cx="2146432" cy="0"/>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6212715" y="2823837"/>
            <a:ext cx="1467068" cy="400110"/>
          </a:xfrm>
          <a:prstGeom prst="rect">
            <a:avLst/>
          </a:prstGeom>
          <a:noFill/>
        </p:spPr>
        <p:txBody>
          <a:bodyPr wrap="none" rtlCol="0">
            <a:spAutoFit/>
          </a:bodyPr>
          <a:lstStyle/>
          <a:p>
            <a:r>
              <a:rPr lang="zh-CN" altLang="en-US" sz="2000" dirty="0"/>
              <a:t>反三角函数</a:t>
            </a:r>
            <a:endParaRPr lang="en-US" altLang="zh-CN" sz="2000" b="0" dirty="0">
              <a:solidFill>
                <a:srgbClr val="CCCCCC"/>
              </a:solidFill>
              <a:effectLst/>
              <a:latin typeface="Consolas" panose="020B0609020204030204" pitchFamily="49" charset="0"/>
            </a:endParaRPr>
          </a:p>
        </p:txBody>
      </p:sp>
      <p:sp>
        <p:nvSpPr>
          <p:cNvPr id="15" name="文本框 14"/>
          <p:cNvSpPr txBox="1"/>
          <p:nvPr/>
        </p:nvSpPr>
        <p:spPr>
          <a:xfrm>
            <a:off x="2180841" y="2885148"/>
            <a:ext cx="1980029" cy="400110"/>
          </a:xfrm>
          <a:prstGeom prst="rect">
            <a:avLst/>
          </a:prstGeom>
          <a:noFill/>
        </p:spPr>
        <p:txBody>
          <a:bodyPr wrap="none" rtlCol="0">
            <a:spAutoFit/>
          </a:bodyPr>
          <a:lstStyle/>
          <a:p>
            <a:r>
              <a:rPr lang="zh-CN" altLang="en-US" sz="2000" dirty="0">
                <a:solidFill>
                  <a:schemeClr val="bg1"/>
                </a:solidFill>
              </a:rPr>
              <a:t>罗德里格斯公式</a:t>
            </a:r>
            <a:endParaRPr lang="zh-CN" altLang="en-US" sz="2000" b="0" dirty="0">
              <a:solidFill>
                <a:schemeClr val="bg1"/>
              </a:solidFill>
              <a:effectLst/>
              <a:latin typeface="Consolas" panose="020B0609020204030204" pitchFamily="49" charset="0"/>
            </a:endParaRPr>
          </a:p>
        </p:txBody>
      </p:sp>
      <p:grpSp>
        <p:nvGrpSpPr>
          <p:cNvPr id="5" name="组合 4"/>
          <p:cNvGrpSpPr/>
          <p:nvPr/>
        </p:nvGrpSpPr>
        <p:grpSpPr>
          <a:xfrm>
            <a:off x="7679783" y="4021663"/>
            <a:ext cx="3810955" cy="2471212"/>
            <a:chOff x="6572326" y="5101117"/>
            <a:chExt cx="4292572" cy="2783516"/>
          </a:xfrm>
        </p:grpSpPr>
        <p:grpSp>
          <p:nvGrpSpPr>
            <p:cNvPr id="18" name="组合 17"/>
            <p:cNvGrpSpPr/>
            <p:nvPr/>
          </p:nvGrpSpPr>
          <p:grpSpPr>
            <a:xfrm>
              <a:off x="6572326" y="5101117"/>
              <a:ext cx="4292572" cy="2783516"/>
              <a:chOff x="5323114" y="1956598"/>
              <a:chExt cx="6716486" cy="4355302"/>
            </a:xfrm>
          </p:grpSpPr>
          <p:pic>
            <p:nvPicPr>
              <p:cNvPr id="19" name="图片 18"/>
              <p:cNvPicPr>
                <a:picLocks noChangeAspect="1"/>
              </p:cNvPicPr>
              <p:nvPr/>
            </p:nvPicPr>
            <p:blipFill rotWithShape="1">
              <a:blip r:embed="rId1"/>
              <a:srcRect l="8544" t="5458" b="15468"/>
              <a:stretch>
                <a:fillRect/>
              </a:stretch>
            </p:blipFill>
            <p:spPr>
              <a:xfrm>
                <a:off x="5323114" y="1956598"/>
                <a:ext cx="6716486" cy="4355302"/>
              </a:xfrm>
              <a:prstGeom prst="rect">
                <a:avLst/>
              </a:prstGeom>
            </p:spPr>
          </p:pic>
          <p:cxnSp>
            <p:nvCxnSpPr>
              <p:cNvPr id="20" name="直线箭头连接符 18"/>
              <p:cNvCxnSpPr/>
              <p:nvPr/>
            </p:nvCxnSpPr>
            <p:spPr>
              <a:xfrm>
                <a:off x="10250585" y="4004756"/>
                <a:ext cx="666963" cy="6028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19"/>
              <p:cNvCxnSpPr/>
              <p:nvPr/>
            </p:nvCxnSpPr>
            <p:spPr>
              <a:xfrm flipH="1">
                <a:off x="10201763" y="3992845"/>
                <a:ext cx="40312" cy="405255"/>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0"/>
              <p:cNvCxnSpPr/>
              <p:nvPr/>
            </p:nvCxnSpPr>
            <p:spPr>
              <a:xfrm flipV="1">
                <a:off x="10233368" y="3918828"/>
                <a:ext cx="250440" cy="9267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10016456" y="4207384"/>
                <a:ext cx="370614" cy="584775"/>
              </a:xfrm>
              <a:prstGeom prst="rect">
                <a:avLst/>
              </a:prstGeom>
              <a:noFill/>
            </p:spPr>
            <p:txBody>
              <a:bodyPr wrap="none" rtlCol="0">
                <a:spAutoFit/>
              </a:bodyPr>
              <a:lstStyle/>
              <a:p>
                <a:r>
                  <a:rPr kumimoji="1" lang="en-US" altLang="zh-CN" sz="3200" dirty="0"/>
                  <a:t>y</a:t>
                </a:r>
                <a:endParaRPr kumimoji="1" lang="zh-CN" altLang="en-US" sz="3200" dirty="0"/>
              </a:p>
            </p:txBody>
          </p:sp>
          <p:sp>
            <p:nvSpPr>
              <p:cNvPr id="24" name="文本框 23"/>
              <p:cNvSpPr txBox="1"/>
              <p:nvPr/>
            </p:nvSpPr>
            <p:spPr>
              <a:xfrm>
                <a:off x="10480283" y="3840797"/>
                <a:ext cx="362600" cy="584774"/>
              </a:xfrm>
              <a:prstGeom prst="rect">
                <a:avLst/>
              </a:prstGeom>
              <a:noFill/>
            </p:spPr>
            <p:txBody>
              <a:bodyPr wrap="none" rtlCol="0">
                <a:spAutoFit/>
              </a:bodyPr>
              <a:lstStyle/>
              <a:p>
                <a:r>
                  <a:rPr kumimoji="1" lang="en-US" altLang="zh-CN" sz="3200" dirty="0"/>
                  <a:t>x</a:t>
                </a:r>
                <a:endParaRPr kumimoji="1" lang="zh-CN" altLang="en-US" sz="3200" dirty="0"/>
              </a:p>
            </p:txBody>
          </p:sp>
          <p:sp>
            <p:nvSpPr>
              <p:cNvPr id="25" name="文本框 24"/>
              <p:cNvSpPr txBox="1"/>
              <p:nvPr/>
            </p:nvSpPr>
            <p:spPr>
              <a:xfrm>
                <a:off x="10299101" y="3106123"/>
                <a:ext cx="370615" cy="584775"/>
              </a:xfrm>
              <a:prstGeom prst="rect">
                <a:avLst/>
              </a:prstGeom>
              <a:noFill/>
            </p:spPr>
            <p:txBody>
              <a:bodyPr wrap="square" rtlCol="0">
                <a:spAutoFit/>
              </a:bodyPr>
              <a:lstStyle/>
              <a:p>
                <a:r>
                  <a:rPr kumimoji="1" lang="en-US" altLang="zh-CN" sz="3200" dirty="0"/>
                  <a:t>z</a:t>
                </a:r>
                <a:endParaRPr kumimoji="1" lang="zh-CN" altLang="en-US" sz="3200" dirty="0"/>
              </a:p>
            </p:txBody>
          </p:sp>
          <p:cxnSp>
            <p:nvCxnSpPr>
              <p:cNvPr id="26" name="直线箭头连接符 36"/>
              <p:cNvCxnSpPr/>
              <p:nvPr/>
            </p:nvCxnSpPr>
            <p:spPr>
              <a:xfrm flipV="1">
                <a:off x="7636241" y="4952548"/>
                <a:ext cx="925288" cy="33654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线箭头连接符 37"/>
              <p:cNvCxnSpPr/>
              <p:nvPr/>
            </p:nvCxnSpPr>
            <p:spPr>
              <a:xfrm>
                <a:off x="7636241" y="5289097"/>
                <a:ext cx="108859" cy="88786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38"/>
              <p:cNvCxnSpPr/>
              <p:nvPr/>
            </p:nvCxnSpPr>
            <p:spPr>
              <a:xfrm>
                <a:off x="7625356" y="5290173"/>
                <a:ext cx="794658" cy="375246"/>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7320056" y="5727125"/>
                <a:ext cx="370614" cy="584775"/>
              </a:xfrm>
              <a:prstGeom prst="rect">
                <a:avLst/>
              </a:prstGeom>
              <a:noFill/>
            </p:spPr>
            <p:txBody>
              <a:bodyPr wrap="none" rtlCol="0">
                <a:spAutoFit/>
              </a:bodyPr>
              <a:lstStyle/>
              <a:p>
                <a:r>
                  <a:rPr kumimoji="1" lang="en-US" altLang="zh-CN" sz="3200" dirty="0"/>
                  <a:t>y</a:t>
                </a:r>
                <a:endParaRPr kumimoji="1" lang="zh-CN" altLang="en-US" sz="3200" dirty="0"/>
              </a:p>
            </p:txBody>
          </p:sp>
          <p:sp>
            <p:nvSpPr>
              <p:cNvPr id="30" name="文本框 29"/>
              <p:cNvSpPr txBox="1"/>
              <p:nvPr/>
            </p:nvSpPr>
            <p:spPr>
              <a:xfrm>
                <a:off x="8430899" y="5403885"/>
                <a:ext cx="362600" cy="584775"/>
              </a:xfrm>
              <a:prstGeom prst="rect">
                <a:avLst/>
              </a:prstGeom>
              <a:noFill/>
            </p:spPr>
            <p:txBody>
              <a:bodyPr wrap="none" rtlCol="0">
                <a:spAutoFit/>
              </a:bodyPr>
              <a:lstStyle/>
              <a:p>
                <a:r>
                  <a:rPr kumimoji="1" lang="en-US" altLang="zh-CN" sz="3200" dirty="0"/>
                  <a:t>x</a:t>
                </a:r>
                <a:endParaRPr kumimoji="1" lang="zh-CN" altLang="en-US" sz="3200" dirty="0"/>
              </a:p>
            </p:txBody>
          </p:sp>
          <p:sp>
            <p:nvSpPr>
              <p:cNvPr id="31" name="文本框 30"/>
              <p:cNvSpPr txBox="1"/>
              <p:nvPr/>
            </p:nvSpPr>
            <p:spPr>
              <a:xfrm>
                <a:off x="8543129" y="4645900"/>
                <a:ext cx="370614" cy="584775"/>
              </a:xfrm>
              <a:prstGeom prst="rect">
                <a:avLst/>
              </a:prstGeom>
              <a:noFill/>
            </p:spPr>
            <p:txBody>
              <a:bodyPr wrap="square" rtlCol="0">
                <a:spAutoFit/>
              </a:bodyPr>
              <a:lstStyle/>
              <a:p>
                <a:r>
                  <a:rPr kumimoji="1" lang="en-US" altLang="zh-CN" sz="3200" dirty="0"/>
                  <a:t>z</a:t>
                </a:r>
                <a:endParaRPr kumimoji="1" lang="zh-CN" altLang="en-US" sz="3200" dirty="0"/>
              </a:p>
            </p:txBody>
          </p:sp>
        </p:grpSp>
        <p:sp>
          <p:nvSpPr>
            <p:cNvPr id="32" name="椭圆 31"/>
            <p:cNvSpPr/>
            <p:nvPr/>
          </p:nvSpPr>
          <p:spPr>
            <a:xfrm>
              <a:off x="9265458" y="6162104"/>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10272237" y="6179770"/>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242483" y="6589043"/>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9246091" y="6492195"/>
              <a:ext cx="78559" cy="78559"/>
            </a:xfrm>
            <a:prstGeom prst="ellipse">
              <a:avLst/>
            </a:prstGeom>
            <a:solidFill>
              <a:srgbClr val="00B050">
                <a:alpha val="55000"/>
              </a:srgbClr>
            </a:solid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p:cNvSpPr txBox="1"/>
            <p:nvPr/>
          </p:nvSpPr>
          <p:spPr>
            <a:xfrm>
              <a:off x="10189372" y="5830789"/>
              <a:ext cx="312906" cy="369332"/>
            </a:xfrm>
            <a:prstGeom prst="rect">
              <a:avLst/>
            </a:prstGeom>
            <a:noFill/>
          </p:spPr>
          <p:txBody>
            <a:bodyPr wrap="none" rtlCol="0">
              <a:spAutoFit/>
            </a:bodyPr>
            <a:lstStyle/>
            <a:p>
              <a:r>
                <a:rPr lang="en-US" altLang="zh-CN" dirty="0"/>
                <a:t>2</a:t>
              </a:r>
              <a:endParaRPr lang="zh-CN" altLang="en-US" dirty="0"/>
            </a:p>
          </p:txBody>
        </p:sp>
        <p:sp>
          <p:nvSpPr>
            <p:cNvPr id="37" name="文本框 36"/>
            <p:cNvSpPr txBox="1"/>
            <p:nvPr/>
          </p:nvSpPr>
          <p:spPr>
            <a:xfrm>
              <a:off x="9115345" y="5777754"/>
              <a:ext cx="312906" cy="369332"/>
            </a:xfrm>
            <a:prstGeom prst="rect">
              <a:avLst/>
            </a:prstGeom>
            <a:noFill/>
          </p:spPr>
          <p:txBody>
            <a:bodyPr wrap="none" rtlCol="0">
              <a:spAutoFit/>
            </a:bodyPr>
            <a:lstStyle/>
            <a:p>
              <a:r>
                <a:rPr lang="en-US" altLang="zh-CN" dirty="0"/>
                <a:t>1</a:t>
              </a:r>
              <a:endParaRPr lang="zh-CN" altLang="en-US" dirty="0"/>
            </a:p>
          </p:txBody>
        </p:sp>
        <p:sp>
          <p:nvSpPr>
            <p:cNvPr id="38" name="文本框 37"/>
            <p:cNvSpPr txBox="1"/>
            <p:nvPr/>
          </p:nvSpPr>
          <p:spPr>
            <a:xfrm>
              <a:off x="10174418" y="6610947"/>
              <a:ext cx="312906" cy="369332"/>
            </a:xfrm>
            <a:prstGeom prst="rect">
              <a:avLst/>
            </a:prstGeom>
            <a:noFill/>
          </p:spPr>
          <p:txBody>
            <a:bodyPr wrap="none" rtlCol="0">
              <a:spAutoFit/>
            </a:bodyPr>
            <a:lstStyle/>
            <a:p>
              <a:r>
                <a:rPr lang="en-US" altLang="zh-CN" dirty="0"/>
                <a:t>3</a:t>
              </a:r>
              <a:endParaRPr lang="zh-CN" altLang="en-US" dirty="0"/>
            </a:p>
          </p:txBody>
        </p:sp>
        <p:sp>
          <p:nvSpPr>
            <p:cNvPr id="39" name="文本框 38"/>
            <p:cNvSpPr txBox="1"/>
            <p:nvPr/>
          </p:nvSpPr>
          <p:spPr>
            <a:xfrm>
              <a:off x="9028031" y="6522231"/>
              <a:ext cx="312906" cy="369332"/>
            </a:xfrm>
            <a:prstGeom prst="rect">
              <a:avLst/>
            </a:prstGeom>
            <a:noFill/>
          </p:spPr>
          <p:txBody>
            <a:bodyPr wrap="none" rtlCol="0">
              <a:spAutoFit/>
            </a:bodyPr>
            <a:lstStyle/>
            <a:p>
              <a:r>
                <a:rPr lang="en-US" altLang="zh-CN" dirty="0"/>
                <a:t>4</a:t>
              </a:r>
              <a:endParaRPr lang="zh-CN" altLang="en-US" dirty="0"/>
            </a:p>
          </p:txBody>
        </p:sp>
      </p:grpSp>
      <p:pic>
        <p:nvPicPr>
          <p:cNvPr id="4" name="图片 3"/>
          <p:cNvPicPr>
            <a:picLocks noChangeAspect="1"/>
          </p:cNvPicPr>
          <p:nvPr/>
        </p:nvPicPr>
        <p:blipFill>
          <a:blip r:embed="rId2"/>
          <a:stretch>
            <a:fillRect/>
          </a:stretch>
        </p:blipFill>
        <p:spPr>
          <a:xfrm>
            <a:off x="383415" y="4530572"/>
            <a:ext cx="9097645" cy="4667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3" grpId="0"/>
      <p:bldP spid="14" grpId="0"/>
      <p:bldP spid="17" grpId="0"/>
      <p:bldP spid="15"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033905" y="1407160"/>
            <a:ext cx="8123555" cy="384937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073275" y="1346835"/>
            <a:ext cx="8045450" cy="4274185"/>
          </a:xfrm>
          <a:prstGeom prst="rect">
            <a:avLst/>
          </a:prstGeom>
        </p:spPr>
      </p:pic>
      <p:sp>
        <p:nvSpPr>
          <p:cNvPr id="3" name="文本框 2"/>
          <p:cNvSpPr txBox="1"/>
          <p:nvPr/>
        </p:nvSpPr>
        <p:spPr>
          <a:xfrm>
            <a:off x="5400675" y="4971415"/>
            <a:ext cx="3846830" cy="290830"/>
          </a:xfrm>
          <a:prstGeom prst="rect">
            <a:avLst/>
          </a:prstGeom>
          <a:solidFill>
            <a:schemeClr val="tx1"/>
          </a:solidFill>
        </p:spPr>
        <p:txBody>
          <a:bodyPr wrap="square" rtlCol="0">
            <a:noAutofit/>
          </a:bodyPr>
          <a:p>
            <a:r>
              <a:rPr lang="en-US" altLang="zh-CN">
                <a:solidFill>
                  <a:schemeClr val="bg1"/>
                </a:solidFill>
              </a:rPr>
              <a:t>imu</a:t>
            </a:r>
            <a:r>
              <a:rPr lang="zh-CN" altLang="en-US">
                <a:solidFill>
                  <a:schemeClr val="bg1"/>
                </a:solidFill>
              </a:rPr>
              <a:t>坐标系</a:t>
            </a:r>
            <a:r>
              <a:rPr lang="en-US" altLang="zh-CN">
                <a:solidFill>
                  <a:schemeClr val="bg1"/>
                </a:solidFill>
              </a:rPr>
              <a:t>-&gt;</a:t>
            </a:r>
            <a:r>
              <a:rPr lang="zh-CN" altLang="en-US">
                <a:solidFill>
                  <a:schemeClr val="bg1"/>
                </a:solidFill>
              </a:rPr>
              <a:t>世界坐标系</a:t>
            </a:r>
            <a:endParaRPr lang="zh-CN" altLang="en-US">
              <a:solidFill>
                <a:schemeClr val="bg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544195" y="635000"/>
            <a:ext cx="9003030" cy="1179830"/>
          </a:xfrm>
          <a:prstGeom prst="rect">
            <a:avLst/>
          </a:prstGeom>
          <a:noFill/>
        </p:spPr>
        <p:txBody>
          <a:bodyPr wrap="square" rtlCol="0">
            <a:noAutofit/>
          </a:bodyPr>
          <a:p>
            <a:r>
              <a:rPr lang="zh-CN" altLang="en-US" sz="3600"/>
              <a:t>实战：使用</a:t>
            </a:r>
            <a:r>
              <a:rPr lang="en-US" altLang="zh-CN" sz="3600"/>
              <a:t>solvepnp</a:t>
            </a:r>
            <a:r>
              <a:rPr lang="zh-CN" altLang="en-US" sz="3600"/>
              <a:t>求装甲板位姿</a:t>
            </a:r>
            <a:endParaRPr lang="zh-CN" altLang="en-US" sz="36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 name="圆角矩形 21"/>
          <p:cNvSpPr/>
          <p:nvPr/>
        </p:nvSpPr>
        <p:spPr>
          <a:xfrm>
            <a:off x="436880" y="419418"/>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tracker</a:t>
            </a:r>
            <a:r>
              <a:rPr lang="zh-CN" altLang="en-US" strike="noStrike" noProof="1">
                <a:solidFill>
                  <a:schemeClr val="tx1"/>
                </a:solidFill>
                <a:sym typeface="+mn-ea"/>
              </a:rPr>
              <a:t>用</a:t>
            </a:r>
            <a:r>
              <a:rPr lang="en-US" altLang="zh-CN" strike="noStrike" noProof="1">
                <a:solidFill>
                  <a:schemeClr val="tx1"/>
                </a:solidFill>
                <a:sym typeface="+mn-ea"/>
              </a:rPr>
              <a:t>kf</a:t>
            </a:r>
            <a:r>
              <a:rPr lang="zh-CN" altLang="en-US" strike="noStrike" noProof="1">
                <a:solidFill>
                  <a:schemeClr val="tx1"/>
                </a:solidFill>
                <a:sym typeface="+mn-ea"/>
              </a:rPr>
              <a:t>估计装甲板运动状态，用</a:t>
            </a:r>
            <a:r>
              <a:rPr lang="en-US" altLang="zh-CN" strike="noStrike" noProof="1">
                <a:solidFill>
                  <a:schemeClr val="tx1"/>
                </a:solidFill>
                <a:sym typeface="+mn-ea"/>
              </a:rPr>
              <a:t>iesekf</a:t>
            </a:r>
            <a:r>
              <a:rPr lang="zh-CN" altLang="en-US" strike="noStrike" noProof="1">
                <a:solidFill>
                  <a:schemeClr val="tx1"/>
                </a:solidFill>
                <a:sym typeface="+mn-ea"/>
              </a:rPr>
              <a:t>估计整车运动状态</a:t>
            </a:r>
            <a:endParaRPr lang="zh-CN" altLang="en-US" strike="noStrike" noProof="1">
              <a:solidFill>
                <a:schemeClr val="tx1"/>
              </a:solidFill>
              <a:sym typeface="+mn-ea"/>
            </a:endParaRPr>
          </a:p>
        </p:txBody>
      </p:sp>
      <p:sp>
        <p:nvSpPr>
          <p:cNvPr id="2" name="文本框 1"/>
          <p:cNvSpPr txBox="1"/>
          <p:nvPr/>
        </p:nvSpPr>
        <p:spPr>
          <a:xfrm>
            <a:off x="3947160" y="2967990"/>
            <a:ext cx="4064000" cy="922020"/>
          </a:xfrm>
          <a:prstGeom prst="rect">
            <a:avLst/>
          </a:prstGeom>
          <a:noFill/>
        </p:spPr>
        <p:txBody>
          <a:bodyPr wrap="square" rtlCol="0">
            <a:spAutoFit/>
          </a:bodyPr>
          <a:p>
            <a:r>
              <a:rPr lang="zh-CN" altLang="en-US" sz="5400"/>
              <a:t>卡尔曼滤波</a:t>
            </a:r>
            <a:endParaRPr lang="zh-CN" altLang="en-US" sz="54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55295" y="292735"/>
            <a:ext cx="11367770" cy="6320155"/>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20370" y="273050"/>
            <a:ext cx="11130915" cy="618871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129030" y="1101725"/>
            <a:ext cx="8900795" cy="3503295"/>
          </a:xfrm>
          <a:prstGeom prst="rect">
            <a:avLst/>
          </a:prstGeom>
        </p:spPr>
      </p:pic>
      <p:pic>
        <p:nvPicPr>
          <p:cNvPr id="3" name="图片 2"/>
          <p:cNvPicPr>
            <a:picLocks noChangeAspect="1"/>
          </p:cNvPicPr>
          <p:nvPr/>
        </p:nvPicPr>
        <p:blipFill>
          <a:blip r:embed="rId2"/>
          <a:stretch>
            <a:fillRect/>
          </a:stretch>
        </p:blipFill>
        <p:spPr>
          <a:xfrm>
            <a:off x="1285875" y="5064760"/>
            <a:ext cx="8808085" cy="741045"/>
          </a:xfrm>
          <a:prstGeom prst="rect">
            <a:avLst/>
          </a:prstGeom>
        </p:spPr>
      </p:pic>
      <p:sp>
        <p:nvSpPr>
          <p:cNvPr id="4" name="文本框 3"/>
          <p:cNvSpPr txBox="1"/>
          <p:nvPr/>
        </p:nvSpPr>
        <p:spPr>
          <a:xfrm>
            <a:off x="388620" y="183515"/>
            <a:ext cx="4667250" cy="521970"/>
          </a:xfrm>
          <a:prstGeom prst="rect">
            <a:avLst/>
          </a:prstGeom>
          <a:noFill/>
        </p:spPr>
        <p:txBody>
          <a:bodyPr wrap="square" rtlCol="0">
            <a:spAutoFit/>
          </a:bodyPr>
          <a:p>
            <a:r>
              <a:rPr lang="zh-CN" altLang="en-US" sz="2800"/>
              <a:t>理解卡尔曼滤波做了什么</a:t>
            </a:r>
            <a:endParaRPr lang="zh-CN" altLang="en-US" sz="28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79805" y="482600"/>
            <a:ext cx="8143875" cy="2425700"/>
          </a:xfrm>
          <a:prstGeom prst="rect">
            <a:avLst/>
          </a:prstGeom>
        </p:spPr>
      </p:pic>
      <p:pic>
        <p:nvPicPr>
          <p:cNvPr id="3" name="图片 2"/>
          <p:cNvPicPr>
            <a:picLocks noChangeAspect="1"/>
          </p:cNvPicPr>
          <p:nvPr/>
        </p:nvPicPr>
        <p:blipFill>
          <a:blip r:embed="rId2"/>
          <a:stretch>
            <a:fillRect/>
          </a:stretch>
        </p:blipFill>
        <p:spPr>
          <a:xfrm>
            <a:off x="1261110" y="2978150"/>
            <a:ext cx="3288030" cy="249301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554480" y="2110105"/>
            <a:ext cx="8829675" cy="2270760"/>
          </a:xfrm>
          <a:prstGeom prst="rect">
            <a:avLst/>
          </a:prstGeom>
        </p:spPr>
      </p:pic>
      <p:sp>
        <p:nvSpPr>
          <p:cNvPr id="3" name="文本框 2"/>
          <p:cNvSpPr txBox="1"/>
          <p:nvPr/>
        </p:nvSpPr>
        <p:spPr>
          <a:xfrm>
            <a:off x="621665" y="579755"/>
            <a:ext cx="4064000" cy="645160"/>
          </a:xfrm>
          <a:prstGeom prst="rect">
            <a:avLst/>
          </a:prstGeom>
          <a:noFill/>
        </p:spPr>
        <p:txBody>
          <a:bodyPr wrap="square" rtlCol="0">
            <a:spAutoFit/>
          </a:bodyPr>
          <a:p>
            <a:r>
              <a:rPr lang="zh-CN" altLang="en-US" sz="3600"/>
              <a:t>卡尔曼滤波</a:t>
            </a:r>
            <a:endParaRPr lang="zh-CN" altLang="en-US" sz="36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26465" y="427990"/>
            <a:ext cx="10339070" cy="574802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26465" y="554990"/>
            <a:ext cx="10339070" cy="574802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13765" y="547370"/>
            <a:ext cx="10365105" cy="5762625"/>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25830" y="554990"/>
            <a:ext cx="10340340" cy="5748655"/>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25830" y="554990"/>
            <a:ext cx="10340340" cy="574865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26465" y="554990"/>
            <a:ext cx="10339070" cy="574802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26465" y="554990"/>
            <a:ext cx="10339070" cy="574802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26465" y="349885"/>
            <a:ext cx="10339070" cy="574802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80720" y="481965"/>
            <a:ext cx="8671560" cy="645160"/>
          </a:xfrm>
          <a:prstGeom prst="rect">
            <a:avLst/>
          </a:prstGeom>
          <a:noFill/>
        </p:spPr>
        <p:txBody>
          <a:bodyPr wrap="square" rtlCol="0">
            <a:spAutoFit/>
          </a:bodyPr>
          <a:p>
            <a:r>
              <a:rPr lang="zh-CN" altLang="en-US" sz="3600"/>
              <a:t>实战：调节卡尔曼滤波噪声矩阵</a:t>
            </a:r>
            <a:endParaRPr lang="zh-CN" altLang="en-US" sz="36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924050" y="1109345"/>
            <a:ext cx="8343900" cy="4638675"/>
          </a:xfrm>
          <a:prstGeom prst="rect">
            <a:avLst/>
          </a:prstGeom>
        </p:spPr>
      </p:pic>
      <p:pic>
        <p:nvPicPr>
          <p:cNvPr id="3" name="图片 2"/>
          <p:cNvPicPr>
            <a:picLocks noChangeAspect="1"/>
          </p:cNvPicPr>
          <p:nvPr/>
        </p:nvPicPr>
        <p:blipFill>
          <a:blip r:embed="rId1"/>
          <a:stretch>
            <a:fillRect/>
          </a:stretch>
        </p:blipFill>
        <p:spPr>
          <a:xfrm>
            <a:off x="926465" y="554990"/>
            <a:ext cx="10339070" cy="574802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p:cNvPicPr>
            <a:picLocks noChangeAspect="1"/>
          </p:cNvPicPr>
          <p:nvPr/>
        </p:nvPicPr>
        <p:blipFill>
          <a:blip r:embed="rId1"/>
          <a:stretch>
            <a:fillRect/>
          </a:stretch>
        </p:blipFill>
        <p:spPr>
          <a:xfrm>
            <a:off x="926465" y="554990"/>
            <a:ext cx="10339070" cy="5748020"/>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763135" y="2679700"/>
            <a:ext cx="4064000" cy="1014730"/>
          </a:xfrm>
          <a:prstGeom prst="rect">
            <a:avLst/>
          </a:prstGeom>
          <a:noFill/>
        </p:spPr>
        <p:txBody>
          <a:bodyPr wrap="square" rtlCol="0">
            <a:spAutoFit/>
          </a:bodyPr>
          <a:p>
            <a:r>
              <a:rPr lang="zh-CN" altLang="en-US" sz="6000"/>
              <a:t>部署</a:t>
            </a:r>
            <a:endParaRPr lang="zh-CN" altLang="en-US" sz="60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99770" y="482600"/>
            <a:ext cx="6532880" cy="583565"/>
          </a:xfrm>
          <a:prstGeom prst="rect">
            <a:avLst/>
          </a:prstGeom>
          <a:noFill/>
        </p:spPr>
        <p:txBody>
          <a:bodyPr wrap="square" rtlCol="0">
            <a:spAutoFit/>
          </a:bodyPr>
          <a:p>
            <a:r>
              <a:rPr lang="zh-CN" altLang="en-US" sz="3200"/>
              <a:t>实战：在</a:t>
            </a:r>
            <a:r>
              <a:rPr lang="en-US" altLang="zh-CN" sz="3200"/>
              <a:t>ax650</a:t>
            </a:r>
            <a:r>
              <a:rPr lang="zh-CN" altLang="en-US" sz="3200"/>
              <a:t>上跑通自瞄程序</a:t>
            </a:r>
            <a:endParaRPr lang="zh-CN" altLang="en-US" sz="3200"/>
          </a:p>
        </p:txBody>
      </p:sp>
      <p:pic>
        <p:nvPicPr>
          <p:cNvPr id="3" name="图片 2"/>
          <p:cNvPicPr>
            <a:picLocks noChangeAspect="1"/>
          </p:cNvPicPr>
          <p:nvPr/>
        </p:nvPicPr>
        <p:blipFill>
          <a:blip r:embed="rId1"/>
          <a:stretch>
            <a:fillRect/>
          </a:stretch>
        </p:blipFill>
        <p:spPr>
          <a:xfrm>
            <a:off x="699770" y="1347470"/>
            <a:ext cx="8382000" cy="2686050"/>
          </a:xfrm>
          <a:prstGeom prst="rect">
            <a:avLst/>
          </a:prstGeom>
        </p:spPr>
      </p:pic>
      <p:pic>
        <p:nvPicPr>
          <p:cNvPr id="4" name="图片 3"/>
          <p:cNvPicPr>
            <a:picLocks noChangeAspect="1"/>
          </p:cNvPicPr>
          <p:nvPr/>
        </p:nvPicPr>
        <p:blipFill>
          <a:blip r:embed="rId2"/>
          <a:stretch>
            <a:fillRect/>
          </a:stretch>
        </p:blipFill>
        <p:spPr>
          <a:xfrm>
            <a:off x="699770" y="5011420"/>
            <a:ext cx="8382000" cy="7239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876800" y="2555875"/>
            <a:ext cx="4064000" cy="1014730"/>
          </a:xfrm>
          <a:prstGeom prst="rect">
            <a:avLst/>
          </a:prstGeom>
          <a:noFill/>
        </p:spPr>
        <p:txBody>
          <a:bodyPr wrap="square" rtlCol="0">
            <a:spAutoFit/>
          </a:bodyPr>
          <a:p>
            <a:r>
              <a:rPr lang="zh-CN" altLang="en-US" sz="6000"/>
              <a:t>杂谈</a:t>
            </a:r>
            <a:endParaRPr lang="zh-CN" altLang="en-US" sz="60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圆角矩形 5"/>
          <p:cNvSpPr/>
          <p:nvPr/>
        </p:nvSpPr>
        <p:spPr>
          <a:xfrm>
            <a:off x="1395413" y="723900"/>
            <a:ext cx="3694113"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sensor</a:t>
            </a:r>
            <a:r>
              <a:rPr lang="zh-CN" altLang="en-US" strike="noStrike" noProof="1">
                <a:solidFill>
                  <a:schemeClr val="tx1"/>
                </a:solidFill>
                <a:sym typeface="+mn-ea"/>
              </a:rPr>
              <a:t>相机得到装甲板图像</a:t>
            </a:r>
            <a:endParaRPr lang="zh-CN" altLang="en-US" strike="noStrike" noProof="1">
              <a:solidFill>
                <a:schemeClr val="tx1"/>
              </a:solidFill>
            </a:endParaRPr>
          </a:p>
        </p:txBody>
      </p:sp>
      <p:sp>
        <p:nvSpPr>
          <p:cNvPr id="15" name="圆角矩形 14"/>
          <p:cNvSpPr/>
          <p:nvPr/>
        </p:nvSpPr>
        <p:spPr>
          <a:xfrm>
            <a:off x="6313488" y="1841500"/>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corner refine</a:t>
            </a:r>
            <a:r>
              <a:rPr lang="zh-CN" altLang="en-US" strike="noStrike" noProof="1">
                <a:solidFill>
                  <a:schemeClr val="tx1"/>
                </a:solidFill>
                <a:sym typeface="+mn-ea"/>
              </a:rPr>
              <a:t>传统视觉算法按照网络预测的</a:t>
            </a:r>
            <a:r>
              <a:rPr lang="en-US" altLang="zh-CN" strike="noStrike" noProof="1">
                <a:solidFill>
                  <a:schemeClr val="tx1"/>
                </a:solidFill>
                <a:sym typeface="+mn-ea"/>
              </a:rPr>
              <a:t>roi</a:t>
            </a:r>
            <a:r>
              <a:rPr lang="zh-CN" altLang="en-US" strike="noStrike" noProof="1">
                <a:solidFill>
                  <a:schemeClr val="tx1"/>
                </a:solidFill>
                <a:sym typeface="+mn-ea"/>
              </a:rPr>
              <a:t>计算精确角点</a:t>
            </a:r>
            <a:endParaRPr lang="zh-CN" altLang="en-US" strike="noStrike" noProof="1">
              <a:solidFill>
                <a:schemeClr val="tx1"/>
              </a:solidFill>
              <a:sym typeface="+mn-ea"/>
            </a:endParaRPr>
          </a:p>
        </p:txBody>
      </p:sp>
      <p:sp>
        <p:nvSpPr>
          <p:cNvPr id="16" name="圆角矩形 15"/>
          <p:cNvSpPr/>
          <p:nvPr/>
        </p:nvSpPr>
        <p:spPr>
          <a:xfrm>
            <a:off x="6159500" y="768350"/>
            <a:ext cx="4000500" cy="642938"/>
          </a:xfrm>
          <a:prstGeom prst="roundRect">
            <a:avLst>
              <a:gd name="adj" fmla="val 18741"/>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detector</a:t>
            </a:r>
            <a:r>
              <a:rPr lang="zh-CN" altLang="en-US" strike="noStrike" noProof="1">
                <a:solidFill>
                  <a:schemeClr val="tx1"/>
                </a:solidFill>
                <a:sym typeface="+mn-ea"/>
              </a:rPr>
              <a:t>神经网络预测装甲板角点</a:t>
            </a:r>
            <a:endParaRPr lang="zh-CN" altLang="en-US" strike="noStrike" noProof="1">
              <a:solidFill>
                <a:schemeClr val="tx1"/>
              </a:solidFill>
            </a:endParaRPr>
          </a:p>
        </p:txBody>
      </p:sp>
      <p:sp>
        <p:nvSpPr>
          <p:cNvPr id="17" name="圆角矩形 16"/>
          <p:cNvSpPr/>
          <p:nvPr/>
        </p:nvSpPr>
        <p:spPr>
          <a:xfrm>
            <a:off x="3521075" y="5572125"/>
            <a:ext cx="5149850"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timeserial</a:t>
            </a:r>
            <a:r>
              <a:rPr lang="zh-CN" altLang="en-US" strike="noStrike" noProof="1">
                <a:solidFill>
                  <a:schemeClr val="tx1"/>
                </a:solidFill>
                <a:sym typeface="+mn-ea"/>
              </a:rPr>
              <a:t>不断获取云台姿态角和</a:t>
            </a:r>
            <a:r>
              <a:rPr lang="en-US" altLang="zh-CN" strike="noStrike" noProof="1">
                <a:solidFill>
                  <a:schemeClr val="tx1"/>
                </a:solidFill>
                <a:sym typeface="+mn-ea"/>
              </a:rPr>
              <a:t>robostatus</a:t>
            </a:r>
            <a:r>
              <a:rPr lang="zh-CN" altLang="en-US" strike="noStrike" noProof="1">
                <a:solidFill>
                  <a:schemeClr val="tx1"/>
                </a:solidFill>
                <a:sym typeface="+mn-ea"/>
              </a:rPr>
              <a:t>并发送云台目标状态和开火信息</a:t>
            </a:r>
            <a:endParaRPr lang="zh-CN" altLang="en-US" strike="noStrike" noProof="1">
              <a:solidFill>
                <a:schemeClr val="tx1"/>
              </a:solidFill>
              <a:sym typeface="+mn-ea"/>
            </a:endParaRPr>
          </a:p>
        </p:txBody>
      </p:sp>
      <p:sp>
        <p:nvSpPr>
          <p:cNvPr id="18" name="圆角矩形 17"/>
          <p:cNvSpPr/>
          <p:nvPr/>
        </p:nvSpPr>
        <p:spPr>
          <a:xfrm>
            <a:off x="255588" y="4256088"/>
            <a:ext cx="5157788"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planner</a:t>
            </a:r>
            <a:r>
              <a:rPr lang="zh-CN" altLang="en-US" strike="noStrike" noProof="1">
                <a:solidFill>
                  <a:schemeClr val="tx1"/>
                </a:solidFill>
                <a:sym typeface="+mn-ea"/>
              </a:rPr>
              <a:t>多种策略解算到云台的目标状态并优化云台跟踪轨迹（</a:t>
            </a:r>
            <a:r>
              <a:rPr lang="en-US" altLang="zh-CN" strike="noStrike" noProof="1">
                <a:solidFill>
                  <a:schemeClr val="tx1"/>
                </a:solidFill>
                <a:sym typeface="+mn-ea"/>
              </a:rPr>
              <a:t>MPC</a:t>
            </a:r>
            <a:r>
              <a:rPr lang="zh-CN" altLang="en-US" strike="noStrike" noProof="1">
                <a:solidFill>
                  <a:schemeClr val="tx1"/>
                </a:solidFill>
                <a:sym typeface="+mn-ea"/>
              </a:rPr>
              <a:t>），控制开火时机</a:t>
            </a:r>
            <a:endParaRPr lang="zh-CN" altLang="en-US" strike="noStrike" noProof="1">
              <a:solidFill>
                <a:schemeClr val="tx1"/>
              </a:solidFill>
              <a:sym typeface="+mn-ea"/>
            </a:endParaRPr>
          </a:p>
        </p:txBody>
      </p:sp>
      <p:sp>
        <p:nvSpPr>
          <p:cNvPr id="19" name="圆角矩形 18"/>
          <p:cNvSpPr/>
          <p:nvPr/>
        </p:nvSpPr>
        <p:spPr>
          <a:xfrm>
            <a:off x="1333500" y="1841500"/>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predictor</a:t>
            </a:r>
            <a:r>
              <a:rPr lang="zh-CN" altLang="en-US" strike="noStrike" noProof="1">
                <a:solidFill>
                  <a:schemeClr val="tx1"/>
                </a:solidFill>
                <a:sym typeface="+mn-ea"/>
              </a:rPr>
              <a:t>筛选可瞄准的装甲板以及锁定跟踪车辆目标</a:t>
            </a:r>
            <a:endParaRPr lang="zh-CN" altLang="en-US" strike="noStrike" noProof="1">
              <a:solidFill>
                <a:schemeClr val="tx1"/>
              </a:solidFill>
              <a:sym typeface="+mn-ea"/>
            </a:endParaRPr>
          </a:p>
        </p:txBody>
      </p:sp>
      <p:sp>
        <p:nvSpPr>
          <p:cNvPr id="20" name="圆角矩形 19"/>
          <p:cNvSpPr/>
          <p:nvPr/>
        </p:nvSpPr>
        <p:spPr>
          <a:xfrm>
            <a:off x="1211263" y="2892425"/>
            <a:ext cx="3937000" cy="1031875"/>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solvepnp</a:t>
            </a:r>
            <a:r>
              <a:rPr lang="zh-CN" altLang="en-US" strike="noStrike" noProof="1">
                <a:solidFill>
                  <a:schemeClr val="tx1"/>
                </a:solidFill>
                <a:sym typeface="+mn-ea"/>
              </a:rPr>
              <a:t>根据角点，装甲板物理模型和相机内外参得到装甲板位置和</a:t>
            </a:r>
            <a:r>
              <a:rPr lang="en-US" altLang="zh-CN" strike="noStrike" noProof="1">
                <a:solidFill>
                  <a:schemeClr val="tx1"/>
                </a:solidFill>
                <a:sym typeface="+mn-ea"/>
              </a:rPr>
              <a:t>yaw</a:t>
            </a:r>
            <a:r>
              <a:rPr lang="zh-CN" altLang="en-US" strike="noStrike" noProof="1">
                <a:solidFill>
                  <a:schemeClr val="tx1"/>
                </a:solidFill>
                <a:sym typeface="+mn-ea"/>
              </a:rPr>
              <a:t>角（相机系）</a:t>
            </a:r>
            <a:endParaRPr lang="zh-CN" altLang="en-US" strike="noStrike" noProof="1">
              <a:solidFill>
                <a:schemeClr val="tx1"/>
              </a:solidFill>
              <a:sym typeface="+mn-ea"/>
            </a:endParaRPr>
          </a:p>
        </p:txBody>
      </p:sp>
      <p:sp>
        <p:nvSpPr>
          <p:cNvPr id="21" name="圆角矩形 20"/>
          <p:cNvSpPr/>
          <p:nvPr/>
        </p:nvSpPr>
        <p:spPr>
          <a:xfrm>
            <a:off x="6245225" y="3043238"/>
            <a:ext cx="44418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transformer</a:t>
            </a:r>
            <a:r>
              <a:rPr lang="zh-CN" altLang="en-US" strike="noStrike" noProof="1">
                <a:solidFill>
                  <a:schemeClr val="tx1"/>
                </a:solidFill>
                <a:sym typeface="+mn-ea"/>
              </a:rPr>
              <a:t>相机系位姿转换到世界系</a:t>
            </a:r>
            <a:endParaRPr lang="zh-CN" altLang="en-US" strike="noStrike" noProof="1">
              <a:solidFill>
                <a:schemeClr val="tx1"/>
              </a:solidFill>
              <a:sym typeface="+mn-ea"/>
            </a:endParaRPr>
          </a:p>
        </p:txBody>
      </p:sp>
      <p:sp>
        <p:nvSpPr>
          <p:cNvPr id="22" name="圆角矩形 21"/>
          <p:cNvSpPr/>
          <p:nvPr/>
        </p:nvSpPr>
        <p:spPr>
          <a:xfrm>
            <a:off x="6619875" y="4249738"/>
            <a:ext cx="3692525" cy="717550"/>
          </a:xfrm>
          <a:prstGeom prst="roundRect">
            <a:avLst/>
          </a:prstGeom>
          <a:solidFill>
            <a:schemeClr val="accent4">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r>
              <a:rPr lang="en-US" altLang="zh-CN" strike="noStrike" noProof="1">
                <a:solidFill>
                  <a:schemeClr val="tx1"/>
                </a:solidFill>
                <a:sym typeface="+mn-ea"/>
              </a:rPr>
              <a:t>tracker</a:t>
            </a:r>
            <a:r>
              <a:rPr lang="zh-CN" altLang="en-US" strike="noStrike" noProof="1">
                <a:solidFill>
                  <a:schemeClr val="tx1"/>
                </a:solidFill>
                <a:sym typeface="+mn-ea"/>
              </a:rPr>
              <a:t>用</a:t>
            </a:r>
            <a:r>
              <a:rPr lang="en-US" altLang="zh-CN" strike="noStrike" noProof="1">
                <a:solidFill>
                  <a:schemeClr val="tx1"/>
                </a:solidFill>
                <a:sym typeface="+mn-ea"/>
              </a:rPr>
              <a:t>kf</a:t>
            </a:r>
            <a:r>
              <a:rPr lang="zh-CN" altLang="en-US" strike="noStrike" noProof="1">
                <a:solidFill>
                  <a:schemeClr val="tx1"/>
                </a:solidFill>
                <a:sym typeface="+mn-ea"/>
              </a:rPr>
              <a:t>估计装甲板运动状态，用</a:t>
            </a:r>
            <a:r>
              <a:rPr lang="en-US" altLang="zh-CN" strike="noStrike" noProof="1">
                <a:solidFill>
                  <a:schemeClr val="tx1"/>
                </a:solidFill>
                <a:sym typeface="+mn-ea"/>
              </a:rPr>
              <a:t>iesekf</a:t>
            </a:r>
            <a:r>
              <a:rPr lang="zh-CN" altLang="en-US" strike="noStrike" noProof="1">
                <a:solidFill>
                  <a:schemeClr val="tx1"/>
                </a:solidFill>
                <a:sym typeface="+mn-ea"/>
              </a:rPr>
              <a:t>估计整车运动状态</a:t>
            </a:r>
            <a:endParaRPr lang="zh-CN" altLang="en-US" strike="noStrike" noProof="1">
              <a:solidFill>
                <a:schemeClr val="tx1"/>
              </a:solidFill>
              <a:sym typeface="+mn-ea"/>
            </a:endParaRPr>
          </a:p>
        </p:txBody>
      </p:sp>
      <p:cxnSp>
        <p:nvCxnSpPr>
          <p:cNvPr id="23" name="直接箭头连接符 22"/>
          <p:cNvCxnSpPr>
            <a:stCxn id="6" idx="3"/>
            <a:endCxn id="16" idx="1"/>
          </p:cNvCxnSpPr>
          <p:nvPr/>
        </p:nvCxnSpPr>
        <p:spPr>
          <a:xfrm>
            <a:off x="5089525" y="1082675"/>
            <a:ext cx="1069975" cy="7938"/>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4" name="直接箭头连接符 23"/>
          <p:cNvCxnSpPr>
            <a:stCxn id="16" idx="2"/>
            <a:endCxn id="15" idx="0"/>
          </p:cNvCxnSpPr>
          <p:nvPr/>
        </p:nvCxnSpPr>
        <p:spPr>
          <a:xfrm>
            <a:off x="8159750" y="1411288"/>
            <a:ext cx="0" cy="430213"/>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a:stCxn id="15" idx="1"/>
            <a:endCxn id="19" idx="3"/>
          </p:cNvCxnSpPr>
          <p:nvPr/>
        </p:nvCxnSpPr>
        <p:spPr>
          <a:xfrm flipH="1">
            <a:off x="5026025" y="2200275"/>
            <a:ext cx="1287463"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直接箭头连接符 25"/>
          <p:cNvCxnSpPr>
            <a:stCxn id="19" idx="2"/>
            <a:endCxn id="20" idx="0"/>
          </p:cNvCxnSpPr>
          <p:nvPr/>
        </p:nvCxnSpPr>
        <p:spPr>
          <a:xfrm>
            <a:off x="3179763" y="2559050"/>
            <a:ext cx="0" cy="33337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7" name="直接箭头连接符 26"/>
          <p:cNvCxnSpPr>
            <a:stCxn id="20" idx="3"/>
            <a:endCxn id="21" idx="1"/>
          </p:cNvCxnSpPr>
          <p:nvPr/>
        </p:nvCxnSpPr>
        <p:spPr>
          <a:xfrm flipV="1">
            <a:off x="5148263" y="3402013"/>
            <a:ext cx="1096963"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8" name="直接箭头连接符 27"/>
          <p:cNvCxnSpPr>
            <a:stCxn id="21" idx="2"/>
            <a:endCxn id="22" idx="0"/>
          </p:cNvCxnSpPr>
          <p:nvPr/>
        </p:nvCxnSpPr>
        <p:spPr>
          <a:xfrm flipH="1">
            <a:off x="8466138" y="3760788"/>
            <a:ext cx="0" cy="4889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9" name="直接箭头连接符 28"/>
          <p:cNvCxnSpPr>
            <a:stCxn id="22" idx="1"/>
            <a:endCxn id="18" idx="3"/>
          </p:cNvCxnSpPr>
          <p:nvPr/>
        </p:nvCxnSpPr>
        <p:spPr>
          <a:xfrm flipH="1">
            <a:off x="5413375" y="4608513"/>
            <a:ext cx="1206500"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113" name="文本框 30"/>
          <p:cNvSpPr txBox="1"/>
          <p:nvPr/>
        </p:nvSpPr>
        <p:spPr>
          <a:xfrm>
            <a:off x="284163" y="107950"/>
            <a:ext cx="4064000" cy="583565"/>
          </a:xfrm>
          <a:prstGeom prst="rect">
            <a:avLst/>
          </a:prstGeom>
          <a:noFill/>
          <a:ln w="9525">
            <a:noFill/>
          </a:ln>
        </p:spPr>
        <p:txBody>
          <a:bodyPr wrap="square" anchor="t" anchorCtr="0">
            <a:spAutoFit/>
          </a:bodyPr>
          <a:p>
            <a:r>
              <a:rPr lang="en-US" altLang="zh-CN" sz="3200">
                <a:latin typeface="Calibri" charset="0"/>
                <a:ea typeface="SimSun" pitchFamily="2" charset="-122"/>
              </a:rPr>
              <a:t>callback</a:t>
            </a:r>
            <a:endParaRPr lang="en-US" altLang="zh-CN" sz="3200">
              <a:latin typeface="Calibri" charset="0"/>
              <a:ea typeface="SimSun" pitchFamily="2" charset="-122"/>
            </a:endParaRPr>
          </a:p>
        </p:txBody>
      </p:sp>
      <p:sp>
        <p:nvSpPr>
          <p:cNvPr id="32" name="五角星 31"/>
          <p:cNvSpPr/>
          <p:nvPr/>
        </p:nvSpPr>
        <p:spPr>
          <a:xfrm>
            <a:off x="1322388" y="579438"/>
            <a:ext cx="458788" cy="404813"/>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3" name="五角星 32"/>
          <p:cNvSpPr/>
          <p:nvPr/>
        </p:nvSpPr>
        <p:spPr>
          <a:xfrm>
            <a:off x="6159500" y="1603375"/>
            <a:ext cx="458788" cy="406400"/>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4" name="五角星 33"/>
          <p:cNvSpPr/>
          <p:nvPr/>
        </p:nvSpPr>
        <p:spPr>
          <a:xfrm>
            <a:off x="936625" y="2771775"/>
            <a:ext cx="458788" cy="404813"/>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5" name="五角星 34"/>
          <p:cNvSpPr/>
          <p:nvPr/>
        </p:nvSpPr>
        <p:spPr>
          <a:xfrm>
            <a:off x="6159500" y="2873375"/>
            <a:ext cx="458788" cy="406400"/>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
        <p:nvSpPr>
          <p:cNvPr id="36" name="五角星 35"/>
          <p:cNvSpPr/>
          <p:nvPr/>
        </p:nvSpPr>
        <p:spPr>
          <a:xfrm>
            <a:off x="6442075" y="3981450"/>
            <a:ext cx="458788" cy="406400"/>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fontAlgn="auto"/>
            <a:endParaRPr lang="zh-CN" altLang="en-US" strike="noStrike" noProof="1"/>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738630" y="803275"/>
            <a:ext cx="8072755" cy="4784090"/>
          </a:xfrm>
          <a:prstGeom prst="rect">
            <a:avLst/>
          </a:prstGeom>
        </p:spPr>
      </p:pic>
      <p:sp>
        <p:nvSpPr>
          <p:cNvPr id="3" name="文本框 2"/>
          <p:cNvSpPr txBox="1"/>
          <p:nvPr/>
        </p:nvSpPr>
        <p:spPr>
          <a:xfrm>
            <a:off x="415925" y="158115"/>
            <a:ext cx="4064000" cy="645160"/>
          </a:xfrm>
          <a:prstGeom prst="rect">
            <a:avLst/>
          </a:prstGeom>
          <a:noFill/>
        </p:spPr>
        <p:txBody>
          <a:bodyPr wrap="square" rtlCol="0">
            <a:spAutoFit/>
          </a:bodyPr>
          <a:p>
            <a:r>
              <a:rPr lang="zh-CN" altLang="en-US" sz="3600"/>
              <a:t>输入</a:t>
            </a:r>
            <a:endParaRPr lang="zh-CN" altLang="en-US" sz="36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76250" y="736600"/>
            <a:ext cx="6369050" cy="497840"/>
          </a:xfrm>
          <a:prstGeom prst="rect">
            <a:avLst/>
          </a:prstGeom>
        </p:spPr>
      </p:pic>
      <p:pic>
        <p:nvPicPr>
          <p:cNvPr id="3" name="图片 2"/>
          <p:cNvPicPr>
            <a:picLocks noChangeAspect="1"/>
          </p:cNvPicPr>
          <p:nvPr/>
        </p:nvPicPr>
        <p:blipFill>
          <a:blip r:embed="rId2"/>
          <a:stretch>
            <a:fillRect/>
          </a:stretch>
        </p:blipFill>
        <p:spPr>
          <a:xfrm>
            <a:off x="1152525" y="1489710"/>
            <a:ext cx="7867015" cy="1169670"/>
          </a:xfrm>
          <a:prstGeom prst="rect">
            <a:avLst/>
          </a:prstGeom>
        </p:spPr>
      </p:pic>
      <p:pic>
        <p:nvPicPr>
          <p:cNvPr id="4" name="图片 3"/>
          <p:cNvPicPr>
            <a:picLocks noChangeAspect="1"/>
          </p:cNvPicPr>
          <p:nvPr/>
        </p:nvPicPr>
        <p:blipFill>
          <a:blip r:embed="rId3"/>
          <a:stretch>
            <a:fillRect/>
          </a:stretch>
        </p:blipFill>
        <p:spPr>
          <a:xfrm>
            <a:off x="960755" y="3163570"/>
            <a:ext cx="8251190" cy="1226820"/>
          </a:xfrm>
          <a:prstGeom prst="rect">
            <a:avLst/>
          </a:prstGeom>
        </p:spPr>
      </p:pic>
      <p:sp>
        <p:nvSpPr>
          <p:cNvPr id="5" name="文本框 4"/>
          <p:cNvSpPr txBox="1"/>
          <p:nvPr/>
        </p:nvSpPr>
        <p:spPr>
          <a:xfrm>
            <a:off x="476250" y="91440"/>
            <a:ext cx="4064000" cy="645160"/>
          </a:xfrm>
          <a:prstGeom prst="rect">
            <a:avLst/>
          </a:prstGeom>
          <a:noFill/>
        </p:spPr>
        <p:txBody>
          <a:bodyPr wrap="square" rtlCol="0">
            <a:spAutoFit/>
          </a:bodyPr>
          <a:p>
            <a:r>
              <a:rPr lang="zh-CN" altLang="en-US" sz="3600"/>
              <a:t>输出</a:t>
            </a:r>
            <a:r>
              <a:rPr lang="en-US" altLang="zh-CN" sz="3600"/>
              <a:t>1-</a:t>
            </a:r>
            <a:r>
              <a:rPr lang="zh-CN" altLang="en-US" sz="3600"/>
              <a:t>云台目标</a:t>
            </a:r>
            <a:endParaRPr lang="zh-CN" altLang="en-US" sz="36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665480" y="565785"/>
            <a:ext cx="6677025" cy="729615"/>
          </a:xfrm>
          <a:prstGeom prst="rect">
            <a:avLst/>
          </a:prstGeom>
        </p:spPr>
      </p:pic>
      <p:pic>
        <p:nvPicPr>
          <p:cNvPr id="3" name="图片 2"/>
          <p:cNvPicPr>
            <a:picLocks noChangeAspect="1"/>
          </p:cNvPicPr>
          <p:nvPr/>
        </p:nvPicPr>
        <p:blipFill>
          <a:blip r:embed="rId2"/>
          <a:stretch>
            <a:fillRect/>
          </a:stretch>
        </p:blipFill>
        <p:spPr>
          <a:xfrm>
            <a:off x="1231900" y="1295400"/>
            <a:ext cx="7845425" cy="2624455"/>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descr="UTF-8__提前减速策略"/>
          <p:cNvPicPr>
            <a:picLocks noChangeAspect="1"/>
          </p:cNvPicPr>
          <p:nvPr/>
        </p:nvPicPr>
        <p:blipFill>
          <a:blip r:embed="rId1"/>
          <a:stretch>
            <a:fillRect/>
          </a:stretch>
        </p:blipFill>
        <p:spPr>
          <a:xfrm>
            <a:off x="1579880" y="643255"/>
            <a:ext cx="9552305" cy="5572125"/>
          </a:xfrm>
          <a:prstGeom prst="rect">
            <a:avLst/>
          </a:prstGeom>
        </p:spPr>
      </p:pic>
      <p:sp>
        <p:nvSpPr>
          <p:cNvPr id="7" name="文本框 6"/>
          <p:cNvSpPr txBox="1"/>
          <p:nvPr/>
        </p:nvSpPr>
        <p:spPr>
          <a:xfrm>
            <a:off x="251460" y="126365"/>
            <a:ext cx="4064000" cy="521970"/>
          </a:xfrm>
          <a:prstGeom prst="rect">
            <a:avLst/>
          </a:prstGeom>
          <a:noFill/>
        </p:spPr>
        <p:txBody>
          <a:bodyPr wrap="square" rtlCol="0">
            <a:spAutoFit/>
          </a:bodyPr>
          <a:p>
            <a:r>
              <a:rPr lang="zh-CN" altLang="en-US" sz="2800"/>
              <a:t>输出</a:t>
            </a:r>
            <a:r>
              <a:rPr lang="en-US" altLang="zh-CN" sz="2800"/>
              <a:t>2-</a:t>
            </a:r>
            <a:r>
              <a:rPr lang="zh-CN" altLang="en-US" sz="2800"/>
              <a:t>火控</a:t>
            </a:r>
            <a:endParaRPr lang="zh-CN" altLang="en-US" sz="28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457200" y="570865"/>
            <a:ext cx="7646670" cy="641985"/>
          </a:xfrm>
          <a:prstGeom prst="rect">
            <a:avLst/>
          </a:prstGeom>
        </p:spPr>
      </p:pic>
      <p:pic>
        <p:nvPicPr>
          <p:cNvPr id="3" name="图片 2"/>
          <p:cNvPicPr>
            <a:picLocks noChangeAspect="1"/>
          </p:cNvPicPr>
          <p:nvPr/>
        </p:nvPicPr>
        <p:blipFill>
          <a:blip r:embed="rId2"/>
          <a:stretch>
            <a:fillRect/>
          </a:stretch>
        </p:blipFill>
        <p:spPr>
          <a:xfrm>
            <a:off x="457200" y="1493520"/>
            <a:ext cx="5782945" cy="546100"/>
          </a:xfrm>
          <a:prstGeom prst="rect">
            <a:avLst/>
          </a:prstGeom>
        </p:spPr>
      </p:pic>
      <p:pic>
        <p:nvPicPr>
          <p:cNvPr id="4" name="图片 3"/>
          <p:cNvPicPr>
            <a:picLocks noChangeAspect="1"/>
          </p:cNvPicPr>
          <p:nvPr/>
        </p:nvPicPr>
        <p:blipFill>
          <a:blip r:embed="rId3"/>
          <a:stretch>
            <a:fillRect/>
          </a:stretch>
        </p:blipFill>
        <p:spPr>
          <a:xfrm>
            <a:off x="665480" y="2207260"/>
            <a:ext cx="7654925" cy="3207385"/>
          </a:xfrm>
          <a:prstGeom prst="rect">
            <a:avLst/>
          </a:prstGeom>
        </p:spPr>
      </p:pic>
      <p:pic>
        <p:nvPicPr>
          <p:cNvPr id="5" name="图片 4"/>
          <p:cNvPicPr>
            <a:picLocks noChangeAspect="1"/>
          </p:cNvPicPr>
          <p:nvPr/>
        </p:nvPicPr>
        <p:blipFill>
          <a:blip r:embed="rId4"/>
          <a:stretch>
            <a:fillRect/>
          </a:stretch>
        </p:blipFill>
        <p:spPr>
          <a:xfrm>
            <a:off x="457200" y="5796280"/>
            <a:ext cx="3481705" cy="756920"/>
          </a:xfrm>
          <a:prstGeom prst="rect">
            <a:avLst/>
          </a:prstGeom>
        </p:spPr>
      </p:pic>
      <p:sp>
        <p:nvSpPr>
          <p:cNvPr id="6" name="文本框 5"/>
          <p:cNvSpPr txBox="1"/>
          <p:nvPr/>
        </p:nvSpPr>
        <p:spPr>
          <a:xfrm>
            <a:off x="6169660" y="630555"/>
            <a:ext cx="4064000" cy="398780"/>
          </a:xfrm>
          <a:prstGeom prst="rect">
            <a:avLst/>
          </a:prstGeom>
          <a:noFill/>
        </p:spPr>
        <p:txBody>
          <a:bodyPr wrap="square" rtlCol="0">
            <a:spAutoFit/>
          </a:bodyPr>
          <a:p>
            <a:r>
              <a:rPr lang="en-US" altLang="zh-CN" sz="2000"/>
              <a:t>+</a:t>
            </a:r>
            <a:r>
              <a:rPr lang="zh-CN" altLang="en-US" sz="2000"/>
              <a:t>弹丸控制精度</a:t>
            </a:r>
            <a:endParaRPr lang="zh-CN" altLang="en-US" sz="2000"/>
          </a:p>
        </p:txBody>
      </p:sp>
      <p:pic>
        <p:nvPicPr>
          <p:cNvPr id="8" name="图片 7"/>
          <p:cNvPicPr>
            <a:picLocks noChangeAspect="1"/>
          </p:cNvPicPr>
          <p:nvPr/>
        </p:nvPicPr>
        <p:blipFill>
          <a:blip r:embed="rId5"/>
          <a:stretch>
            <a:fillRect/>
          </a:stretch>
        </p:blipFill>
        <p:spPr>
          <a:xfrm>
            <a:off x="8254365" y="2469515"/>
            <a:ext cx="3815080" cy="196088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979805" y="131445"/>
            <a:ext cx="10441305" cy="6369685"/>
          </a:xfrm>
          <a:prstGeom prst="rect">
            <a:avLst/>
          </a:prstGeom>
          <a:noFill/>
        </p:spPr>
        <p:txBody>
          <a:bodyPr wrap="square" rtlCol="0">
            <a:spAutoFit/>
          </a:bodyPr>
          <a:p>
            <a:endParaRPr lang="en-US" altLang="zh-CN" sz="2400"/>
          </a:p>
          <a:p>
            <a:r>
              <a:rPr lang="en-US" altLang="zh-CN" sz="2400"/>
              <a:t>  process_latency : </a:t>
            </a:r>
            <a:r>
              <a:rPr lang="zh-CN" altLang="en-US" sz="2400"/>
              <a:t>从图像采集瞬间到</a:t>
            </a:r>
            <a:r>
              <a:rPr lang="en-US" altLang="zh-CN" sz="2400"/>
              <a:t>"</a:t>
            </a:r>
            <a:r>
              <a:rPr lang="zh-CN" altLang="en-US" sz="2400"/>
              <a:t>此刻</a:t>
            </a:r>
            <a:r>
              <a:rPr lang="en-US" altLang="zh-CN" sz="2400"/>
              <a:t>"</a:t>
            </a:r>
            <a:r>
              <a:rPr lang="zh-CN" altLang="en-US" sz="2400"/>
              <a:t>的耗时</a:t>
            </a:r>
            <a:endParaRPr lang="zh-CN" altLang="en-US" sz="2400"/>
          </a:p>
          <a:p>
            <a:r>
              <a:rPr lang="en-US" altLang="zh-CN" sz="2400"/>
              <a:t>                    = now() - </a:t>
            </a:r>
            <a:r>
              <a:rPr lang="zh-CN" altLang="en-US" sz="2400"/>
              <a:t>图像采集时刻的时间戳</a:t>
            </a:r>
            <a:endParaRPr lang="zh-CN" altLang="en-US" sz="2400"/>
          </a:p>
          <a:p>
            <a:r>
              <a:rPr lang="en-US" altLang="zh-CN" sz="2400"/>
              <a:t>                    </a:t>
            </a:r>
            <a:endParaRPr lang="en-US" altLang="zh-CN" sz="2400"/>
          </a:p>
          <a:p>
            <a:r>
              <a:rPr lang="en-US" altLang="zh-CN" sz="2400"/>
              <a:t>  send_latency    : </a:t>
            </a:r>
            <a:r>
              <a:rPr lang="zh-CN" altLang="en-US" sz="2400"/>
              <a:t>指令从上位机发出</a:t>
            </a:r>
            <a:r>
              <a:rPr lang="en-US" altLang="zh-CN" sz="2400"/>
              <a:t> </a:t>
            </a:r>
            <a:r>
              <a:rPr lang="en-US" altLang="en-US" sz="2400"/>
              <a:t>→</a:t>
            </a:r>
            <a:r>
              <a:rPr lang="en-US" altLang="zh-CN" sz="2400"/>
              <a:t> </a:t>
            </a:r>
            <a:r>
              <a:rPr lang="zh-CN" altLang="en-US" sz="2400"/>
              <a:t>串口传输</a:t>
            </a:r>
            <a:r>
              <a:rPr lang="en-US" altLang="zh-CN" sz="2400"/>
              <a:t> </a:t>
            </a:r>
            <a:r>
              <a:rPr lang="en-US" altLang="en-US" sz="2400"/>
              <a:t>→</a:t>
            </a:r>
            <a:r>
              <a:rPr lang="en-US" altLang="zh-CN" sz="2400"/>
              <a:t> </a:t>
            </a:r>
            <a:r>
              <a:rPr lang="zh-CN" altLang="en-US" sz="2400"/>
              <a:t>下位机接收</a:t>
            </a:r>
            <a:r>
              <a:rPr lang="en-US" altLang="zh-CN" sz="2400"/>
              <a:t> </a:t>
            </a:r>
            <a:r>
              <a:rPr lang="zh-CN" altLang="en-US" sz="2400"/>
              <a:t>的耗时</a:t>
            </a:r>
            <a:endParaRPr lang="zh-CN" altLang="en-US" sz="2400"/>
          </a:p>
          <a:p>
            <a:r>
              <a:rPr lang="en-US" altLang="zh-CN" sz="2400"/>
              <a:t>                    </a:t>
            </a:r>
            <a:endParaRPr lang="zh-CN" altLang="en-US" sz="2400"/>
          </a:p>
          <a:p>
            <a:endParaRPr lang="en-US" altLang="zh-CN" sz="2400"/>
          </a:p>
          <a:p>
            <a:r>
              <a:rPr lang="en-US" altLang="zh-CN" sz="2400"/>
              <a:t>  comm_latency    : </a:t>
            </a:r>
            <a:r>
              <a:rPr lang="zh-CN" altLang="en-US" sz="2400"/>
              <a:t>超参，概括各种杂项延迟，比如电控从解包完成到电机运动（或者云台对位置指令跟随的滞后）</a:t>
            </a:r>
            <a:endParaRPr lang="zh-CN" altLang="en-US" sz="2400"/>
          </a:p>
          <a:p>
            <a:r>
              <a:rPr lang="en-US" altLang="zh-CN" sz="2400"/>
              <a:t>                    </a:t>
            </a:r>
            <a:r>
              <a:rPr lang="en-US" altLang="en-US" sz="2400"/>
              <a:t>→</a:t>
            </a:r>
            <a:r>
              <a:rPr lang="en-US" altLang="zh-CN" sz="2400"/>
              <a:t> </a:t>
            </a:r>
            <a:r>
              <a:rPr lang="zh-CN" altLang="en-US" sz="2400"/>
              <a:t>实际场景里你要手调这个参</a:t>
            </a:r>
            <a:endParaRPr lang="zh-CN" altLang="en-US" sz="2400"/>
          </a:p>
          <a:p>
            <a:endParaRPr lang="zh-CN" altLang="en-US" sz="2400"/>
          </a:p>
          <a:p>
            <a:r>
              <a:rPr lang="zh-CN" altLang="en-US" sz="2400"/>
              <a:t> </a:t>
            </a:r>
            <a:r>
              <a:rPr lang="en-US" altLang="zh-CN" sz="2400"/>
              <a:t> shoot_latency:</a:t>
            </a:r>
            <a:r>
              <a:rPr lang="zh-CN" altLang="en-US" sz="2400"/>
              <a:t>超参，</a:t>
            </a:r>
            <a:r>
              <a:rPr lang="zh-CN" altLang="en-US" sz="2400">
                <a:sym typeface="+mn-ea"/>
              </a:rPr>
              <a:t>电控从解包完成到弹丸从枪口发射出</a:t>
            </a:r>
            <a:endParaRPr lang="zh-CN" altLang="en-US" sz="2400">
              <a:sym typeface="+mn-ea"/>
            </a:endParaRPr>
          </a:p>
          <a:p>
            <a:pPr marL="1371600" lvl="3" indent="457200"/>
            <a:r>
              <a:rPr lang="en-US" altLang="en-US" sz="2400">
                <a:sym typeface="+mn-ea"/>
              </a:rPr>
              <a:t>→</a:t>
            </a:r>
            <a:r>
              <a:rPr lang="en-US" altLang="zh-CN" sz="2400">
                <a:sym typeface="+mn-ea"/>
              </a:rPr>
              <a:t> </a:t>
            </a:r>
            <a:r>
              <a:rPr lang="zh-CN" altLang="en-US" sz="2400">
                <a:sym typeface="+mn-ea"/>
              </a:rPr>
              <a:t>实际场景里你要手调这个参（单</a:t>
            </a:r>
            <a:r>
              <a:rPr lang="en-US" altLang="zh-CN" sz="2400">
                <a:sym typeface="+mn-ea"/>
              </a:rPr>
              <a:t>/</a:t>
            </a:r>
            <a:r>
              <a:rPr lang="zh-CN" altLang="en-US" sz="2400">
                <a:sym typeface="+mn-ea"/>
              </a:rPr>
              <a:t>连发延迟均可由电控测得）</a:t>
            </a:r>
            <a:endParaRPr lang="zh-CN" altLang="en-US" sz="2400">
              <a:sym typeface="+mn-ea"/>
            </a:endParaRPr>
          </a:p>
          <a:p>
            <a:endParaRPr lang="en-US" altLang="zh-CN" sz="2400"/>
          </a:p>
          <a:p>
            <a:r>
              <a:rPr lang="en-US" altLang="zh-CN" sz="2400"/>
              <a:t>  fly_time        : </a:t>
            </a:r>
            <a:r>
              <a:rPr lang="zh-CN" altLang="en-US" sz="2400"/>
              <a:t>弹丸从枪口飞到目标位置的耗时</a:t>
            </a:r>
            <a:endParaRPr lang="zh-CN" altLang="en-US" sz="2400"/>
          </a:p>
          <a:p>
            <a:r>
              <a:rPr lang="en-US" altLang="zh-CN" sz="2400"/>
              <a:t>                    = distance / bullet_speed</a:t>
            </a:r>
            <a:endParaRPr lang="en-US" altLang="zh-CN" sz="2400"/>
          </a:p>
          <a:p>
            <a:r>
              <a:rPr lang="en-US" altLang="zh-CN" sz="2400"/>
              <a:t>              </a:t>
            </a:r>
            <a:endParaRPr lang="zh-CN" altLang="en-US" sz="2400"/>
          </a:p>
        </p:txBody>
      </p:sp>
      <p:sp>
        <p:nvSpPr>
          <p:cNvPr id="3" name="文本框 2"/>
          <p:cNvSpPr txBox="1"/>
          <p:nvPr/>
        </p:nvSpPr>
        <p:spPr>
          <a:xfrm>
            <a:off x="329565" y="131445"/>
            <a:ext cx="4064000" cy="521970"/>
          </a:xfrm>
          <a:prstGeom prst="rect">
            <a:avLst/>
          </a:prstGeom>
          <a:noFill/>
        </p:spPr>
        <p:txBody>
          <a:bodyPr wrap="square" rtlCol="0">
            <a:spAutoFit/>
          </a:bodyPr>
          <a:p>
            <a:r>
              <a:rPr lang="zh-CN" altLang="en-US" sz="2800"/>
              <a:t>延迟</a:t>
            </a:r>
            <a:endParaRPr lang="zh-CN" altLang="en-US" sz="28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202055" y="761365"/>
            <a:ext cx="9787255" cy="5101590"/>
          </a:xfrm>
          <a:prstGeom prst="rect">
            <a:avLst/>
          </a:prstGeom>
        </p:spPr>
      </p:pic>
      <p:sp>
        <p:nvSpPr>
          <p:cNvPr id="3" name="文本框 2"/>
          <p:cNvSpPr txBox="1"/>
          <p:nvPr/>
        </p:nvSpPr>
        <p:spPr>
          <a:xfrm>
            <a:off x="424815" y="239395"/>
            <a:ext cx="4064000" cy="521970"/>
          </a:xfrm>
          <a:prstGeom prst="rect">
            <a:avLst/>
          </a:prstGeom>
          <a:noFill/>
        </p:spPr>
        <p:txBody>
          <a:bodyPr wrap="square" rtlCol="0">
            <a:spAutoFit/>
          </a:bodyPr>
          <a:p>
            <a:r>
              <a:rPr lang="zh-CN" altLang="en-US" sz="2800"/>
              <a:t>系统优化</a:t>
            </a:r>
            <a:endParaRPr lang="zh-CN" altLang="en-US" sz="28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919480" y="381000"/>
            <a:ext cx="8225790" cy="2732405"/>
          </a:xfrm>
          <a:prstGeom prst="rect">
            <a:avLst/>
          </a:prstGeom>
        </p:spPr>
      </p:pic>
      <p:pic>
        <p:nvPicPr>
          <p:cNvPr id="3" name="图片 2"/>
          <p:cNvPicPr>
            <a:picLocks noChangeAspect="1"/>
          </p:cNvPicPr>
          <p:nvPr/>
        </p:nvPicPr>
        <p:blipFill>
          <a:blip r:embed="rId2"/>
          <a:stretch>
            <a:fillRect/>
          </a:stretch>
        </p:blipFill>
        <p:spPr>
          <a:xfrm>
            <a:off x="919480" y="4245610"/>
            <a:ext cx="7426960" cy="126365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201545" y="304165"/>
            <a:ext cx="7788910" cy="624967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833120" y="4548505"/>
            <a:ext cx="8383270" cy="1246505"/>
          </a:xfrm>
          <a:prstGeom prst="rect">
            <a:avLst/>
          </a:prstGeom>
        </p:spPr>
      </p:pic>
      <p:pic>
        <p:nvPicPr>
          <p:cNvPr id="3" name="图片 2"/>
          <p:cNvPicPr>
            <a:picLocks noChangeAspect="1"/>
          </p:cNvPicPr>
          <p:nvPr/>
        </p:nvPicPr>
        <p:blipFill>
          <a:blip r:embed="rId2"/>
          <a:stretch>
            <a:fillRect/>
          </a:stretch>
        </p:blipFill>
        <p:spPr>
          <a:xfrm>
            <a:off x="614045" y="1314450"/>
            <a:ext cx="8010525" cy="2461895"/>
          </a:xfrm>
          <a:prstGeom prst="rect">
            <a:avLst/>
          </a:prstGeom>
        </p:spPr>
      </p:pic>
      <p:sp>
        <p:nvSpPr>
          <p:cNvPr id="4" name="文本框 3"/>
          <p:cNvSpPr txBox="1"/>
          <p:nvPr/>
        </p:nvSpPr>
        <p:spPr>
          <a:xfrm>
            <a:off x="355600" y="335280"/>
            <a:ext cx="4064000" cy="521970"/>
          </a:xfrm>
          <a:prstGeom prst="rect">
            <a:avLst/>
          </a:prstGeom>
          <a:noFill/>
        </p:spPr>
        <p:txBody>
          <a:bodyPr wrap="square" rtlCol="0">
            <a:spAutoFit/>
          </a:bodyPr>
          <a:p>
            <a:r>
              <a:rPr lang="zh-CN" altLang="en-US" sz="2800"/>
              <a:t>装甲板筛选、车辆筛选</a:t>
            </a:r>
            <a:endParaRPr lang="zh-CN" altLang="en-US" sz="280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1016000" y="716915"/>
            <a:ext cx="7884795" cy="2423160"/>
          </a:xfrm>
          <a:prstGeom prst="rect">
            <a:avLst/>
          </a:prstGeom>
        </p:spPr>
      </p:pic>
      <p:pic>
        <p:nvPicPr>
          <p:cNvPr id="3" name="图片 2"/>
          <p:cNvPicPr>
            <a:picLocks noChangeAspect="1"/>
          </p:cNvPicPr>
          <p:nvPr/>
        </p:nvPicPr>
        <p:blipFill>
          <a:blip r:embed="rId2"/>
          <a:stretch>
            <a:fillRect/>
          </a:stretch>
        </p:blipFill>
        <p:spPr>
          <a:xfrm>
            <a:off x="1205230" y="3591560"/>
            <a:ext cx="7506970" cy="2306955"/>
          </a:xfrm>
          <a:prstGeom prst="rect">
            <a:avLst/>
          </a:prstGeom>
        </p:spPr>
      </p:pic>
      <p:sp>
        <p:nvSpPr>
          <p:cNvPr id="4" name="文本框 3"/>
          <p:cNvSpPr txBox="1"/>
          <p:nvPr/>
        </p:nvSpPr>
        <p:spPr>
          <a:xfrm>
            <a:off x="528955" y="256540"/>
            <a:ext cx="4064000" cy="460375"/>
          </a:xfrm>
          <a:prstGeom prst="rect">
            <a:avLst/>
          </a:prstGeom>
          <a:noFill/>
        </p:spPr>
        <p:txBody>
          <a:bodyPr wrap="square" rtlCol="0">
            <a:spAutoFit/>
          </a:bodyPr>
          <a:p>
            <a:r>
              <a:rPr lang="zh-CN" altLang="en-US" sz="2400"/>
              <a:t>跟踪器状态机</a:t>
            </a:r>
            <a:endParaRPr lang="zh-CN" altLang="en-US" sz="2400"/>
          </a:p>
        </p:txBody>
      </p:sp>
      <p:sp>
        <p:nvSpPr>
          <p:cNvPr id="5" name="文本框 4"/>
          <p:cNvSpPr txBox="1"/>
          <p:nvPr/>
        </p:nvSpPr>
        <p:spPr>
          <a:xfrm>
            <a:off x="528955" y="3131185"/>
            <a:ext cx="4064000" cy="460375"/>
          </a:xfrm>
          <a:prstGeom prst="rect">
            <a:avLst/>
          </a:prstGeom>
          <a:noFill/>
        </p:spPr>
        <p:txBody>
          <a:bodyPr wrap="square" rtlCol="0">
            <a:spAutoFit/>
          </a:bodyPr>
          <a:p>
            <a:r>
              <a:rPr lang="zh-CN" altLang="en-US" sz="2400"/>
              <a:t>双模型自适应跟踪</a:t>
            </a:r>
            <a:endParaRPr lang="zh-CN" altLang="en-US" sz="24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485775" y="490855"/>
            <a:ext cx="4064000" cy="460375"/>
          </a:xfrm>
          <a:prstGeom prst="rect">
            <a:avLst/>
          </a:prstGeom>
          <a:noFill/>
        </p:spPr>
        <p:txBody>
          <a:bodyPr wrap="square" rtlCol="0">
            <a:spAutoFit/>
          </a:bodyPr>
          <a:p>
            <a:r>
              <a:rPr lang="zh-CN" altLang="en-US" sz="2400"/>
              <a:t>实战：自瞄上车</a:t>
            </a:r>
            <a:endParaRPr lang="zh-CN" altLang="en-US" sz="2400"/>
          </a:p>
        </p:txBody>
      </p:sp>
      <p:pic>
        <p:nvPicPr>
          <p:cNvPr id="4" name="图片 3"/>
          <p:cNvPicPr>
            <a:picLocks noChangeAspect="1"/>
          </p:cNvPicPr>
          <p:nvPr/>
        </p:nvPicPr>
        <p:blipFill>
          <a:blip r:embed="rId1"/>
          <a:stretch>
            <a:fillRect/>
          </a:stretch>
        </p:blipFill>
        <p:spPr>
          <a:xfrm>
            <a:off x="646430" y="1190625"/>
            <a:ext cx="8448675" cy="3076575"/>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7" name="图片 6"/>
          <p:cNvPicPr>
            <a:picLocks noChangeAspect="1"/>
          </p:cNvPicPr>
          <p:nvPr/>
        </p:nvPicPr>
        <p:blipFill>
          <a:blip r:embed="rId1"/>
          <a:stretch>
            <a:fillRect/>
          </a:stretch>
        </p:blipFill>
        <p:spPr>
          <a:xfrm>
            <a:off x="893445" y="322580"/>
            <a:ext cx="8382000" cy="4191000"/>
          </a:xfrm>
          <a:prstGeom prst="rect">
            <a:avLst/>
          </a:prstGeom>
        </p:spPr>
      </p:pic>
      <p:pic>
        <p:nvPicPr>
          <p:cNvPr id="8" name="图片 7"/>
          <p:cNvPicPr>
            <a:picLocks noChangeAspect="1"/>
          </p:cNvPicPr>
          <p:nvPr/>
        </p:nvPicPr>
        <p:blipFill>
          <a:blip r:embed="rId2"/>
          <a:stretch>
            <a:fillRect/>
          </a:stretch>
        </p:blipFill>
        <p:spPr>
          <a:xfrm>
            <a:off x="893445" y="5304155"/>
            <a:ext cx="8382000" cy="83820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p:pic>
        <p:nvPicPr>
          <p:cNvPr id="3" name="图片 2" descr="b69f7303eb12459327c12b6efdf95526"/>
          <p:cNvPicPr>
            <a:picLocks noChangeAspect="1"/>
          </p:cNvPicPr>
          <p:nvPr/>
        </p:nvPicPr>
        <p:blipFill>
          <a:blip r:embed="rId1"/>
          <a:srcRect l="11049" t="14241" r="15576" b="81704"/>
          <a:stretch>
            <a:fillRect/>
          </a:stretch>
        </p:blipFill>
        <p:spPr>
          <a:xfrm>
            <a:off x="2108200" y="4588510"/>
            <a:ext cx="7976235" cy="979805"/>
          </a:xfrm>
          <a:prstGeom prst="rect">
            <a:avLst/>
          </a:prstGeom>
        </p:spPr>
      </p:pic>
      <p:sp>
        <p:nvSpPr>
          <p:cNvPr id="2" name="文本框 1"/>
          <p:cNvSpPr txBox="1"/>
          <p:nvPr/>
        </p:nvSpPr>
        <p:spPr>
          <a:xfrm>
            <a:off x="5097145" y="2061845"/>
            <a:ext cx="4064000" cy="1198880"/>
          </a:xfrm>
          <a:prstGeom prst="rect">
            <a:avLst/>
          </a:prstGeom>
          <a:noFill/>
        </p:spPr>
        <p:txBody>
          <a:bodyPr wrap="square" rtlCol="0">
            <a:spAutoFit/>
          </a:bodyPr>
          <a:p>
            <a:r>
              <a:rPr lang="en-US" altLang="zh-CN" sz="7200"/>
              <a:t>End</a:t>
            </a:r>
            <a:endParaRPr lang="en-US" altLang="zh-CN" sz="7200"/>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2948</Words>
  <Application>WPS 演示</Application>
  <PresentationFormat>宽屏</PresentationFormat>
  <Paragraphs>364</Paragraphs>
  <Slides>93</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93</vt:i4>
      </vt:variant>
    </vt:vector>
  </HeadingPairs>
  <TitlesOfParts>
    <vt:vector size="110" baseType="lpstr">
      <vt:lpstr>Arial</vt:lpstr>
      <vt:lpstr>SimSun</vt:lpstr>
      <vt:lpstr>Wingdings</vt:lpstr>
      <vt:lpstr>Calibri</vt:lpstr>
      <vt:lpstr>DejaVu Sans</vt:lpstr>
      <vt:lpstr>Noto Serif CJK SC</vt:lpstr>
      <vt:lpstr>Microsoft YaHei</vt:lpstr>
      <vt:lpstr>Droid Sans Fallback</vt:lpstr>
      <vt:lpstr>Arial Unicode MS</vt:lpstr>
      <vt:lpstr>Calibri Light</vt:lpstr>
      <vt:lpstr>Microsoft YaHei UI</vt:lpstr>
      <vt:lpstr>JetBrains Mono SemiBold</vt:lpstr>
      <vt:lpstr>Consolas</vt:lpstr>
      <vt:lpstr>Liberation Sans Narrow</vt:lpstr>
      <vt:lpstr>AR PL UKai CN</vt:lpstr>
      <vt:lpstr>OpenSymbol</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识别思路</vt:lpstr>
      <vt:lpstr>识别思路</vt:lpstr>
      <vt:lpstr>PowerPoint 演示文稿</vt:lpstr>
      <vt:lpstr>PowerPoint 演示文稿</vt:lpstr>
      <vt:lpstr>PowerPoint 演示文稿</vt:lpstr>
      <vt:lpstr>PowerPoint 演示文稿</vt:lpstr>
      <vt:lpstr>PowerPoint 演示文稿</vt:lpstr>
      <vt:lpstr>PowerPoint 演示文稿</vt:lpstr>
      <vt:lpstr>理解图像</vt:lpstr>
      <vt:lpstr>色彩空间（Color Space）</vt:lpstr>
      <vt:lpstr>色彩空间（Color Space）</vt:lpstr>
      <vt:lpstr>理解RGB</vt:lpstr>
      <vt:lpstr>OpenCV默认图像格式</vt:lpstr>
      <vt:lpstr>PowerPoint 演示文稿</vt:lpstr>
      <vt:lpstr>实践时间</vt:lpstr>
      <vt:lpstr>PowerPoint 演示文稿</vt:lpstr>
      <vt:lpstr>PowerPoint 演示文稿</vt:lpstr>
      <vt:lpstr>PowerPoint 演示文稿</vt:lpstr>
      <vt:lpstr>PowerPoint 演示文稿</vt:lpstr>
      <vt:lpstr>PowerPoint 演示文稿</vt:lpstr>
      <vt:lpstr>PowerPoint 演示文稿</vt:lpstr>
      <vt:lpstr>二维坐标系——向量的旋转</vt:lpstr>
      <vt:lpstr>PowerPoint 演示文稿</vt:lpstr>
      <vt:lpstr>PowerPoint 演示文稿</vt:lpstr>
      <vt:lpstr>PowerPoint 演示文稿</vt:lpstr>
      <vt:lpstr>PowerPoint 演示文稿</vt:lpstr>
      <vt:lpstr>欧拉角</vt:lpstr>
      <vt:lpstr>三维坐标系——绕坐标轴旋转</vt:lpstr>
      <vt:lpstr>三维坐标系——内旋</vt:lpstr>
      <vt:lpstr>三维坐标系——外旋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Perspective n Points</vt:lpstr>
      <vt:lpstr>cv::solvePnP</vt:lpstr>
      <vt:lpstr>solvePnP 解出了什么</vt:lpstr>
      <vt:lpstr>rvec 旋转向量</vt:lpstr>
      <vt:lpstr>旋转 还有什么别的表示方法？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cjy</cp:lastModifiedBy>
  <cp:revision>15</cp:revision>
  <dcterms:created xsi:type="dcterms:W3CDTF">2026-05-23T15:24:20Z</dcterms:created>
  <dcterms:modified xsi:type="dcterms:W3CDTF">2026-05-23T15:24:20Z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2052-12.1.2.23578</vt:lpwstr>
  </property>
  <property fmtid="{D5CDD505-2E9C-101B-9397-08002B2CF9AE}" pid="3" name="ICV">
    <vt:lpwstr>75E389698E28114A5F5D076A87B9161F_42</vt:lpwstr>
  </property>
</Properties>
</file>